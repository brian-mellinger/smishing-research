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Sora Light"/>
      <p:regular r:id="rId23"/>
      <p:bold r:id="rId24"/>
    </p:embeddedFont>
    <p:embeddedFont>
      <p:font typeface="Sora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ri Faklari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SoraLight-bold.fntdata"/><Relationship Id="rId23" Type="http://schemas.openxmlformats.org/officeDocument/2006/relationships/font" Target="fonts/Sora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Sora-bold.fntdata"/><Relationship Id="rId25" Type="http://schemas.openxmlformats.org/officeDocument/2006/relationships/font" Target="fonts/Sora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8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Lato-regular.fntdata"/><Relationship Id="rId18" Type="http://schemas.openxmlformats.org/officeDocument/2006/relationships/font" Target="fonts/Montserrat-boldItalic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2-17T21:40:26.678">
    <p:pos x="3202" y="2472"/>
    <p:text>https://docs.google.com/document/d/1yQOfHeTTz1saXFCC0AfgLAlbCXuCtQbX4THYhygupqM/edit?usp=sharing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8a52ea1c3_0_1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8a52ea1c3_0_1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Improving Users’ Experiences with Security and Privacy Tasks on Mobile Devices. $647.7 million lost in Q1 2024 (FTC, SmishViz)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8c65cbc8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8c65cbc8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8a52ea1c3_0_1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8a52ea1c3_0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8a52ea1c3_0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8a52ea1c3_0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c8a52ea1c3_0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c8a52ea1c3_0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8a52ea1c3_0_1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8a52ea1c3_0_1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8a52ea1c3_0_1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c8a52ea1c3_0_1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9023d4b8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9023d4b8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2" name="Google Shape;132;p13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3" name="Google Shape;133;p13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4" name="Google Shape;134;p13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35" name="Google Shape;135;p13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36" name="Google Shape;136;p13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37" name="Google Shape;137;p13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38" name="Google Shape;138;p13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39" name="Google Shape;139;p1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40" name="Google Shape;140;p1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4" name="Google Shape;144;p13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145" name="Google Shape;145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" name="Google Shape;146;p1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" name="Google Shape;147;p1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8" name="Google Shape;148;p1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9" name="Google Shape;149;p1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0" name="Google Shape;150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1" name="Google Shape;151;p1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2" name="Google Shape;152;p1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3" name="Google Shape;153;p1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54" name="Google Shape;154;p13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155" name="Google Shape;155;p1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6" name="Google Shape;156;p1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57" name="Google Shape;157;p13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58" name="Google Shape;158;p1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ctrTitle"/>
          </p:nvPr>
        </p:nvSpPr>
        <p:spPr>
          <a:xfrm>
            <a:off x="3199200" y="1263048"/>
            <a:ext cx="5752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ato"/>
                <a:ea typeface="Lato"/>
                <a:cs typeface="Lato"/>
                <a:sym typeface="Lato"/>
              </a:rPr>
              <a:t>Improving Users’ Experiences with Security and Privacy Tasks on Mobile Devices</a:t>
            </a:r>
            <a:endParaRPr sz="36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Brian </a:t>
            </a:r>
            <a:r>
              <a:rPr lang="en"/>
              <a:t>Mellinger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Smishing is a Usability and</a:t>
            </a:r>
            <a:r>
              <a:rPr lang="en"/>
              <a:t> S</a:t>
            </a:r>
            <a:r>
              <a:rPr lang="en"/>
              <a:t>ecurity Challenge</a:t>
            </a:r>
            <a:endParaRPr/>
          </a:p>
        </p:txBody>
      </p:sp>
      <p:sp>
        <p:nvSpPr>
          <p:cNvPr id="175" name="Google Shape;175;p16"/>
          <p:cNvSpPr txBox="1"/>
          <p:nvPr>
            <p:ph idx="1" type="body"/>
          </p:nvPr>
        </p:nvSpPr>
        <p:spPr>
          <a:xfrm>
            <a:off x="1297500" y="1233125"/>
            <a:ext cx="7038900" cy="32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The  study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Smishing overview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Solutions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16"/>
          <p:cNvPicPr preferRelativeResize="0"/>
          <p:nvPr/>
        </p:nvPicPr>
        <p:blipFill rotWithShape="1">
          <a:blip r:embed="rId3">
            <a:alphaModFix/>
          </a:blip>
          <a:srcRect b="32897" l="0" r="0" t="20803"/>
          <a:stretch/>
        </p:blipFill>
        <p:spPr>
          <a:xfrm>
            <a:off x="2000250" y="2200944"/>
            <a:ext cx="5143501" cy="23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/>
          <p:nvPr/>
        </p:nvSpPr>
        <p:spPr>
          <a:xfrm>
            <a:off x="1916000" y="4593287"/>
            <a:ext cx="6176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Courtesy of Gemini - “Create a graphic of google scholar, then zotero, then drive, the sheets</a:t>
            </a:r>
            <a:endParaRPr sz="700">
              <a:solidFill>
                <a:schemeClr val="l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title"/>
          </p:nvPr>
        </p:nvSpPr>
        <p:spPr>
          <a:xfrm>
            <a:off x="881500" y="393750"/>
            <a:ext cx="79833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60"/>
              <a:t>Smishing is not Random, its Coordinated and Structured</a:t>
            </a:r>
            <a:endParaRPr sz="2060"/>
          </a:p>
        </p:txBody>
      </p:sp>
      <p:sp>
        <p:nvSpPr>
          <p:cNvPr id="183" name="Google Shape;183;p17"/>
          <p:cNvSpPr txBox="1"/>
          <p:nvPr>
            <p:ph idx="1" type="body"/>
          </p:nvPr>
        </p:nvSpPr>
        <p:spPr>
          <a:xfrm>
            <a:off x="1297500" y="961275"/>
            <a:ext cx="7567200" cy="38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Coordinated ecosystem Threat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URLs and Shorteners </a:t>
            </a:r>
            <a:r>
              <a:rPr lang="en" sz="700">
                <a:solidFill>
                  <a:schemeClr val="lt2"/>
                </a:solidFill>
              </a:rPr>
              <a:t>(sanjari et al., 2025)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Brand impersonation </a:t>
            </a:r>
            <a:r>
              <a:rPr lang="en" sz="700">
                <a:solidFill>
                  <a:schemeClr val="lt2"/>
                </a:solidFill>
              </a:rPr>
              <a:t>(sanjari et al., 2025)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Cross channel coordination (social media, calls, emails, text)</a:t>
            </a:r>
            <a:r>
              <a:rPr lang="en" sz="700">
                <a:solidFill>
                  <a:schemeClr val="lt2"/>
                </a:solidFill>
              </a:rPr>
              <a:t> (tabassum et al.)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Japan study </a:t>
            </a:r>
            <a:r>
              <a:rPr lang="en" sz="900">
                <a:solidFill>
                  <a:schemeClr val="lt2"/>
                </a:solidFill>
              </a:rPr>
              <a:t>(saeki et al., 2022)</a:t>
            </a:r>
            <a:endParaRPr sz="9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Circadian </a:t>
            </a:r>
            <a:r>
              <a:rPr lang="en"/>
              <a:t>rhythms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Updates twice a day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Common domain registers used (godaddy)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Psychology Drives Smishing Success</a:t>
            </a:r>
            <a:endParaRPr/>
          </a:p>
        </p:txBody>
      </p:sp>
      <p:sp>
        <p:nvSpPr>
          <p:cNvPr id="189" name="Google Shape;189;p18"/>
          <p:cNvSpPr txBox="1"/>
          <p:nvPr>
            <p:ph idx="1" type="body"/>
          </p:nvPr>
        </p:nvSpPr>
        <p:spPr>
          <a:xfrm>
            <a:off x="1297500" y="1039400"/>
            <a:ext cx="7038900" cy="34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Psychological manipulation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Authority impersonation </a:t>
            </a:r>
            <a:r>
              <a:rPr lang="en" sz="700">
                <a:solidFill>
                  <a:schemeClr val="lt2"/>
                </a:solidFill>
              </a:rPr>
              <a:t>(Tabassum et al.)</a:t>
            </a:r>
            <a:endParaRPr sz="700">
              <a:solidFill>
                <a:schemeClr val="lt2"/>
              </a:solidFill>
            </a:endParaRPr>
          </a:p>
          <a:p>
            <a:pPr indent="-2984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romanLcPeriod"/>
            </a:pPr>
            <a:r>
              <a:rPr lang="en"/>
              <a:t>IRS, DHS, housing, immigration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Fear, urgency, greed used </a:t>
            </a:r>
            <a:r>
              <a:rPr lang="en" sz="700">
                <a:solidFill>
                  <a:schemeClr val="lt2"/>
                </a:solidFill>
              </a:rPr>
              <a:t>(zimba et al., 2025)</a:t>
            </a:r>
            <a:r>
              <a:rPr lang="en"/>
              <a:t> </a:t>
            </a:r>
            <a:r>
              <a:rPr lang="en" sz="700">
                <a:solidFill>
                  <a:schemeClr val="lt2"/>
                </a:solidFill>
              </a:rPr>
              <a:t>(Rahman et al., 2025)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Cultural and contextual Vulnerabilities 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Education migrants </a:t>
            </a:r>
            <a:r>
              <a:rPr lang="en" sz="700">
                <a:solidFill>
                  <a:schemeClr val="lt2"/>
                </a:solidFill>
              </a:rPr>
              <a:t>(Tabassum et al.)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Race (black, mexican-american) </a:t>
            </a:r>
            <a:r>
              <a:rPr lang="en" sz="700">
                <a:solidFill>
                  <a:schemeClr val="lt2"/>
                </a:solidFill>
              </a:rPr>
              <a:t>(Rahman et al., 2023)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Gender (men) </a:t>
            </a:r>
            <a:r>
              <a:rPr lang="en" sz="700">
                <a:solidFill>
                  <a:schemeClr val="lt2"/>
                </a:solidFill>
              </a:rPr>
              <a:t>(Yeboah -Boateng &amp; amanor, 2014)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Users without cybersecurity training </a:t>
            </a:r>
            <a:r>
              <a:rPr lang="en"/>
              <a:t> </a:t>
            </a:r>
            <a:r>
              <a:rPr lang="en" sz="700">
                <a:solidFill>
                  <a:schemeClr val="lt2"/>
                </a:solidFill>
              </a:rPr>
              <a:t>(Tabassum et al., 2024)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Zambia study (63% unaware) </a:t>
            </a:r>
            <a:r>
              <a:rPr lang="en" sz="700">
                <a:solidFill>
                  <a:schemeClr val="lt2"/>
                </a:solidFill>
              </a:rPr>
              <a:t>(Zimba et al., 2025)</a:t>
            </a:r>
            <a:endParaRPr sz="7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955475" y="350253"/>
            <a:ext cx="8354700" cy="5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60"/>
              <a:t>Detection Alone Cannot Keep up with Evolving Smishing Campaigns</a:t>
            </a:r>
            <a:endParaRPr sz="1760"/>
          </a:p>
        </p:txBody>
      </p:sp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1297500" y="929850"/>
            <a:ext cx="7149300" cy="38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Machine learning approaches</a:t>
            </a:r>
            <a:endParaRPr/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S-Detector - Naive Bayes classifier</a:t>
            </a:r>
            <a:r>
              <a:rPr lang="en" sz="700">
                <a:solidFill>
                  <a:schemeClr val="lt2"/>
                </a:solidFill>
              </a:rPr>
              <a:t> (Joo et al., 2017)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SmiDCA - Statistical correlator and noun </a:t>
            </a:r>
            <a:r>
              <a:rPr lang="en"/>
              <a:t>classifier </a:t>
            </a:r>
            <a:r>
              <a:rPr lang="en" sz="700">
                <a:solidFill>
                  <a:schemeClr val="lt2"/>
                </a:solidFill>
              </a:rPr>
              <a:t>(Sonowal &amp; Kuppusamy, 2018)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Limitations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URL changes rapidly </a:t>
            </a:r>
            <a:r>
              <a:rPr lang="en" sz="700">
                <a:solidFill>
                  <a:schemeClr val="lt2"/>
                </a:solidFill>
              </a:rPr>
              <a:t> (Joo et al., 2017)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Mobile carrier ineffectiveness (25-35% blocked)</a:t>
            </a:r>
            <a:r>
              <a:rPr lang="en" sz="700">
                <a:solidFill>
                  <a:schemeClr val="lt2"/>
                </a:solidFill>
              </a:rPr>
              <a:t> (Commercial Anti-Smishing Tools, 2023)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Lack of reporting of smishing messages</a:t>
            </a:r>
            <a:r>
              <a:rPr lang="en" sz="700">
                <a:solidFill>
                  <a:schemeClr val="lt2"/>
                </a:solidFill>
              </a:rPr>
              <a:t> (Tabassum et al., 2024) (Faklaris, 2024)</a:t>
            </a:r>
            <a:endParaRPr sz="7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 be described as a cat and mouse issue.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Educational problem.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1297500" y="393750"/>
            <a:ext cx="7038900" cy="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Defense Requires Education</a:t>
            </a:r>
            <a:endParaRPr/>
          </a:p>
        </p:txBody>
      </p:sp>
      <p:sp>
        <p:nvSpPr>
          <p:cNvPr id="201" name="Google Shape;201;p20"/>
          <p:cNvSpPr txBox="1"/>
          <p:nvPr>
            <p:ph idx="1" type="body"/>
          </p:nvPr>
        </p:nvSpPr>
        <p:spPr>
          <a:xfrm>
            <a:off x="1297500" y="1236750"/>
            <a:ext cx="7038900" cy="35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Focus on Education </a:t>
            </a:r>
            <a:r>
              <a:rPr lang="en" sz="700">
                <a:solidFill>
                  <a:schemeClr val="lt2"/>
                </a:solidFill>
              </a:rPr>
              <a:t>(Yeboah-Boateng &amp; Amanor, 2014) (Njunga et al., 2022)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Issues with …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AutoNum type="romanLcPeriod"/>
            </a:pPr>
            <a:r>
              <a:rPr lang="en"/>
              <a:t>TCPA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AutoNum type="romanLcPeriod"/>
            </a:pPr>
            <a:r>
              <a:rPr lang="en"/>
              <a:t>CAN-SPAM act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AutoNum type="romanLcPeriod"/>
            </a:pPr>
            <a:r>
              <a:rPr lang="en"/>
              <a:t>TRACED act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Tradition methods are not working </a:t>
            </a:r>
            <a:r>
              <a:rPr lang="en" sz="700">
                <a:solidFill>
                  <a:schemeClr val="lt2"/>
                </a:solidFill>
              </a:rPr>
              <a:t>(Sonowal &amp; Kuppusamy, 2018)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Blacklist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Whitelist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Carrier level blocking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Machine learning</a:t>
            </a:r>
            <a:r>
              <a:rPr lang="en" sz="700">
                <a:solidFill>
                  <a:schemeClr val="lt2"/>
                </a:solidFill>
              </a:rPr>
              <a:t> (Sanjari et al, 2025) (Seo et al., 2024)</a:t>
            </a:r>
            <a:endParaRPr sz="700">
              <a:solidFill>
                <a:schemeClr val="lt2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Needs full-time professional paid help with governmental support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/>
        </p:nvSpPr>
        <p:spPr>
          <a:xfrm>
            <a:off x="1676801" y="1504978"/>
            <a:ext cx="5959200" cy="25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sz="6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