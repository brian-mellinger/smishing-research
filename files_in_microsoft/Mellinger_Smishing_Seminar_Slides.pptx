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Roboto" panose="02000000000000000000" pitchFamily="2" charset="0"/>
      <p:regular r:id="rId20"/>
      <p:bold r:id="rId21"/>
      <p:italic r:id="rId22"/>
      <p:boldItalic r:id="rId23"/>
    </p:embeddedFont>
    <p:embeddedFont>
      <p:font typeface="Work Sans" panose="020F0502020204030204" pitchFamily="2" charset="0"/>
      <p:bold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1042"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mishtank.com/smish/4794"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smishtank.com/smish/4753" TargetMode="External"/><Relationship Id="rId4" Type="http://schemas.openxmlformats.org/officeDocument/2006/relationships/hyperlink" Target="https://smishtank.com/smish/4723"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Intro: Today I am going to talk to you about smishing …. spex lab + HCCRG + CCI… name is Brian Mellinger, conducted an extended systematic literature review on the topic of smishing</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Does anyone know what smishing is?</a:t>
            </a: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Undergraduate researcher under Dr. Cori Faklaris in the Security and Privacy Experiences Lab</a:t>
            </a:r>
            <a:endParaRPr/>
          </a:p>
          <a:p>
            <a:pPr marL="0" lvl="0" indent="0" algn="l" rtl="0">
              <a:spcBef>
                <a:spcPts val="0"/>
              </a:spcBef>
              <a:spcAft>
                <a:spcPts val="0"/>
              </a:spcAft>
              <a:buNone/>
            </a:pPr>
            <a:r>
              <a:rPr lang="en-US"/>
              <a:t>Junior studying Computer Science: Cybersecurity Concentration and starting my Masters in Cybersecurity next semester (early entry program)</a:t>
            </a:r>
            <a:endParaRPr/>
          </a:p>
          <a:p>
            <a:pPr marL="0" lvl="0" indent="0" algn="l" rtl="0">
              <a:spcBef>
                <a:spcPts val="0"/>
              </a:spcBef>
              <a:spcAft>
                <a:spcPts val="0"/>
              </a:spcAft>
              <a:buNone/>
            </a:pPr>
            <a:r>
              <a:rPr lang="en-US"/>
              <a:t>The time my military family was hit by a cybercrime</a:t>
            </a:r>
            <a:endParaRPr/>
          </a:p>
        </p:txBody>
      </p:sp>
      <p:sp>
        <p:nvSpPr>
          <p:cNvPr id="97" name="Google Shape;9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6187657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Introduction: Define what smishing is, the key components of this review</a:t>
            </a:r>
            <a:endParaRPr>
              <a:solidFill>
                <a:schemeClr val="dk1"/>
              </a:solidFill>
            </a:endParaRPr>
          </a:p>
          <a:p>
            <a:pPr marL="0" lvl="0" indent="0" algn="l" rtl="0">
              <a:spcBef>
                <a:spcPts val="0"/>
              </a:spcBef>
              <a:spcAft>
                <a:spcPts val="0"/>
              </a:spcAft>
              <a:buNone/>
            </a:pPr>
            <a:r>
              <a:rPr lang="en-US">
                <a:solidFill>
                  <a:schemeClr val="dk1"/>
                </a:solidFill>
              </a:rPr>
              <a:t>Research: What researchers are saying about smishing</a:t>
            </a: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Conclusion: What clearly needs to happen to solve this global issue</a:t>
            </a:r>
            <a:endParaRPr>
              <a:solidFill>
                <a:schemeClr val="dk1"/>
              </a:solidFill>
            </a:endParaRPr>
          </a:p>
        </p:txBody>
      </p:sp>
      <p:sp>
        <p:nvSpPr>
          <p:cNvPr id="115" name="Google Shape;115;g3d6187657f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d6a57a6d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d6a57a6d4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d6874bc8f0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d6874bc8f0_1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u="sng">
                <a:solidFill>
                  <a:schemeClr val="hlink"/>
                </a:solidFill>
                <a:hlinkClick r:id="rId3"/>
              </a:rPr>
              <a:t>https://smishtank.com/smish/4794</a:t>
            </a:r>
            <a:r>
              <a:rPr lang="en-US"/>
              <a:t>            They are all listed as potential smishing messages listed by smishtank.</a:t>
            </a:r>
            <a:endParaRPr/>
          </a:p>
          <a:p>
            <a:pPr marL="0" lvl="0" indent="0" algn="l" rtl="0">
              <a:spcBef>
                <a:spcPts val="0"/>
              </a:spcBef>
              <a:spcAft>
                <a:spcPts val="0"/>
              </a:spcAft>
              <a:buNone/>
            </a:pPr>
            <a:r>
              <a:rPr lang="en-US" u="sng">
                <a:solidFill>
                  <a:schemeClr val="hlink"/>
                </a:solidFill>
                <a:hlinkClick r:id="rId4"/>
              </a:rPr>
              <a:t>https://smishtank.com/smish/4723</a:t>
            </a:r>
            <a:endParaRPr/>
          </a:p>
          <a:p>
            <a:pPr marL="0" lvl="0" indent="0" algn="l" rtl="0">
              <a:spcBef>
                <a:spcPts val="0"/>
              </a:spcBef>
              <a:spcAft>
                <a:spcPts val="0"/>
              </a:spcAft>
              <a:buNone/>
            </a:pPr>
            <a:r>
              <a:rPr lang="en-US" u="sng">
                <a:solidFill>
                  <a:schemeClr val="hlink"/>
                </a:solidFill>
                <a:hlinkClick r:id="rId5"/>
              </a:rPr>
              <a:t>https://smishtank.com/smish/4753</a:t>
            </a:r>
            <a:endParaRPr/>
          </a:p>
        </p:txBody>
      </p:sp>
      <p:sp>
        <p:nvSpPr>
          <p:cNvPr id="174" name="Google Shape;17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d655cbadec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FTC estimated in 2024 alone, 470 million lost to smishing</a:t>
            </a:r>
            <a:endParaRPr/>
          </a:p>
        </p:txBody>
      </p:sp>
      <p:sp>
        <p:nvSpPr>
          <p:cNvPr id="191" name="Google Shape;191;g3d655cbadec_0_10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d655cbadec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3d655cbadec_0_1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d655cbadec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3d655cbadec_0_1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d6874bc8f0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265 participants</a:t>
            </a:r>
            <a:endParaRPr/>
          </a:p>
        </p:txBody>
      </p:sp>
      <p:sp>
        <p:nvSpPr>
          <p:cNvPr id="236" name="Google Shape;236;g3d6874bc8f0_1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d6a57a6d4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3d6a57a6d4e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d655cbadec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Cybersmish - scans Messages, URL, and website code: 95.5% accuracy</a:t>
            </a:r>
            <a:endParaRPr/>
          </a:p>
          <a:p>
            <a:pPr marL="0" lvl="0" indent="0" algn="l" rtl="0">
              <a:spcBef>
                <a:spcPts val="0"/>
              </a:spcBef>
              <a:spcAft>
                <a:spcPts val="0"/>
              </a:spcAft>
              <a:buNone/>
            </a:pPr>
            <a:r>
              <a:rPr lang="en-US"/>
              <a:t>smiDCA - 96.40% accuracy</a:t>
            </a:r>
            <a:endParaRPr/>
          </a:p>
          <a:p>
            <a:pPr marL="0" lvl="0" indent="0" algn="l" rtl="0">
              <a:spcBef>
                <a:spcPts val="0"/>
              </a:spcBef>
              <a:spcAft>
                <a:spcPts val="0"/>
              </a:spcAft>
              <a:buNone/>
            </a:pPr>
            <a:r>
              <a:rPr lang="en-US"/>
              <a:t>(TCPA) Telephone consumer protection act - advertisers must gain explicit consent before texting customers</a:t>
            </a:r>
            <a:endParaRPr/>
          </a:p>
          <a:p>
            <a:pPr marL="0" lvl="0" indent="0" algn="l" rtl="0">
              <a:spcBef>
                <a:spcPts val="0"/>
              </a:spcBef>
              <a:spcAft>
                <a:spcPts val="0"/>
              </a:spcAft>
              <a:buNone/>
            </a:pPr>
            <a:r>
              <a:rPr lang="en-US"/>
              <a:t>CAN-SPAM - targets emails … only legitimate businesses</a:t>
            </a:r>
            <a:endParaRPr/>
          </a:p>
          <a:p>
            <a:pPr marL="0" lvl="0" indent="0" algn="l" rtl="0">
              <a:spcBef>
                <a:spcPts val="0"/>
              </a:spcBef>
              <a:spcAft>
                <a:spcPts val="0"/>
              </a:spcAft>
              <a:buNone/>
            </a:pPr>
            <a:r>
              <a:rPr lang="en-US"/>
              <a:t>TRACED - helps reduce robo calls not sms texts</a:t>
            </a:r>
            <a:endParaRPr/>
          </a:p>
        </p:txBody>
      </p:sp>
      <p:sp>
        <p:nvSpPr>
          <p:cNvPr id="273" name="Google Shape;273;g3d655cbadec_0_2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d6874bc8f0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US"/>
              <a:t>Laws don’t relate to smishing</a:t>
            </a:r>
            <a:endParaRPr/>
          </a:p>
          <a:p>
            <a:pPr marL="457200" lvl="0" indent="-298450" algn="l" rtl="0">
              <a:spcBef>
                <a:spcPts val="0"/>
              </a:spcBef>
              <a:spcAft>
                <a:spcPts val="0"/>
              </a:spcAft>
              <a:buSzPts val="1100"/>
              <a:buAutoNum type="arabicPeriod"/>
            </a:pPr>
            <a:r>
              <a:rPr lang="en-US"/>
              <a:t>Machine learning requires constant support and data collection for retraining</a:t>
            </a:r>
            <a:endParaRPr/>
          </a:p>
          <a:p>
            <a:pPr marL="457200" lvl="0" indent="-298450" algn="l" rtl="0">
              <a:spcBef>
                <a:spcPts val="0"/>
              </a:spcBef>
              <a:spcAft>
                <a:spcPts val="0"/>
              </a:spcAft>
              <a:buSzPts val="1100"/>
              <a:buAutoNum type="arabicPeriod"/>
            </a:pPr>
            <a:r>
              <a:rPr lang="en-US"/>
              <a:t>Smishing is a psychological issue, they use strong emotion to invoke a response</a:t>
            </a:r>
            <a:endParaRPr/>
          </a:p>
          <a:p>
            <a:pPr marL="457200" lvl="0" indent="-298450" algn="l" rtl="0">
              <a:spcBef>
                <a:spcPts val="0"/>
              </a:spcBef>
              <a:spcAft>
                <a:spcPts val="0"/>
              </a:spcAft>
              <a:buSzPts val="1100"/>
              <a:buAutoNum type="arabicPeriod"/>
            </a:pPr>
            <a:r>
              <a:rPr lang="en-US"/>
              <a:t>Modern smishing implements multiple forms of phishing, it doesn’t always stay in text</a:t>
            </a:r>
            <a:endParaRPr/>
          </a:p>
          <a:p>
            <a:pPr marL="457200" lvl="0" indent="-298450" algn="l" rtl="0">
              <a:spcBef>
                <a:spcPts val="0"/>
              </a:spcBef>
              <a:spcAft>
                <a:spcPts val="0"/>
              </a:spcAft>
              <a:buSzPts val="1100"/>
              <a:buAutoNum type="arabicPeriod"/>
            </a:pPr>
            <a:r>
              <a:rPr lang="en-US"/>
              <a:t>Who even knows how to report smishing messages</a:t>
            </a:r>
            <a:endParaRPr/>
          </a:p>
        </p:txBody>
      </p:sp>
      <p:sp>
        <p:nvSpPr>
          <p:cNvPr id="290" name="Google Shape;290;g3d6874bc8f0_1_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d6a57a6d4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US"/>
              <a:t>Laws don’t relate to smishing</a:t>
            </a:r>
            <a:endParaRPr/>
          </a:p>
          <a:p>
            <a:pPr marL="457200" lvl="0" indent="-298450" algn="l" rtl="0">
              <a:spcBef>
                <a:spcPts val="0"/>
              </a:spcBef>
              <a:spcAft>
                <a:spcPts val="0"/>
              </a:spcAft>
              <a:buSzPts val="1100"/>
              <a:buAutoNum type="arabicPeriod"/>
            </a:pPr>
            <a:r>
              <a:rPr lang="en-US"/>
              <a:t>Machine learning requires constant support and data collection for retraining</a:t>
            </a:r>
            <a:endParaRPr/>
          </a:p>
          <a:p>
            <a:pPr marL="457200" lvl="0" indent="-298450" algn="l" rtl="0">
              <a:spcBef>
                <a:spcPts val="0"/>
              </a:spcBef>
              <a:spcAft>
                <a:spcPts val="0"/>
              </a:spcAft>
              <a:buSzPts val="1100"/>
              <a:buAutoNum type="arabicPeriod"/>
            </a:pPr>
            <a:r>
              <a:rPr lang="en-US"/>
              <a:t>Smishing is a psychological issue, they use strong emotion to invoke a response</a:t>
            </a:r>
            <a:endParaRPr/>
          </a:p>
          <a:p>
            <a:pPr marL="457200" lvl="0" indent="-298450" algn="l" rtl="0">
              <a:spcBef>
                <a:spcPts val="0"/>
              </a:spcBef>
              <a:spcAft>
                <a:spcPts val="0"/>
              </a:spcAft>
              <a:buSzPts val="1100"/>
              <a:buAutoNum type="arabicPeriod"/>
            </a:pPr>
            <a:r>
              <a:rPr lang="en-US"/>
              <a:t>Modern smishing implements multiple forms of phishing, it doesn’t always stay in text</a:t>
            </a:r>
            <a:endParaRPr/>
          </a:p>
          <a:p>
            <a:pPr marL="457200" lvl="0" indent="-298450" algn="l" rtl="0">
              <a:spcBef>
                <a:spcPts val="0"/>
              </a:spcBef>
              <a:spcAft>
                <a:spcPts val="0"/>
              </a:spcAft>
              <a:buSzPts val="1100"/>
              <a:buAutoNum type="arabicPeriod"/>
            </a:pPr>
            <a:r>
              <a:rPr lang="en-US"/>
              <a:t>Who even knows how to report smishing messages</a:t>
            </a:r>
            <a:endParaRPr/>
          </a:p>
        </p:txBody>
      </p:sp>
      <p:sp>
        <p:nvSpPr>
          <p:cNvPr id="305" name="Google Shape;305;g3d6a57a6d4e_0_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d655cbade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important to remember that smishing isnt rudimentary, its an organized cybercrime network that uses human behavior as its primary weapon and we have to reshape how we think about this issue. Machine learning approaches show promise but need fulltime support and have only been tested in enclosed environments</a:t>
            </a:r>
            <a:endParaRPr/>
          </a:p>
        </p:txBody>
      </p:sp>
      <p:sp>
        <p:nvSpPr>
          <p:cNvPr id="321" name="Google Shape;321;g3d655cbadec_0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d655cbadec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g3d655cbadec_0_1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d6874bc8f0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g3d6874bc8f0_1_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145/3577923.3583640"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doi.org/10.1109/ACCESS.2022.321779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www.zotero.org/google-docs/?POrl4H"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145/3577923.358364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145/3577923.3583640"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hyperlink" Target="https://doi.org/10.1057/s41599-025-06141-8"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109/I-SMAC58438.2023.10290228"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doi.org/10.1145/3714393.3726499" TargetMode="External"/><Relationship Id="rId5" Type="http://schemas.openxmlformats.org/officeDocument/2006/relationships/image" Target="../media/image14.png"/><Relationship Id="rId4" Type="http://schemas.openxmlformats.org/officeDocument/2006/relationships/hyperlink" Target="https://doi.org/10.1093/comjnl/bxy039"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33333">
              <a:srgbClr val="29464A"/>
            </a:gs>
            <a:gs pos="66667">
              <a:srgbClr val="6D8080"/>
            </a:gs>
            <a:gs pos="100000">
              <a:srgbClr val="BDCBBB"/>
            </a:gs>
          </a:gsLst>
          <a:lin ang="0" scaled="0"/>
        </a:gradFill>
        <a:effectLst/>
      </p:bgPr>
    </p:bg>
    <p:spTree>
      <p:nvGrpSpPr>
        <p:cNvPr id="1" name="Shape 83"/>
        <p:cNvGrpSpPr/>
        <p:nvPr/>
      </p:nvGrpSpPr>
      <p:grpSpPr>
        <a:xfrm>
          <a:off x="0" y="0"/>
          <a:ext cx="0" cy="0"/>
          <a:chOff x="0" y="0"/>
          <a:chExt cx="0" cy="0"/>
        </a:xfrm>
      </p:grpSpPr>
      <p:sp>
        <p:nvSpPr>
          <p:cNvPr id="84" name="Google Shape;84;p13"/>
          <p:cNvSpPr/>
          <p:nvPr/>
        </p:nvSpPr>
        <p:spPr>
          <a:xfrm>
            <a:off x="12666413" y="-1073776"/>
            <a:ext cx="6641227" cy="6641227"/>
          </a:xfrm>
          <a:custGeom>
            <a:avLst/>
            <a:gdLst/>
            <a:ahLst/>
            <a:cxnLst/>
            <a:rect l="l" t="t" r="r" b="b"/>
            <a:pathLst>
              <a:path w="6641227" h="6641227" extrusionOk="0">
                <a:moveTo>
                  <a:pt x="0" y="0"/>
                </a:moveTo>
                <a:lnTo>
                  <a:pt x="6641227" y="0"/>
                </a:lnTo>
                <a:lnTo>
                  <a:pt x="6641227" y="6641227"/>
                </a:lnTo>
                <a:lnTo>
                  <a:pt x="0" y="6641227"/>
                </a:lnTo>
                <a:lnTo>
                  <a:pt x="0" y="0"/>
                </a:lnTo>
                <a:close/>
              </a:path>
            </a:pathLst>
          </a:custGeom>
          <a:blipFill rotWithShape="1">
            <a:blip r:embed="rId3">
              <a:alphaModFix/>
            </a:blip>
            <a:stretch>
              <a:fillRect/>
            </a:stretch>
          </a:blipFill>
          <a:ln>
            <a:noFill/>
          </a:ln>
        </p:spPr>
        <p:txBody>
          <a:bodyPr/>
          <a:lstStyle/>
          <a:p>
            <a:endParaRPr lang="en-US"/>
          </a:p>
        </p:txBody>
      </p:sp>
      <p:sp>
        <p:nvSpPr>
          <p:cNvPr id="85" name="Google Shape;85;p13"/>
          <p:cNvSpPr/>
          <p:nvPr/>
        </p:nvSpPr>
        <p:spPr>
          <a:xfrm>
            <a:off x="1028700" y="1028700"/>
            <a:ext cx="879376" cy="722687"/>
          </a:xfrm>
          <a:custGeom>
            <a:avLst/>
            <a:gdLst/>
            <a:ahLst/>
            <a:cxnLst/>
            <a:rect l="l" t="t" r="r" b="b"/>
            <a:pathLst>
              <a:path w="879376" h="722687" extrusionOk="0">
                <a:moveTo>
                  <a:pt x="0" y="0"/>
                </a:moveTo>
                <a:lnTo>
                  <a:pt x="879376" y="0"/>
                </a:lnTo>
                <a:lnTo>
                  <a:pt x="879376" y="722687"/>
                </a:lnTo>
                <a:lnTo>
                  <a:pt x="0" y="722687"/>
                </a:lnTo>
                <a:lnTo>
                  <a:pt x="0" y="0"/>
                </a:lnTo>
                <a:close/>
              </a:path>
            </a:pathLst>
          </a:custGeom>
          <a:blipFill rotWithShape="1">
            <a:blip r:embed="rId4">
              <a:alphaModFix/>
            </a:blip>
            <a:stretch>
              <a:fillRect/>
            </a:stretch>
          </a:blipFill>
          <a:ln>
            <a:noFill/>
          </a:ln>
        </p:spPr>
        <p:txBody>
          <a:bodyPr/>
          <a:lstStyle/>
          <a:p>
            <a:endParaRPr lang="en-US"/>
          </a:p>
        </p:txBody>
      </p:sp>
      <p:sp>
        <p:nvSpPr>
          <p:cNvPr id="86" name="Google Shape;86;p13"/>
          <p:cNvSpPr txBox="1"/>
          <p:nvPr/>
        </p:nvSpPr>
        <p:spPr>
          <a:xfrm>
            <a:off x="293238" y="2320297"/>
            <a:ext cx="12401400" cy="30477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sz="6000">
                <a:solidFill>
                  <a:schemeClr val="lt1"/>
                </a:solidFill>
              </a:rPr>
              <a:t>SMiShing: A Systematic Literature Review with Suggestions for Future Research</a:t>
            </a:r>
            <a:endParaRPr sz="6000">
              <a:solidFill>
                <a:schemeClr val="lt1"/>
              </a:solidFill>
            </a:endParaRPr>
          </a:p>
        </p:txBody>
      </p:sp>
      <p:grpSp>
        <p:nvGrpSpPr>
          <p:cNvPr id="87" name="Google Shape;87;p13"/>
          <p:cNvGrpSpPr/>
          <p:nvPr/>
        </p:nvGrpSpPr>
        <p:grpSpPr>
          <a:xfrm>
            <a:off x="12865612" y="8031612"/>
            <a:ext cx="4393688" cy="1226688"/>
            <a:chOff x="0" y="-76200"/>
            <a:chExt cx="1157185" cy="323078"/>
          </a:xfrm>
        </p:grpSpPr>
        <p:sp>
          <p:nvSpPr>
            <p:cNvPr id="88" name="Google Shape;88;p13"/>
            <p:cNvSpPr/>
            <p:nvPr/>
          </p:nvSpPr>
          <p:spPr>
            <a:xfrm>
              <a:off x="0" y="0"/>
              <a:ext cx="1157185" cy="246878"/>
            </a:xfrm>
            <a:custGeom>
              <a:avLst/>
              <a:gdLst/>
              <a:ahLst/>
              <a:cxnLst/>
              <a:rect l="l" t="t" r="r" b="b"/>
              <a:pathLst>
                <a:path w="1157185" h="246878" extrusionOk="0">
                  <a:moveTo>
                    <a:pt x="17621" y="0"/>
                  </a:moveTo>
                  <a:lnTo>
                    <a:pt x="1139565" y="0"/>
                  </a:lnTo>
                  <a:cubicBezTo>
                    <a:pt x="1144238" y="0"/>
                    <a:pt x="1148720" y="1856"/>
                    <a:pt x="1152024" y="5161"/>
                  </a:cubicBezTo>
                  <a:cubicBezTo>
                    <a:pt x="1155329" y="8465"/>
                    <a:pt x="1157185" y="12947"/>
                    <a:pt x="1157185" y="17621"/>
                  </a:cubicBezTo>
                  <a:lnTo>
                    <a:pt x="1157185" y="229258"/>
                  </a:lnTo>
                  <a:cubicBezTo>
                    <a:pt x="1157185" y="233931"/>
                    <a:pt x="1155329" y="238413"/>
                    <a:pt x="1152024" y="241717"/>
                  </a:cubicBezTo>
                  <a:cubicBezTo>
                    <a:pt x="1148720" y="245022"/>
                    <a:pt x="1144238" y="246878"/>
                    <a:pt x="1139565" y="246878"/>
                  </a:cubicBezTo>
                  <a:lnTo>
                    <a:pt x="17621" y="246878"/>
                  </a:lnTo>
                  <a:cubicBezTo>
                    <a:pt x="12947" y="246878"/>
                    <a:pt x="8465" y="245022"/>
                    <a:pt x="5161" y="241717"/>
                  </a:cubicBezTo>
                  <a:cubicBezTo>
                    <a:pt x="1856" y="238413"/>
                    <a:pt x="0" y="233931"/>
                    <a:pt x="0" y="229258"/>
                  </a:cubicBezTo>
                  <a:lnTo>
                    <a:pt x="0" y="17621"/>
                  </a:lnTo>
                  <a:cubicBezTo>
                    <a:pt x="0" y="12947"/>
                    <a:pt x="1856" y="8465"/>
                    <a:pt x="5161" y="5161"/>
                  </a:cubicBezTo>
                  <a:cubicBezTo>
                    <a:pt x="8465" y="1856"/>
                    <a:pt x="12947" y="0"/>
                    <a:pt x="17621" y="0"/>
                  </a:cubicBezTo>
                  <a:close/>
                </a:path>
              </a:pathLst>
            </a:custGeom>
            <a:solidFill>
              <a:srgbClr val="FFFFFF">
                <a:alpha val="29803"/>
              </a:srgbClr>
            </a:solidFill>
            <a:ln w="9525" cap="sq" cmpd="sng">
              <a:solidFill>
                <a:srgbClr val="9EB49F">
                  <a:alpha val="29803"/>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txBox="1"/>
            <p:nvPr/>
          </p:nvSpPr>
          <p:spPr>
            <a:xfrm>
              <a:off x="0" y="-76200"/>
              <a:ext cx="1157185" cy="323078"/>
            </a:xfrm>
            <a:prstGeom prst="rect">
              <a:avLst/>
            </a:prstGeom>
            <a:noFill/>
            <a:ln>
              <a:noFill/>
            </a:ln>
          </p:spPr>
          <p:txBody>
            <a:bodyPr spcFirstLastPara="1" wrap="square" lIns="50800" tIns="50800" rIns="50800" bIns="50800" anchor="ctr" anchorCtr="0">
              <a:noAutofit/>
            </a:bodyPr>
            <a:lstStyle/>
            <a:p>
              <a:pPr marL="0" marR="0" lvl="0" indent="0" algn="ctr" rtl="0">
                <a:lnSpc>
                  <a:spcPct val="24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0" name="Google Shape;90;p13"/>
          <p:cNvSpPr txBox="1"/>
          <p:nvPr/>
        </p:nvSpPr>
        <p:spPr>
          <a:xfrm>
            <a:off x="13239519" y="8510852"/>
            <a:ext cx="3645900" cy="554100"/>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None/>
            </a:pPr>
            <a:r>
              <a:rPr lang="en-US" sz="3599" b="1" i="0" u="none" strike="noStrike" cap="none">
                <a:solidFill>
                  <a:schemeClr val="lt1"/>
                </a:solidFill>
                <a:latin typeface="Work Sans"/>
                <a:ea typeface="Work Sans"/>
                <a:cs typeface="Work Sans"/>
                <a:sym typeface="Work Sans"/>
              </a:rPr>
              <a:t>Brian Mellinger</a:t>
            </a:r>
            <a:endParaRPr sz="2200">
              <a:solidFill>
                <a:schemeClr val="lt1"/>
              </a:solidFill>
            </a:endParaRPr>
          </a:p>
        </p:txBody>
      </p:sp>
      <p:sp>
        <p:nvSpPr>
          <p:cNvPr id="91" name="Google Shape;91;p13"/>
          <p:cNvSpPr txBox="1"/>
          <p:nvPr/>
        </p:nvSpPr>
        <p:spPr>
          <a:xfrm>
            <a:off x="2353402" y="1102071"/>
            <a:ext cx="2843094" cy="556896"/>
          </a:xfrm>
          <a:prstGeom prst="rect">
            <a:avLst/>
          </a:prstGeom>
          <a:noFill/>
          <a:ln>
            <a:no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3199" b="0" i="0" u="none" strike="noStrike" cap="none">
                <a:solidFill>
                  <a:srgbClr val="FFFFFF"/>
                </a:solidFill>
                <a:latin typeface="Work Sans"/>
                <a:ea typeface="Work Sans"/>
                <a:cs typeface="Work Sans"/>
                <a:sym typeface="Work Sans"/>
              </a:rPr>
              <a:t>UNC Charlotte</a:t>
            </a:r>
            <a:endParaRPr/>
          </a:p>
        </p:txBody>
      </p:sp>
      <p:pic>
        <p:nvPicPr>
          <p:cNvPr id="92" name="Google Shape;92;p13" title="SPEX logo_tall.jpg"/>
          <p:cNvPicPr preferRelativeResize="0"/>
          <p:nvPr/>
        </p:nvPicPr>
        <p:blipFill>
          <a:blip r:embed="rId5">
            <a:alphaModFix/>
          </a:blip>
          <a:stretch>
            <a:fillRect/>
          </a:stretch>
        </p:blipFill>
        <p:spPr>
          <a:xfrm>
            <a:off x="454338" y="6324538"/>
            <a:ext cx="6641225" cy="3735686"/>
          </a:xfrm>
          <a:prstGeom prst="rect">
            <a:avLst/>
          </a:prstGeom>
          <a:noFill/>
          <a:ln>
            <a:noFill/>
          </a:ln>
        </p:spPr>
      </p:pic>
      <p:pic>
        <p:nvPicPr>
          <p:cNvPr id="93" name="Google Shape;93;p13" title="CCI-logo.jpg"/>
          <p:cNvPicPr preferRelativeResize="0"/>
          <p:nvPr/>
        </p:nvPicPr>
        <p:blipFill>
          <a:blip r:embed="rId6">
            <a:alphaModFix/>
          </a:blip>
          <a:stretch>
            <a:fillRect/>
          </a:stretch>
        </p:blipFill>
        <p:spPr>
          <a:xfrm>
            <a:off x="15052325" y="1320591"/>
            <a:ext cx="1619250" cy="1619250"/>
          </a:xfrm>
          <a:prstGeom prst="rect">
            <a:avLst/>
          </a:prstGeom>
          <a:noFill/>
          <a:ln>
            <a:noFill/>
          </a:ln>
        </p:spPr>
      </p:pic>
      <p:sp>
        <p:nvSpPr>
          <p:cNvPr id="94" name="Google Shape;94;p13"/>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a:t>
            </a:fld>
            <a:endParaRPr sz="2000" b="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33333">
              <a:srgbClr val="29464A"/>
            </a:gs>
            <a:gs pos="66667">
              <a:srgbClr val="6D8080"/>
            </a:gs>
            <a:gs pos="100000">
              <a:srgbClr val="B9C8B6"/>
            </a:gs>
          </a:gsLst>
          <a:lin ang="5400000" scaled="0"/>
        </a:gradFill>
        <a:effectLst/>
      </p:bgPr>
    </p:bg>
    <p:spTree>
      <p:nvGrpSpPr>
        <p:cNvPr id="1" name="Shape 98"/>
        <p:cNvGrpSpPr/>
        <p:nvPr/>
      </p:nvGrpSpPr>
      <p:grpSpPr>
        <a:xfrm>
          <a:off x="0" y="0"/>
          <a:ext cx="0" cy="0"/>
          <a:chOff x="0" y="0"/>
          <a:chExt cx="0" cy="0"/>
        </a:xfrm>
      </p:grpSpPr>
      <p:sp>
        <p:nvSpPr>
          <p:cNvPr id="99" name="Google Shape;99;p14"/>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a:solidFill>
                  <a:srgbClr val="FFFFFF"/>
                </a:solidFill>
              </a:rPr>
              <a:t>Who am I? </a:t>
            </a:r>
            <a:endParaRPr/>
          </a:p>
        </p:txBody>
      </p:sp>
      <p:sp>
        <p:nvSpPr>
          <p:cNvPr id="100" name="Google Shape;100;p14"/>
          <p:cNvSpPr/>
          <p:nvPr/>
        </p:nvSpPr>
        <p:spPr>
          <a:xfrm>
            <a:off x="930925" y="2009550"/>
            <a:ext cx="4096512" cy="4070096"/>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29800"/>
            </a:srgbClr>
          </a:solidFill>
          <a:ln w="9525" cap="sq" cmpd="sng">
            <a:solidFill>
              <a:schemeClr val="dk2">
                <a:alpha val="29800"/>
              </a:scheme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1" name="Google Shape;101;p14" title="professional_photo.jpg"/>
          <p:cNvPicPr preferRelativeResize="0"/>
          <p:nvPr/>
        </p:nvPicPr>
        <p:blipFill>
          <a:blip r:embed="rId3">
            <a:alphaModFix/>
          </a:blip>
          <a:stretch>
            <a:fillRect/>
          </a:stretch>
        </p:blipFill>
        <p:spPr>
          <a:xfrm>
            <a:off x="1074181" y="2139612"/>
            <a:ext cx="3810000" cy="3810000"/>
          </a:xfrm>
          <a:prstGeom prst="ellipse">
            <a:avLst/>
          </a:prstGeom>
          <a:noFill/>
          <a:ln w="28575" cap="flat" cmpd="sng">
            <a:solidFill>
              <a:schemeClr val="dk2"/>
            </a:solidFill>
            <a:prstDash val="solid"/>
            <a:round/>
            <a:headEnd type="none" w="sm" len="sm"/>
            <a:tailEnd type="none" w="sm" len="sm"/>
          </a:ln>
        </p:spPr>
      </p:pic>
      <p:sp>
        <p:nvSpPr>
          <p:cNvPr id="102" name="Google Shape;102;p14"/>
          <p:cNvSpPr txBox="1"/>
          <p:nvPr/>
        </p:nvSpPr>
        <p:spPr>
          <a:xfrm>
            <a:off x="6289650" y="3640675"/>
            <a:ext cx="804600" cy="1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03" name="Google Shape;103;p14"/>
          <p:cNvSpPr txBox="1"/>
          <p:nvPr/>
        </p:nvSpPr>
        <p:spPr>
          <a:xfrm>
            <a:off x="5963425" y="2857750"/>
            <a:ext cx="9612900" cy="5695200"/>
          </a:xfrm>
          <a:prstGeom prst="rect">
            <a:avLst/>
          </a:prstGeom>
          <a:noFill/>
          <a:ln>
            <a:noFill/>
          </a:ln>
        </p:spPr>
        <p:txBody>
          <a:bodyPr spcFirstLastPara="1" wrap="square" lIns="91425" tIns="91425" rIns="91425" bIns="91425" anchor="t" anchorCtr="0">
            <a:noAutofit/>
          </a:bodyPr>
          <a:lstStyle/>
          <a:p>
            <a:pPr marL="457200" lvl="0" indent="-431800" algn="l" rtl="0">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Undergraduate Researcher under Dr. Cori Faklaris</a:t>
            </a:r>
            <a:endParaRPr sz="3200">
              <a:solidFill>
                <a:schemeClr val="lt1"/>
              </a:solidFill>
              <a:latin typeface="Calibri"/>
              <a:ea typeface="Calibri"/>
              <a:cs typeface="Calibri"/>
              <a:sym typeface="Calibri"/>
            </a:endParaRPr>
          </a:p>
          <a:p>
            <a:pPr marL="0" lvl="0" indent="0" algn="l" rtl="0">
              <a:lnSpc>
                <a:spcPct val="150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Education </a:t>
            </a:r>
            <a:endParaRPr sz="3200">
              <a:solidFill>
                <a:schemeClr val="lt1"/>
              </a:solidFill>
              <a:latin typeface="Calibri"/>
              <a:ea typeface="Calibri"/>
              <a:cs typeface="Calibri"/>
              <a:sym typeface="Calibri"/>
            </a:endParaRPr>
          </a:p>
          <a:p>
            <a:pPr marL="914400" lvl="1" indent="-431800" algn="l" rtl="0">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B.S. Computer Science (2027)</a:t>
            </a:r>
            <a:endParaRPr sz="3200">
              <a:solidFill>
                <a:schemeClr val="lt1"/>
              </a:solidFill>
              <a:latin typeface="Calibri"/>
              <a:ea typeface="Calibri"/>
              <a:cs typeface="Calibri"/>
              <a:sym typeface="Calibri"/>
            </a:endParaRPr>
          </a:p>
          <a:p>
            <a:pPr marL="914400" lvl="1" indent="-431800" algn="l" rtl="0">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M.S. Cybersecurity (2028)</a:t>
            </a:r>
            <a:endParaRPr sz="3200">
              <a:solidFill>
                <a:schemeClr val="lt1"/>
              </a:solidFill>
              <a:latin typeface="Calibri"/>
              <a:ea typeface="Calibri"/>
              <a:cs typeface="Calibri"/>
              <a:sym typeface="Calibri"/>
            </a:endParaRPr>
          </a:p>
          <a:p>
            <a:pPr marL="914400" lvl="1" indent="-431800" algn="l" rtl="0">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US Army - Cyber Warfare Officer (2029)</a:t>
            </a:r>
            <a:endParaRPr sz="3200">
              <a:solidFill>
                <a:schemeClr val="lt1"/>
              </a:solidFill>
              <a:latin typeface="Calibri"/>
              <a:ea typeface="Calibri"/>
              <a:cs typeface="Calibri"/>
              <a:sym typeface="Calibri"/>
            </a:endParaRPr>
          </a:p>
          <a:p>
            <a:pPr marL="0" lvl="0" indent="0" algn="l" rtl="0">
              <a:lnSpc>
                <a:spcPct val="150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My experience with cybercrime </a:t>
            </a:r>
            <a:endParaRPr sz="3200">
              <a:solidFill>
                <a:schemeClr val="lt1"/>
              </a:solidFill>
              <a:latin typeface="Calibri"/>
              <a:ea typeface="Calibri"/>
              <a:cs typeface="Calibri"/>
              <a:sym typeface="Calibri"/>
            </a:endParaRPr>
          </a:p>
        </p:txBody>
      </p:sp>
      <p:grpSp>
        <p:nvGrpSpPr>
          <p:cNvPr id="104" name="Google Shape;104;p14"/>
          <p:cNvGrpSpPr/>
          <p:nvPr/>
        </p:nvGrpSpPr>
        <p:grpSpPr>
          <a:xfrm>
            <a:off x="3" y="8941096"/>
            <a:ext cx="3498292" cy="1345904"/>
            <a:chOff x="9355875" y="3095472"/>
            <a:chExt cx="7344723" cy="2109898"/>
          </a:xfrm>
        </p:grpSpPr>
        <p:grpSp>
          <p:nvGrpSpPr>
            <p:cNvPr id="105" name="Google Shape;105;p14"/>
            <p:cNvGrpSpPr/>
            <p:nvPr/>
          </p:nvGrpSpPr>
          <p:grpSpPr>
            <a:xfrm>
              <a:off x="9355875" y="3095472"/>
              <a:ext cx="7344723" cy="2109898"/>
              <a:chOff x="3" y="-76198"/>
              <a:chExt cx="1934400" cy="555690"/>
            </a:xfrm>
          </p:grpSpPr>
          <p:sp>
            <p:nvSpPr>
              <p:cNvPr id="106" name="Google Shape;106;p14"/>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107" name="Google Shape;107;p14"/>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108" name="Google Shape;108;p14"/>
            <p:cNvGrpSpPr/>
            <p:nvPr/>
          </p:nvGrpSpPr>
          <p:grpSpPr>
            <a:xfrm>
              <a:off x="9846862" y="3934727"/>
              <a:ext cx="6362325" cy="981398"/>
              <a:chOff x="0" y="-238723"/>
              <a:chExt cx="8483100" cy="1308531"/>
            </a:xfrm>
          </p:grpSpPr>
          <p:sp>
            <p:nvSpPr>
              <p:cNvPr id="109" name="Google Shape;109;p14"/>
              <p:cNvSpPr txBox="1"/>
              <p:nvPr/>
            </p:nvSpPr>
            <p:spPr>
              <a:xfrm>
                <a:off x="0" y="-238723"/>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Introduction</a:t>
                </a:r>
                <a:endParaRPr sz="1735"/>
              </a:p>
            </p:txBody>
          </p:sp>
          <p:sp>
            <p:nvSpPr>
              <p:cNvPr id="110" name="Google Shape;110;p14"/>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111" name="Google Shape;111;p14"/>
          <p:cNvSpPr txBox="1"/>
          <p:nvPr/>
        </p:nvSpPr>
        <p:spPr>
          <a:xfrm>
            <a:off x="3937000" y="9201850"/>
            <a:ext cx="4542600" cy="82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lt1"/>
                </a:solidFill>
                <a:latin typeface="Calibri"/>
                <a:ea typeface="Calibri"/>
                <a:cs typeface="Calibri"/>
                <a:sym typeface="Calibri"/>
              </a:rPr>
              <a:t>bmelling@charlotte.edu</a:t>
            </a:r>
            <a:endParaRPr sz="3200">
              <a:solidFill>
                <a:schemeClr val="lt1"/>
              </a:solidFill>
              <a:latin typeface="Calibri"/>
              <a:ea typeface="Calibri"/>
              <a:cs typeface="Calibri"/>
              <a:sym typeface="Calibri"/>
            </a:endParaRPr>
          </a:p>
        </p:txBody>
      </p:sp>
      <p:sp>
        <p:nvSpPr>
          <p:cNvPr id="112" name="Google Shape;112;p14"/>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2</a:t>
            </a:fld>
            <a:endParaRPr sz="2000"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33330">
              <a:srgbClr val="29464A"/>
            </a:gs>
            <a:gs pos="66670">
              <a:srgbClr val="6D8080"/>
            </a:gs>
            <a:gs pos="100000">
              <a:srgbClr val="B9C8B6"/>
            </a:gs>
          </a:gsLst>
          <a:lin ang="5400012" scaled="0"/>
        </a:gradFill>
        <a:effectLst/>
      </p:bgPr>
    </p:bg>
    <p:spTree>
      <p:nvGrpSpPr>
        <p:cNvPr id="1" name="Shape 116"/>
        <p:cNvGrpSpPr/>
        <p:nvPr/>
      </p:nvGrpSpPr>
      <p:grpSpPr>
        <a:xfrm>
          <a:off x="0" y="0"/>
          <a:ext cx="0" cy="0"/>
          <a:chOff x="0" y="0"/>
          <a:chExt cx="0" cy="0"/>
        </a:xfrm>
      </p:grpSpPr>
      <p:sp>
        <p:nvSpPr>
          <p:cNvPr id="117" name="Google Shape;117;p15"/>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b="0" i="0" u="none" strike="noStrike" cap="none">
                <a:solidFill>
                  <a:srgbClr val="FFFFFF"/>
                </a:solidFill>
                <a:latin typeface="Arial"/>
                <a:ea typeface="Arial"/>
                <a:cs typeface="Arial"/>
                <a:sym typeface="Arial"/>
              </a:rPr>
              <a:t>Outline</a:t>
            </a:r>
            <a:endParaRPr/>
          </a:p>
        </p:txBody>
      </p:sp>
      <p:grpSp>
        <p:nvGrpSpPr>
          <p:cNvPr id="118" name="Google Shape;118;p15"/>
          <p:cNvGrpSpPr/>
          <p:nvPr/>
        </p:nvGrpSpPr>
        <p:grpSpPr>
          <a:xfrm>
            <a:off x="331673" y="2285959"/>
            <a:ext cx="5943350" cy="2286074"/>
            <a:chOff x="9355875" y="3095472"/>
            <a:chExt cx="7344723" cy="2109898"/>
          </a:xfrm>
        </p:grpSpPr>
        <p:grpSp>
          <p:nvGrpSpPr>
            <p:cNvPr id="119" name="Google Shape;119;p15"/>
            <p:cNvGrpSpPr/>
            <p:nvPr/>
          </p:nvGrpSpPr>
          <p:grpSpPr>
            <a:xfrm>
              <a:off x="9355875" y="3095472"/>
              <a:ext cx="7344723" cy="2109898"/>
              <a:chOff x="3" y="-76198"/>
              <a:chExt cx="1934400" cy="555690"/>
            </a:xfrm>
          </p:grpSpPr>
          <p:sp>
            <p:nvSpPr>
              <p:cNvPr id="120" name="Google Shape;120;p15"/>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8500" cap="sq" cmpd="sng">
                <a:solidFill>
                  <a:srgbClr val="9EB49F">
                    <a:alpha val="29800"/>
                  </a:srgbClr>
                </a:solidFill>
                <a:prstDash val="solid"/>
                <a:miter lim="8000"/>
                <a:headEnd type="none" w="sm" len="sm"/>
                <a:tailEnd type="none" w="sm" len="sm"/>
              </a:ln>
            </p:spPr>
            <p:txBody>
              <a:bodyPr spcFirstLastPara="1" wrap="square" lIns="81475" tIns="81475" rIns="81475" bIns="81475" anchor="ctr" anchorCtr="0">
                <a:noAutofit/>
              </a:bodyPr>
              <a:lstStyle/>
              <a:p>
                <a:pPr marL="0" lvl="0" indent="0" algn="l" rtl="0">
                  <a:spcBef>
                    <a:spcPts val="0"/>
                  </a:spcBef>
                  <a:spcAft>
                    <a:spcPts val="0"/>
                  </a:spcAft>
                  <a:buNone/>
                </a:pPr>
                <a:endParaRPr sz="1248"/>
              </a:p>
            </p:txBody>
          </p:sp>
          <p:sp>
            <p:nvSpPr>
              <p:cNvPr id="121" name="Google Shape;121;p15"/>
              <p:cNvSpPr txBox="1"/>
              <p:nvPr/>
            </p:nvSpPr>
            <p:spPr>
              <a:xfrm>
                <a:off x="3" y="-76198"/>
                <a:ext cx="1934400" cy="479400"/>
              </a:xfrm>
              <a:prstGeom prst="rect">
                <a:avLst/>
              </a:prstGeom>
              <a:noFill/>
              <a:ln>
                <a:noFill/>
              </a:ln>
            </p:spPr>
            <p:txBody>
              <a:bodyPr spcFirstLastPara="1" wrap="square" lIns="45300" tIns="45300" rIns="45300" bIns="45300" anchor="ctr" anchorCtr="0">
                <a:noAutofit/>
              </a:bodyPr>
              <a:lstStyle/>
              <a:p>
                <a:pPr marL="0" marR="0" lvl="0" indent="0" algn="ctr" rtl="0">
                  <a:lnSpc>
                    <a:spcPct val="248833"/>
                  </a:lnSpc>
                  <a:spcBef>
                    <a:spcPts val="0"/>
                  </a:spcBef>
                  <a:spcAft>
                    <a:spcPts val="0"/>
                  </a:spcAft>
                  <a:buNone/>
                </a:pPr>
                <a:endParaRPr sz="1605" b="0" i="0" u="none" strike="noStrike" cap="none">
                  <a:solidFill>
                    <a:schemeClr val="dk1"/>
                  </a:solidFill>
                  <a:latin typeface="Calibri"/>
                  <a:ea typeface="Calibri"/>
                  <a:cs typeface="Calibri"/>
                  <a:sym typeface="Calibri"/>
                </a:endParaRPr>
              </a:p>
            </p:txBody>
          </p:sp>
        </p:grpSp>
        <p:grpSp>
          <p:nvGrpSpPr>
            <p:cNvPr id="122" name="Google Shape;122;p15"/>
            <p:cNvGrpSpPr/>
            <p:nvPr/>
          </p:nvGrpSpPr>
          <p:grpSpPr>
            <a:xfrm>
              <a:off x="9846862" y="4056619"/>
              <a:ext cx="6362325" cy="859506"/>
              <a:chOff x="0" y="-76200"/>
              <a:chExt cx="8483100" cy="1146008"/>
            </a:xfrm>
          </p:grpSpPr>
          <p:sp>
            <p:nvSpPr>
              <p:cNvPr id="123" name="Google Shape;123;p15"/>
              <p:cNvSpPr txBox="1"/>
              <p:nvPr/>
            </p:nvSpPr>
            <p:spPr>
              <a:xfrm>
                <a:off x="0" y="-76200"/>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852" b="1">
                    <a:solidFill>
                      <a:srgbClr val="FFFFFF"/>
                    </a:solidFill>
                    <a:latin typeface="Work Sans"/>
                    <a:ea typeface="Work Sans"/>
                    <a:cs typeface="Work Sans"/>
                    <a:sym typeface="Work Sans"/>
                  </a:rPr>
                  <a:t>Introduction</a:t>
                </a:r>
                <a:endParaRPr sz="1248"/>
              </a:p>
            </p:txBody>
          </p:sp>
          <p:sp>
            <p:nvSpPr>
              <p:cNvPr id="124" name="Google Shape;124;p15"/>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1248"/>
              </a:p>
            </p:txBody>
          </p:sp>
        </p:grpSp>
      </p:grpSp>
      <p:grpSp>
        <p:nvGrpSpPr>
          <p:cNvPr id="125" name="Google Shape;125;p15"/>
          <p:cNvGrpSpPr/>
          <p:nvPr/>
        </p:nvGrpSpPr>
        <p:grpSpPr>
          <a:xfrm>
            <a:off x="11442175" y="7298012"/>
            <a:ext cx="5943350" cy="2285879"/>
            <a:chOff x="9355865" y="6037021"/>
            <a:chExt cx="7344723" cy="2708708"/>
          </a:xfrm>
        </p:grpSpPr>
        <p:grpSp>
          <p:nvGrpSpPr>
            <p:cNvPr id="126" name="Google Shape;126;p15"/>
            <p:cNvGrpSpPr/>
            <p:nvPr/>
          </p:nvGrpSpPr>
          <p:grpSpPr>
            <a:xfrm>
              <a:off x="9355865" y="6037021"/>
              <a:ext cx="7344723" cy="2708708"/>
              <a:chOff x="0" y="-76200"/>
              <a:chExt cx="1934400" cy="713400"/>
            </a:xfrm>
          </p:grpSpPr>
          <p:sp>
            <p:nvSpPr>
              <p:cNvPr id="127" name="Google Shape;127;p15"/>
              <p:cNvSpPr/>
              <p:nvPr/>
            </p:nvSpPr>
            <p:spPr>
              <a:xfrm>
                <a:off x="0" y="0"/>
                <a:ext cx="1934314" cy="637195"/>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7425" cap="sq" cmpd="sng">
                <a:solidFill>
                  <a:srgbClr val="9EB49F">
                    <a:alpha val="29800"/>
                  </a:srgbClr>
                </a:solidFill>
                <a:prstDash val="solid"/>
                <a:miter lim="8000"/>
                <a:headEnd type="none" w="sm" len="sm"/>
                <a:tailEnd type="none" w="sm" len="sm"/>
              </a:ln>
            </p:spPr>
            <p:txBody>
              <a:bodyPr spcFirstLastPara="1" wrap="square" lIns="71225" tIns="71225" rIns="71225" bIns="71225" anchor="ctr" anchorCtr="0">
                <a:noAutofit/>
              </a:bodyPr>
              <a:lstStyle/>
              <a:p>
                <a:pPr marL="0" lvl="0" indent="0" algn="l" rtl="0">
                  <a:spcBef>
                    <a:spcPts val="0"/>
                  </a:spcBef>
                  <a:spcAft>
                    <a:spcPts val="0"/>
                  </a:spcAft>
                  <a:buNone/>
                </a:pPr>
                <a:endParaRPr/>
              </a:p>
            </p:txBody>
          </p:sp>
          <p:sp>
            <p:nvSpPr>
              <p:cNvPr id="128" name="Google Shape;128;p15"/>
              <p:cNvSpPr txBox="1"/>
              <p:nvPr/>
            </p:nvSpPr>
            <p:spPr>
              <a:xfrm>
                <a:off x="0" y="-76200"/>
                <a:ext cx="1934400" cy="713400"/>
              </a:xfrm>
              <a:prstGeom prst="rect">
                <a:avLst/>
              </a:prstGeom>
              <a:noFill/>
              <a:ln>
                <a:noFill/>
              </a:ln>
            </p:spPr>
            <p:txBody>
              <a:bodyPr spcFirstLastPara="1" wrap="square" lIns="39575" tIns="39575" rIns="39575" bIns="39575" anchor="ctr" anchorCtr="0">
                <a:noAutofit/>
              </a:bodyPr>
              <a:lstStyle/>
              <a:p>
                <a:pPr marL="0" marR="0" lvl="0" indent="0" algn="ctr" rtl="0">
                  <a:lnSpc>
                    <a:spcPct val="248833"/>
                  </a:lnSpc>
                  <a:spcBef>
                    <a:spcPts val="0"/>
                  </a:spcBef>
                  <a:spcAft>
                    <a:spcPts val="0"/>
                  </a:spcAft>
                  <a:buNone/>
                </a:pPr>
                <a:endParaRPr sz="1402" b="0" i="0" u="none" strike="noStrike" cap="none">
                  <a:solidFill>
                    <a:schemeClr val="dk1"/>
                  </a:solidFill>
                  <a:latin typeface="Calibri"/>
                  <a:ea typeface="Calibri"/>
                  <a:cs typeface="Calibri"/>
                  <a:sym typeface="Calibri"/>
                </a:endParaRPr>
              </a:p>
            </p:txBody>
          </p:sp>
        </p:grpSp>
        <p:grpSp>
          <p:nvGrpSpPr>
            <p:cNvPr id="129" name="Google Shape;129;p15"/>
            <p:cNvGrpSpPr/>
            <p:nvPr/>
          </p:nvGrpSpPr>
          <p:grpSpPr>
            <a:xfrm>
              <a:off x="9846862" y="7181774"/>
              <a:ext cx="6362325" cy="675906"/>
              <a:chOff x="0" y="168600"/>
              <a:chExt cx="8483100" cy="901208"/>
            </a:xfrm>
          </p:grpSpPr>
          <p:sp>
            <p:nvSpPr>
              <p:cNvPr id="130" name="Google Shape;130;p15"/>
              <p:cNvSpPr txBox="1"/>
              <p:nvPr/>
            </p:nvSpPr>
            <p:spPr>
              <a:xfrm>
                <a:off x="0" y="168600"/>
                <a:ext cx="8483100" cy="7509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850" b="1">
                    <a:solidFill>
                      <a:srgbClr val="FFFFFF"/>
                    </a:solidFill>
                    <a:latin typeface="Work Sans"/>
                    <a:ea typeface="Work Sans"/>
                    <a:cs typeface="Work Sans"/>
                    <a:sym typeface="Work Sans"/>
                  </a:rPr>
                  <a:t>Conclusion</a:t>
                </a:r>
                <a:endParaRPr sz="2850"/>
              </a:p>
            </p:txBody>
          </p:sp>
          <p:sp>
            <p:nvSpPr>
              <p:cNvPr id="131" name="Google Shape;131;p15"/>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1091"/>
              </a:p>
            </p:txBody>
          </p:sp>
        </p:grpSp>
      </p:grpSp>
      <p:grpSp>
        <p:nvGrpSpPr>
          <p:cNvPr id="132" name="Google Shape;132;p15"/>
          <p:cNvGrpSpPr/>
          <p:nvPr/>
        </p:nvGrpSpPr>
        <p:grpSpPr>
          <a:xfrm>
            <a:off x="5978725" y="4792079"/>
            <a:ext cx="5943350" cy="2285879"/>
            <a:chOff x="1587787" y="6037021"/>
            <a:chExt cx="7344723" cy="2708708"/>
          </a:xfrm>
        </p:grpSpPr>
        <p:grpSp>
          <p:nvGrpSpPr>
            <p:cNvPr id="133" name="Google Shape;133;p15"/>
            <p:cNvGrpSpPr/>
            <p:nvPr/>
          </p:nvGrpSpPr>
          <p:grpSpPr>
            <a:xfrm>
              <a:off x="1587787" y="6037021"/>
              <a:ext cx="7344723" cy="2708708"/>
              <a:chOff x="0" y="-76200"/>
              <a:chExt cx="1934400" cy="713400"/>
            </a:xfrm>
          </p:grpSpPr>
          <p:sp>
            <p:nvSpPr>
              <p:cNvPr id="134" name="Google Shape;134;p15"/>
              <p:cNvSpPr/>
              <p:nvPr/>
            </p:nvSpPr>
            <p:spPr>
              <a:xfrm>
                <a:off x="0" y="0"/>
                <a:ext cx="1934314" cy="637195"/>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7625" cap="sq" cmpd="sng">
                <a:solidFill>
                  <a:srgbClr val="9EB49F">
                    <a:alpha val="29800"/>
                  </a:srgbClr>
                </a:solidFill>
                <a:prstDash val="solid"/>
                <a:miter lim="8000"/>
                <a:headEnd type="none" w="sm" len="sm"/>
                <a:tailEnd type="none" w="sm" len="sm"/>
              </a:ln>
            </p:spPr>
            <p:txBody>
              <a:bodyPr spcFirstLastPara="1" wrap="square" lIns="73150" tIns="73150" rIns="73150" bIns="73150" anchor="ctr" anchorCtr="0">
                <a:noAutofit/>
              </a:bodyPr>
              <a:lstStyle/>
              <a:p>
                <a:pPr marL="0" lvl="0" indent="0" algn="l" rtl="0">
                  <a:spcBef>
                    <a:spcPts val="0"/>
                  </a:spcBef>
                  <a:spcAft>
                    <a:spcPts val="0"/>
                  </a:spcAft>
                  <a:buNone/>
                </a:pPr>
                <a:endParaRPr/>
              </a:p>
            </p:txBody>
          </p:sp>
          <p:sp>
            <p:nvSpPr>
              <p:cNvPr id="135" name="Google Shape;135;p15"/>
              <p:cNvSpPr txBox="1"/>
              <p:nvPr/>
            </p:nvSpPr>
            <p:spPr>
              <a:xfrm>
                <a:off x="0" y="-76200"/>
                <a:ext cx="1934400" cy="713400"/>
              </a:xfrm>
              <a:prstGeom prst="rect">
                <a:avLst/>
              </a:prstGeom>
              <a:noFill/>
              <a:ln>
                <a:noFill/>
              </a:ln>
            </p:spPr>
            <p:txBody>
              <a:bodyPr spcFirstLastPara="1" wrap="square" lIns="40650" tIns="40650" rIns="40650" bIns="40650" anchor="ctr" anchorCtr="0">
                <a:noAutofit/>
              </a:bodyPr>
              <a:lstStyle/>
              <a:p>
                <a:pPr marL="0" marR="0" lvl="0" indent="0" algn="l" rtl="0">
                  <a:lnSpc>
                    <a:spcPct val="248833"/>
                  </a:lnSpc>
                  <a:spcBef>
                    <a:spcPts val="0"/>
                  </a:spcBef>
                  <a:spcAft>
                    <a:spcPts val="0"/>
                  </a:spcAft>
                  <a:buNone/>
                </a:pPr>
                <a:endParaRPr sz="1440" b="0" i="0" u="none" strike="noStrike" cap="none">
                  <a:solidFill>
                    <a:schemeClr val="dk1"/>
                  </a:solidFill>
                  <a:latin typeface="Calibri"/>
                  <a:ea typeface="Calibri"/>
                  <a:cs typeface="Calibri"/>
                  <a:sym typeface="Calibri"/>
                </a:endParaRPr>
              </a:p>
            </p:txBody>
          </p:sp>
        </p:grpSp>
        <p:sp>
          <p:nvSpPr>
            <p:cNvPr id="136" name="Google Shape;136;p15"/>
            <p:cNvSpPr txBox="1"/>
            <p:nvPr/>
          </p:nvSpPr>
          <p:spPr>
            <a:xfrm>
              <a:off x="2078937" y="7181774"/>
              <a:ext cx="6362400" cy="548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850" b="1">
                  <a:solidFill>
                    <a:srgbClr val="FFFFFF"/>
                  </a:solidFill>
                  <a:latin typeface="Work Sans"/>
                  <a:ea typeface="Work Sans"/>
                  <a:cs typeface="Work Sans"/>
                  <a:sym typeface="Work Sans"/>
                </a:rPr>
                <a:t>Research</a:t>
              </a:r>
              <a:endParaRPr sz="2850"/>
            </a:p>
          </p:txBody>
        </p:sp>
      </p:grpSp>
      <p:sp>
        <p:nvSpPr>
          <p:cNvPr id="137" name="Google Shape;137;p15"/>
          <p:cNvSpPr/>
          <p:nvPr/>
        </p:nvSpPr>
        <p:spPr>
          <a:xfrm rot="5400000">
            <a:off x="7573125" y="3119050"/>
            <a:ext cx="1261500" cy="12180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8" name="Google Shape;138;p15"/>
          <p:cNvSpPr/>
          <p:nvPr/>
        </p:nvSpPr>
        <p:spPr>
          <a:xfrm rot="5400000">
            <a:off x="13172725" y="5932275"/>
            <a:ext cx="1261500" cy="12180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9" name="Google Shape;139;p15"/>
          <p:cNvSpPr/>
          <p:nvPr/>
        </p:nvSpPr>
        <p:spPr>
          <a:xfrm rot="10800000" flipH="1">
            <a:off x="3701975" y="5420075"/>
            <a:ext cx="1261500" cy="12180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0" name="Google Shape;140;p15"/>
          <p:cNvSpPr/>
          <p:nvPr/>
        </p:nvSpPr>
        <p:spPr>
          <a:xfrm rot="10800000" flipH="1">
            <a:off x="9696950" y="7831938"/>
            <a:ext cx="1261500" cy="12180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1" name="Google Shape;141;p15"/>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3</a:t>
            </a:fld>
            <a:endParaRPr sz="2000" b="1">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145"/>
        <p:cNvGrpSpPr/>
        <p:nvPr/>
      </p:nvGrpSpPr>
      <p:grpSpPr>
        <a:xfrm>
          <a:off x="0" y="0"/>
          <a:ext cx="0" cy="0"/>
          <a:chOff x="0" y="0"/>
          <a:chExt cx="0" cy="0"/>
        </a:xfrm>
      </p:grpSpPr>
      <p:sp>
        <p:nvSpPr>
          <p:cNvPr id="146" name="Google Shape;146;p16"/>
          <p:cNvSpPr txBox="1"/>
          <p:nvPr/>
        </p:nvSpPr>
        <p:spPr>
          <a:xfrm>
            <a:off x="658975" y="811400"/>
            <a:ext cx="9968700" cy="1000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500" b="1" i="0" u="none" strike="noStrike" cap="none">
                <a:solidFill>
                  <a:srgbClr val="FFFFFF"/>
                </a:solidFill>
                <a:latin typeface="Arial"/>
                <a:ea typeface="Arial"/>
                <a:cs typeface="Arial"/>
                <a:sym typeface="Arial"/>
              </a:rPr>
              <a:t>W</a:t>
            </a:r>
            <a:r>
              <a:rPr lang="en-US" sz="6500" b="1">
                <a:solidFill>
                  <a:srgbClr val="FFFFFF"/>
                </a:solidFill>
              </a:rPr>
              <a:t>hat is smishing</a:t>
            </a:r>
            <a:r>
              <a:rPr lang="en-US" sz="6500" b="1" i="0" u="none" strike="noStrike" cap="none">
                <a:solidFill>
                  <a:srgbClr val="FFFFFF"/>
                </a:solidFill>
                <a:latin typeface="Arial"/>
                <a:ea typeface="Arial"/>
                <a:cs typeface="Arial"/>
                <a:sym typeface="Arial"/>
              </a:rPr>
              <a:t>?</a:t>
            </a:r>
            <a:endParaRPr/>
          </a:p>
        </p:txBody>
      </p:sp>
      <p:grpSp>
        <p:nvGrpSpPr>
          <p:cNvPr id="147" name="Google Shape;147;p16"/>
          <p:cNvGrpSpPr/>
          <p:nvPr/>
        </p:nvGrpSpPr>
        <p:grpSpPr>
          <a:xfrm>
            <a:off x="3" y="8941096"/>
            <a:ext cx="3498292" cy="1345904"/>
            <a:chOff x="9355875" y="3095472"/>
            <a:chExt cx="7344723" cy="2109898"/>
          </a:xfrm>
        </p:grpSpPr>
        <p:grpSp>
          <p:nvGrpSpPr>
            <p:cNvPr id="148" name="Google Shape;148;p16"/>
            <p:cNvGrpSpPr/>
            <p:nvPr/>
          </p:nvGrpSpPr>
          <p:grpSpPr>
            <a:xfrm>
              <a:off x="9355875" y="3095472"/>
              <a:ext cx="7344723" cy="2109898"/>
              <a:chOff x="3" y="-76198"/>
              <a:chExt cx="1934400" cy="555690"/>
            </a:xfrm>
          </p:grpSpPr>
          <p:sp>
            <p:nvSpPr>
              <p:cNvPr id="149" name="Google Shape;149;p16"/>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150" name="Google Shape;150;p16"/>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151" name="Google Shape;151;p16"/>
            <p:cNvGrpSpPr/>
            <p:nvPr/>
          </p:nvGrpSpPr>
          <p:grpSpPr>
            <a:xfrm>
              <a:off x="9846862" y="3934727"/>
              <a:ext cx="6362325" cy="981398"/>
              <a:chOff x="0" y="-238723"/>
              <a:chExt cx="8483100" cy="1308531"/>
            </a:xfrm>
          </p:grpSpPr>
          <p:sp>
            <p:nvSpPr>
              <p:cNvPr id="152" name="Google Shape;152;p16"/>
              <p:cNvSpPr txBox="1"/>
              <p:nvPr/>
            </p:nvSpPr>
            <p:spPr>
              <a:xfrm>
                <a:off x="0" y="-238723"/>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Introduction</a:t>
                </a:r>
                <a:endParaRPr sz="1735"/>
              </a:p>
            </p:txBody>
          </p:sp>
          <p:sp>
            <p:nvSpPr>
              <p:cNvPr id="153" name="Google Shape;153;p16"/>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154" name="Google Shape;154;p16"/>
          <p:cNvSpPr txBox="1"/>
          <p:nvPr/>
        </p:nvSpPr>
        <p:spPr>
          <a:xfrm>
            <a:off x="658975" y="3429000"/>
            <a:ext cx="16442100" cy="25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000">
                <a:solidFill>
                  <a:schemeClr val="lt1"/>
                </a:solidFill>
                <a:latin typeface="Calibri"/>
                <a:ea typeface="Calibri"/>
                <a:cs typeface="Calibri"/>
                <a:sym typeface="Calibri"/>
              </a:rPr>
              <a:t>“… a type of </a:t>
            </a:r>
            <a:r>
              <a:rPr lang="en-US" sz="5500" b="1">
                <a:solidFill>
                  <a:schemeClr val="lt1"/>
                </a:solidFill>
                <a:latin typeface="Calibri"/>
                <a:ea typeface="Calibri"/>
                <a:cs typeface="Calibri"/>
                <a:sym typeface="Calibri"/>
              </a:rPr>
              <a:t>social engineering attack</a:t>
            </a:r>
            <a:r>
              <a:rPr lang="en-US" sz="4000">
                <a:solidFill>
                  <a:schemeClr val="lt1"/>
                </a:solidFill>
                <a:latin typeface="Calibri"/>
                <a:ea typeface="Calibri"/>
                <a:cs typeface="Calibri"/>
                <a:sym typeface="Calibri"/>
              </a:rPr>
              <a:t> … </a:t>
            </a:r>
            <a:r>
              <a:rPr lang="en-US" sz="5500" b="1">
                <a:solidFill>
                  <a:schemeClr val="lt1"/>
                </a:solidFill>
                <a:latin typeface="Calibri"/>
                <a:ea typeface="Calibri"/>
                <a:cs typeface="Calibri"/>
                <a:sym typeface="Calibri"/>
              </a:rPr>
              <a:t>fake text messages</a:t>
            </a:r>
            <a:r>
              <a:rPr lang="en-US" sz="4000">
                <a:solidFill>
                  <a:schemeClr val="lt1"/>
                </a:solidFill>
                <a:latin typeface="Calibri"/>
                <a:ea typeface="Calibri"/>
                <a:cs typeface="Calibri"/>
                <a:sym typeface="Calibri"/>
              </a:rPr>
              <a:t> are created … to </a:t>
            </a:r>
            <a:r>
              <a:rPr lang="en-US" sz="5500" b="1">
                <a:solidFill>
                  <a:schemeClr val="lt1"/>
                </a:solidFill>
                <a:latin typeface="Calibri"/>
                <a:ea typeface="Calibri"/>
                <a:cs typeface="Calibri"/>
                <a:sym typeface="Calibri"/>
              </a:rPr>
              <a:t>obtain</a:t>
            </a:r>
            <a:r>
              <a:rPr lang="en-US" sz="5500">
                <a:solidFill>
                  <a:schemeClr val="lt1"/>
                </a:solidFill>
                <a:latin typeface="Calibri"/>
                <a:ea typeface="Calibri"/>
                <a:cs typeface="Calibri"/>
                <a:sym typeface="Calibri"/>
              </a:rPr>
              <a:t> </a:t>
            </a:r>
            <a:r>
              <a:rPr lang="en-US" sz="4000">
                <a:solidFill>
                  <a:schemeClr val="lt1"/>
                </a:solidFill>
                <a:latin typeface="Calibri"/>
                <a:ea typeface="Calibri"/>
                <a:cs typeface="Calibri"/>
                <a:sym typeface="Calibri"/>
              </a:rPr>
              <a:t>user </a:t>
            </a:r>
            <a:r>
              <a:rPr lang="en-US" sz="5500" b="1">
                <a:solidFill>
                  <a:schemeClr val="lt1"/>
                </a:solidFill>
                <a:latin typeface="Calibri"/>
                <a:ea typeface="Calibri"/>
                <a:cs typeface="Calibri"/>
                <a:sym typeface="Calibri"/>
              </a:rPr>
              <a:t>credentials</a:t>
            </a:r>
            <a:r>
              <a:rPr lang="en-US" sz="4000">
                <a:solidFill>
                  <a:schemeClr val="lt1"/>
                </a:solidFill>
                <a:latin typeface="Calibri"/>
                <a:ea typeface="Calibri"/>
                <a:cs typeface="Calibri"/>
                <a:sym typeface="Calibri"/>
              </a:rPr>
              <a:t>, install malware … click on a URL that redirects them to a phishing website, or call the provided number …”</a:t>
            </a:r>
            <a:endParaRPr sz="4000">
              <a:solidFill>
                <a:schemeClr val="lt1"/>
              </a:solidFill>
              <a:latin typeface="Calibri"/>
              <a:ea typeface="Calibri"/>
              <a:cs typeface="Calibri"/>
              <a:sym typeface="Calibri"/>
            </a:endParaRPr>
          </a:p>
        </p:txBody>
      </p:sp>
      <p:sp>
        <p:nvSpPr>
          <p:cNvPr id="155" name="Google Shape;155;p16"/>
          <p:cNvSpPr txBox="1"/>
          <p:nvPr/>
        </p:nvSpPr>
        <p:spPr>
          <a:xfrm>
            <a:off x="4143325" y="8686800"/>
            <a:ext cx="10608900" cy="868200"/>
          </a:xfrm>
          <a:prstGeom prst="rect">
            <a:avLst/>
          </a:prstGeom>
          <a:noFill/>
          <a:ln>
            <a:noFill/>
          </a:ln>
        </p:spPr>
        <p:txBody>
          <a:bodyPr spcFirstLastPara="1" wrap="square" lIns="91425" tIns="91425" rIns="91425" bIns="91425" anchor="t" anchorCtr="0">
            <a:spAutoFit/>
          </a:bodyPr>
          <a:lstStyle/>
          <a:p>
            <a:pPr marL="215900" marR="50800" lvl="0" indent="0" algn="l" rtl="0">
              <a:lnSpc>
                <a:spcPct val="135000"/>
              </a:lnSpc>
              <a:spcBef>
                <a:spcPts val="0"/>
              </a:spcBef>
              <a:spcAft>
                <a:spcPts val="0"/>
              </a:spcAft>
              <a:buNone/>
            </a:pPr>
            <a:r>
              <a:rPr lang="en-US" sz="1200">
                <a:solidFill>
                  <a:srgbClr val="FFF2CC"/>
                </a:solidFill>
              </a:rPr>
              <a:t>Md Lutfor Rahman, Daniel Timko, Hamid Wali, and Ajaya Neupane. 2023. Users Really Do Respond To Smishing. In </a:t>
            </a:r>
            <a:r>
              <a:rPr lang="en-US" sz="1200" i="1">
                <a:solidFill>
                  <a:srgbClr val="FFF2CC"/>
                </a:solidFill>
              </a:rPr>
              <a:t>Proceedings of the Thirteenth ACM Conference on Data and Application Security and Privacy</a:t>
            </a:r>
            <a:r>
              <a:rPr lang="en-US" sz="1200">
                <a:solidFill>
                  <a:srgbClr val="FFF2CC"/>
                </a:solidFill>
              </a:rPr>
              <a:t> (</a:t>
            </a:r>
            <a:r>
              <a:rPr lang="en-US" sz="1200" i="1">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xmlns:ahyp="http://schemas.microsoft.com/office/drawing/2018/hyperlinkcolor" val="tx"/>
                    </a:ext>
                  </a:extLst>
                </a:hlinkClick>
              </a:rPr>
              <a:t> </a:t>
            </a:r>
            <a:r>
              <a:rPr lang="en-US" sz="1200" u="sng">
                <a:solidFill>
                  <a:srgbClr val="FFF2CC"/>
                </a:solidFill>
                <a:hlinkClick r:id="rId3">
                  <a:extLst>
                    <a:ext uri="{A12FA001-AC4F-418D-AE19-62706E023703}">
                      <ahyp:hlinkClr xmlns:ahyp="http://schemas.microsoft.com/office/drawing/2018/hyperlinkcolor" val="tx"/>
                    </a:ext>
                  </a:extLst>
                </a:hlinkClick>
              </a:rPr>
              <a:t>https://doi.org/10.1145/3577923.3583640</a:t>
            </a:r>
            <a:endParaRPr sz="1200" u="sng">
              <a:solidFill>
                <a:srgbClr val="FFF2CC"/>
              </a:solidFill>
            </a:endParaRPr>
          </a:p>
        </p:txBody>
      </p:sp>
      <p:sp>
        <p:nvSpPr>
          <p:cNvPr id="156" name="Google Shape;156;p16"/>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4</a:t>
            </a:fld>
            <a:endParaRPr sz="2000" b="1">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160"/>
        <p:cNvGrpSpPr/>
        <p:nvPr/>
      </p:nvGrpSpPr>
      <p:grpSpPr>
        <a:xfrm>
          <a:off x="0" y="0"/>
          <a:ext cx="0" cy="0"/>
          <a:chOff x="0" y="0"/>
          <a:chExt cx="0" cy="0"/>
        </a:xfrm>
      </p:grpSpPr>
      <p:sp>
        <p:nvSpPr>
          <p:cNvPr id="161" name="Google Shape;161;p17"/>
          <p:cNvSpPr txBox="1"/>
          <p:nvPr/>
        </p:nvSpPr>
        <p:spPr>
          <a:xfrm>
            <a:off x="658975" y="811400"/>
            <a:ext cx="9968700" cy="1000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500" b="1" i="0" u="none" strike="noStrike" cap="none">
                <a:solidFill>
                  <a:srgbClr val="FFFFFF"/>
                </a:solidFill>
                <a:latin typeface="Arial"/>
                <a:ea typeface="Arial"/>
                <a:cs typeface="Arial"/>
                <a:sym typeface="Arial"/>
              </a:rPr>
              <a:t>W</a:t>
            </a:r>
            <a:r>
              <a:rPr lang="en-US" sz="6500" b="1">
                <a:solidFill>
                  <a:srgbClr val="FFFFFF"/>
                </a:solidFill>
              </a:rPr>
              <a:t>hat is smishing</a:t>
            </a:r>
            <a:r>
              <a:rPr lang="en-US" sz="6500" b="1" i="0" u="none" strike="noStrike" cap="none">
                <a:solidFill>
                  <a:srgbClr val="FFFFFF"/>
                </a:solidFill>
                <a:latin typeface="Arial"/>
                <a:ea typeface="Arial"/>
                <a:cs typeface="Arial"/>
                <a:sym typeface="Arial"/>
              </a:rPr>
              <a:t>?</a:t>
            </a:r>
            <a:endParaRPr/>
          </a:p>
        </p:txBody>
      </p:sp>
      <p:grpSp>
        <p:nvGrpSpPr>
          <p:cNvPr id="162" name="Google Shape;162;p17"/>
          <p:cNvGrpSpPr/>
          <p:nvPr/>
        </p:nvGrpSpPr>
        <p:grpSpPr>
          <a:xfrm>
            <a:off x="3" y="8941096"/>
            <a:ext cx="3498292" cy="1345904"/>
            <a:chOff x="9355875" y="3095472"/>
            <a:chExt cx="7344723" cy="2109898"/>
          </a:xfrm>
        </p:grpSpPr>
        <p:grpSp>
          <p:nvGrpSpPr>
            <p:cNvPr id="163" name="Google Shape;163;p17"/>
            <p:cNvGrpSpPr/>
            <p:nvPr/>
          </p:nvGrpSpPr>
          <p:grpSpPr>
            <a:xfrm>
              <a:off x="9355875" y="3095472"/>
              <a:ext cx="7344723" cy="2109898"/>
              <a:chOff x="3" y="-76198"/>
              <a:chExt cx="1934400" cy="555690"/>
            </a:xfrm>
          </p:grpSpPr>
          <p:sp>
            <p:nvSpPr>
              <p:cNvPr id="164" name="Google Shape;164;p17"/>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165" name="Google Shape;165;p17"/>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166" name="Google Shape;166;p17"/>
            <p:cNvGrpSpPr/>
            <p:nvPr/>
          </p:nvGrpSpPr>
          <p:grpSpPr>
            <a:xfrm>
              <a:off x="9846862" y="3934727"/>
              <a:ext cx="6362325" cy="981398"/>
              <a:chOff x="0" y="-238723"/>
              <a:chExt cx="8483100" cy="1308531"/>
            </a:xfrm>
          </p:grpSpPr>
          <p:sp>
            <p:nvSpPr>
              <p:cNvPr id="167" name="Google Shape;167;p17"/>
              <p:cNvSpPr txBox="1"/>
              <p:nvPr/>
            </p:nvSpPr>
            <p:spPr>
              <a:xfrm>
                <a:off x="0" y="-238723"/>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Introduction</a:t>
                </a:r>
                <a:endParaRPr sz="1735"/>
              </a:p>
            </p:txBody>
          </p:sp>
          <p:sp>
            <p:nvSpPr>
              <p:cNvPr id="168" name="Google Shape;168;p17"/>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pic>
        <p:nvPicPr>
          <p:cNvPr id="169" name="Google Shape;169;p17"/>
          <p:cNvPicPr preferRelativeResize="0"/>
          <p:nvPr/>
        </p:nvPicPr>
        <p:blipFill>
          <a:blip r:embed="rId3">
            <a:alphaModFix/>
          </a:blip>
          <a:stretch>
            <a:fillRect/>
          </a:stretch>
        </p:blipFill>
        <p:spPr>
          <a:xfrm>
            <a:off x="2501138" y="1811900"/>
            <a:ext cx="13285725" cy="7171725"/>
          </a:xfrm>
          <a:prstGeom prst="rect">
            <a:avLst/>
          </a:prstGeom>
          <a:noFill/>
          <a:ln>
            <a:noFill/>
          </a:ln>
        </p:spPr>
      </p:pic>
      <p:sp>
        <p:nvSpPr>
          <p:cNvPr id="170" name="Google Shape;170;p17"/>
          <p:cNvSpPr txBox="1"/>
          <p:nvPr/>
        </p:nvSpPr>
        <p:spPr>
          <a:xfrm>
            <a:off x="4475175" y="9249875"/>
            <a:ext cx="10848600" cy="868200"/>
          </a:xfrm>
          <a:prstGeom prst="rect">
            <a:avLst/>
          </a:prstGeom>
          <a:noFill/>
          <a:ln>
            <a:noFill/>
          </a:ln>
        </p:spPr>
        <p:txBody>
          <a:bodyPr spcFirstLastPara="1" wrap="square" lIns="91425" tIns="91425" rIns="91425" bIns="91425" anchor="t" anchorCtr="0">
            <a:spAutoFit/>
          </a:bodyPr>
          <a:lstStyle/>
          <a:p>
            <a:pPr marL="0" marR="76200" lvl="0" indent="0" algn="r" rtl="0">
              <a:lnSpc>
                <a:spcPct val="135000"/>
              </a:lnSpc>
              <a:spcBef>
                <a:spcPts val="0"/>
              </a:spcBef>
              <a:spcAft>
                <a:spcPts val="0"/>
              </a:spcAft>
              <a:buNone/>
            </a:pP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Image retrieved from: Ryu Saeki, Leo Kitayama, Jun Koga, Makoto Shimizu, and Kazumasa Oida. 2022. Smishing Strategy Dynamics and Evolving Botnet Activities in Japan. </a:t>
            </a:r>
            <a:r>
              <a:rPr lang="en-US" sz="1200" i="1">
                <a:solidFill>
                  <a:srgbClr val="FFF2CC"/>
                </a:solidFill>
              </a:rPr>
              <a:t>IEEE Access</a:t>
            </a:r>
            <a:r>
              <a:rPr lang="en-US" sz="1200">
                <a:solidFill>
                  <a:srgbClr val="FFF2CC"/>
                </a:solidFill>
              </a:rPr>
              <a:t> 10, (2022), 114869–114884.</a:t>
            </a:r>
            <a:r>
              <a:rPr lang="en-US" sz="1200">
                <a:solidFill>
                  <a:srgbClr val="FFF2CC"/>
                </a:solidFill>
                <a:uFill>
                  <a:noFill/>
                </a:uFill>
                <a:hlinkClick r:id="rId4">
                  <a:extLst>
                    <a:ext uri="{A12FA001-AC4F-418D-AE19-62706E023703}">
                      <ahyp:hlinkClr xmlns:ahyp="http://schemas.microsoft.com/office/drawing/2018/hyperlinkcolor" val="tx"/>
                    </a:ext>
                  </a:extLst>
                </a:hlinkClick>
              </a:rPr>
              <a:t> </a:t>
            </a:r>
            <a:r>
              <a:rPr lang="en-US" sz="1200" u="sng">
                <a:solidFill>
                  <a:srgbClr val="FFF2CC"/>
                </a:solidFill>
                <a:hlinkClick r:id="rId4">
                  <a:extLst>
                    <a:ext uri="{A12FA001-AC4F-418D-AE19-62706E023703}">
                      <ahyp:hlinkClr xmlns:ahyp="http://schemas.microsoft.com/office/drawing/2018/hyperlinkcolor" val="tx"/>
                    </a:ext>
                  </a:extLst>
                </a:hlinkClick>
              </a:rPr>
              <a:t>https://doi.org/10.1109/ACCESS.2022.3217795</a:t>
            </a:r>
            <a:endParaRPr sz="1200" u="sng">
              <a:solidFill>
                <a:srgbClr val="FFF2CC"/>
              </a:solidFill>
            </a:endParaRPr>
          </a:p>
        </p:txBody>
      </p:sp>
      <p:sp>
        <p:nvSpPr>
          <p:cNvPr id="171" name="Google Shape;171;p17"/>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5</a:t>
            </a:fld>
            <a:endParaRPr sz="2000" b="1">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0" scaled="0"/>
        </a:gradFill>
        <a:effectLst/>
      </p:bgPr>
    </p:bg>
    <p:spTree>
      <p:nvGrpSpPr>
        <p:cNvPr id="1" name="Shape 175"/>
        <p:cNvGrpSpPr/>
        <p:nvPr/>
      </p:nvGrpSpPr>
      <p:grpSpPr>
        <a:xfrm>
          <a:off x="0" y="0"/>
          <a:ext cx="0" cy="0"/>
          <a:chOff x="0" y="0"/>
          <a:chExt cx="0" cy="0"/>
        </a:xfrm>
      </p:grpSpPr>
      <p:sp>
        <p:nvSpPr>
          <p:cNvPr id="176" name="Google Shape;176;p18"/>
          <p:cNvSpPr txBox="1"/>
          <p:nvPr/>
        </p:nvSpPr>
        <p:spPr>
          <a:xfrm>
            <a:off x="658975" y="811399"/>
            <a:ext cx="12235200" cy="1000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500" b="1" i="0" u="none" strike="noStrike" cap="none">
                <a:solidFill>
                  <a:srgbClr val="FFFFFF"/>
                </a:solidFill>
                <a:latin typeface="Arial"/>
                <a:ea typeface="Arial"/>
                <a:cs typeface="Arial"/>
                <a:sym typeface="Arial"/>
              </a:rPr>
              <a:t>Would you click it?</a:t>
            </a:r>
            <a:endParaRPr/>
          </a:p>
        </p:txBody>
      </p:sp>
      <p:pic>
        <p:nvPicPr>
          <p:cNvPr id="177" name="Google Shape;177;p18"/>
          <p:cNvPicPr preferRelativeResize="0"/>
          <p:nvPr/>
        </p:nvPicPr>
        <p:blipFill>
          <a:blip r:embed="rId3">
            <a:alphaModFix/>
          </a:blip>
          <a:stretch>
            <a:fillRect/>
          </a:stretch>
        </p:blipFill>
        <p:spPr>
          <a:xfrm>
            <a:off x="891850" y="1964299"/>
            <a:ext cx="5457825" cy="7019925"/>
          </a:xfrm>
          <a:prstGeom prst="rect">
            <a:avLst/>
          </a:prstGeom>
          <a:noFill/>
          <a:ln>
            <a:noFill/>
          </a:ln>
        </p:spPr>
      </p:pic>
      <p:pic>
        <p:nvPicPr>
          <p:cNvPr id="178" name="Google Shape;178;p18"/>
          <p:cNvPicPr preferRelativeResize="0"/>
          <p:nvPr/>
        </p:nvPicPr>
        <p:blipFill>
          <a:blip r:embed="rId4">
            <a:alphaModFix/>
          </a:blip>
          <a:stretch>
            <a:fillRect/>
          </a:stretch>
        </p:blipFill>
        <p:spPr>
          <a:xfrm>
            <a:off x="7660763" y="2073025"/>
            <a:ext cx="4227818" cy="6802450"/>
          </a:xfrm>
          <a:prstGeom prst="rect">
            <a:avLst/>
          </a:prstGeom>
          <a:noFill/>
          <a:ln>
            <a:noFill/>
          </a:ln>
        </p:spPr>
      </p:pic>
      <p:pic>
        <p:nvPicPr>
          <p:cNvPr id="179" name="Google Shape;179;p18"/>
          <p:cNvPicPr preferRelativeResize="0"/>
          <p:nvPr/>
        </p:nvPicPr>
        <p:blipFill>
          <a:blip r:embed="rId5">
            <a:alphaModFix/>
          </a:blip>
          <a:stretch>
            <a:fillRect/>
          </a:stretch>
        </p:blipFill>
        <p:spPr>
          <a:xfrm>
            <a:off x="12894177" y="1988505"/>
            <a:ext cx="4949047" cy="7019925"/>
          </a:xfrm>
          <a:prstGeom prst="rect">
            <a:avLst/>
          </a:prstGeom>
          <a:noFill/>
          <a:ln>
            <a:noFill/>
          </a:ln>
        </p:spPr>
      </p:pic>
      <p:grpSp>
        <p:nvGrpSpPr>
          <p:cNvPr id="180" name="Google Shape;180;p18"/>
          <p:cNvGrpSpPr/>
          <p:nvPr/>
        </p:nvGrpSpPr>
        <p:grpSpPr>
          <a:xfrm>
            <a:off x="3" y="8941096"/>
            <a:ext cx="3498292" cy="1345904"/>
            <a:chOff x="9355875" y="3095472"/>
            <a:chExt cx="7344723" cy="2109898"/>
          </a:xfrm>
        </p:grpSpPr>
        <p:grpSp>
          <p:nvGrpSpPr>
            <p:cNvPr id="181" name="Google Shape;181;p18"/>
            <p:cNvGrpSpPr/>
            <p:nvPr/>
          </p:nvGrpSpPr>
          <p:grpSpPr>
            <a:xfrm>
              <a:off x="9355875" y="3095472"/>
              <a:ext cx="7344723" cy="2109898"/>
              <a:chOff x="3" y="-76198"/>
              <a:chExt cx="1934400" cy="555690"/>
            </a:xfrm>
          </p:grpSpPr>
          <p:sp>
            <p:nvSpPr>
              <p:cNvPr id="182" name="Google Shape;182;p18"/>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183" name="Google Shape;183;p18"/>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184" name="Google Shape;184;p18"/>
            <p:cNvGrpSpPr/>
            <p:nvPr/>
          </p:nvGrpSpPr>
          <p:grpSpPr>
            <a:xfrm>
              <a:off x="9846862" y="3934727"/>
              <a:ext cx="6362325" cy="981398"/>
              <a:chOff x="0" y="-238723"/>
              <a:chExt cx="8483100" cy="1308531"/>
            </a:xfrm>
          </p:grpSpPr>
          <p:sp>
            <p:nvSpPr>
              <p:cNvPr id="185" name="Google Shape;185;p18"/>
              <p:cNvSpPr txBox="1"/>
              <p:nvPr/>
            </p:nvSpPr>
            <p:spPr>
              <a:xfrm>
                <a:off x="0" y="-238723"/>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Introduction</a:t>
                </a:r>
                <a:endParaRPr sz="1735"/>
              </a:p>
            </p:txBody>
          </p:sp>
          <p:sp>
            <p:nvSpPr>
              <p:cNvPr id="186" name="Google Shape;186;p18"/>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187" name="Google Shape;187;p18"/>
          <p:cNvSpPr txBox="1"/>
          <p:nvPr/>
        </p:nvSpPr>
        <p:spPr>
          <a:xfrm>
            <a:off x="4689225" y="8984225"/>
            <a:ext cx="12680400" cy="13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a:solidFill>
                  <a:srgbClr val="FFF2CC"/>
                </a:solidFill>
                <a:latin typeface="Roboto"/>
                <a:ea typeface="Roboto"/>
                <a:cs typeface="Roboto"/>
                <a:sym typeface="Roboto"/>
              </a:rPr>
              <a:t>@article{timko2024smishing,</a:t>
            </a:r>
            <a:endParaRPr sz="1100">
              <a:solidFill>
                <a:srgbClr val="FFF2CC"/>
              </a:solidFill>
              <a:latin typeface="Roboto"/>
              <a:ea typeface="Roboto"/>
              <a:cs typeface="Roboto"/>
              <a:sym typeface="Roboto"/>
            </a:endParaRPr>
          </a:p>
          <a:p>
            <a:pPr marL="0" lvl="0" indent="0" algn="l" rtl="0">
              <a:spcBef>
                <a:spcPts val="0"/>
              </a:spcBef>
              <a:spcAft>
                <a:spcPts val="0"/>
              </a:spcAft>
              <a:buNone/>
            </a:pPr>
            <a:r>
              <a:rPr lang="en-US" sz="1100">
                <a:solidFill>
                  <a:srgbClr val="FFF2CC"/>
                </a:solidFill>
                <a:latin typeface="Roboto"/>
                <a:ea typeface="Roboto"/>
                <a:cs typeface="Roboto"/>
                <a:sym typeface="Roboto"/>
              </a:rPr>
              <a:t>title={Smishing Dataset I: Phishing SMS Dataset from Smishtank.com},</a:t>
            </a:r>
            <a:endParaRPr sz="1100">
              <a:solidFill>
                <a:srgbClr val="FFF2CC"/>
              </a:solidFill>
              <a:latin typeface="Roboto"/>
              <a:ea typeface="Roboto"/>
              <a:cs typeface="Roboto"/>
              <a:sym typeface="Roboto"/>
            </a:endParaRPr>
          </a:p>
          <a:p>
            <a:pPr marL="0" lvl="0" indent="0" algn="l" rtl="0">
              <a:spcBef>
                <a:spcPts val="0"/>
              </a:spcBef>
              <a:spcAft>
                <a:spcPts val="0"/>
              </a:spcAft>
              <a:buNone/>
            </a:pPr>
            <a:r>
              <a:rPr lang="en-US" sz="1100">
                <a:solidFill>
                  <a:srgbClr val="FFF2CC"/>
                </a:solidFill>
                <a:latin typeface="Roboto"/>
                <a:ea typeface="Roboto"/>
                <a:cs typeface="Roboto"/>
                <a:sym typeface="Roboto"/>
              </a:rPr>
              <a:t>author={Timko, Daniel and Rahman, Muhammad Lutfor},</a:t>
            </a:r>
            <a:endParaRPr sz="1100">
              <a:solidFill>
                <a:srgbClr val="FFF2CC"/>
              </a:solidFill>
              <a:latin typeface="Roboto"/>
              <a:ea typeface="Roboto"/>
              <a:cs typeface="Roboto"/>
              <a:sym typeface="Roboto"/>
            </a:endParaRPr>
          </a:p>
          <a:p>
            <a:pPr marL="0" lvl="0" indent="0" algn="l" rtl="0">
              <a:spcBef>
                <a:spcPts val="0"/>
              </a:spcBef>
              <a:spcAft>
                <a:spcPts val="0"/>
              </a:spcAft>
              <a:buNone/>
            </a:pPr>
            <a:r>
              <a:rPr lang="en-US" sz="1100">
                <a:solidFill>
                  <a:srgbClr val="FFF2CC"/>
                </a:solidFill>
                <a:latin typeface="Roboto"/>
                <a:ea typeface="Roboto"/>
                <a:cs typeface="Roboto"/>
                <a:sym typeface="Roboto"/>
              </a:rPr>
              <a:t>booktitle={Proceedings of the Fourteenth ACM Conference on Data and Application Security and Privacy},</a:t>
            </a:r>
            <a:endParaRPr sz="1100">
              <a:solidFill>
                <a:srgbClr val="FFF2CC"/>
              </a:solidFill>
              <a:latin typeface="Roboto"/>
              <a:ea typeface="Roboto"/>
              <a:cs typeface="Roboto"/>
              <a:sym typeface="Roboto"/>
            </a:endParaRPr>
          </a:p>
          <a:p>
            <a:pPr marL="0" lvl="0" indent="0" algn="l" rtl="0">
              <a:spcBef>
                <a:spcPts val="0"/>
              </a:spcBef>
              <a:spcAft>
                <a:spcPts val="0"/>
              </a:spcAft>
              <a:buNone/>
            </a:pPr>
            <a:r>
              <a:rPr lang="en-US" sz="1100">
                <a:solidFill>
                  <a:srgbClr val="FFF2CC"/>
                </a:solidFill>
                <a:latin typeface="Roboto"/>
                <a:ea typeface="Roboto"/>
                <a:cs typeface="Roboto"/>
                <a:sym typeface="Roboto"/>
              </a:rPr>
              <a:t>pages={289--294},</a:t>
            </a:r>
            <a:endParaRPr sz="1100">
              <a:solidFill>
                <a:srgbClr val="FFF2CC"/>
              </a:solidFill>
              <a:latin typeface="Roboto"/>
              <a:ea typeface="Roboto"/>
              <a:cs typeface="Roboto"/>
              <a:sym typeface="Roboto"/>
            </a:endParaRPr>
          </a:p>
          <a:p>
            <a:pPr marL="0" lvl="0" indent="0" algn="l" rtl="0">
              <a:spcBef>
                <a:spcPts val="0"/>
              </a:spcBef>
              <a:spcAft>
                <a:spcPts val="0"/>
              </a:spcAft>
              <a:buNone/>
            </a:pPr>
            <a:r>
              <a:rPr lang="en-US" sz="1100">
                <a:solidFill>
                  <a:srgbClr val="FFF2CC"/>
                </a:solidFill>
                <a:latin typeface="Roboto"/>
                <a:ea typeface="Roboto"/>
                <a:cs typeface="Roboto"/>
                <a:sym typeface="Roboto"/>
              </a:rPr>
              <a:t>year={2024}</a:t>
            </a:r>
            <a:endParaRPr sz="1100">
              <a:solidFill>
                <a:srgbClr val="FFF2CC"/>
              </a:solidFill>
              <a:latin typeface="Roboto"/>
              <a:ea typeface="Roboto"/>
              <a:cs typeface="Roboto"/>
              <a:sym typeface="Roboto"/>
            </a:endParaRPr>
          </a:p>
          <a:p>
            <a:pPr marL="0" lvl="0" indent="0" algn="l" rtl="0">
              <a:spcBef>
                <a:spcPts val="0"/>
              </a:spcBef>
              <a:spcAft>
                <a:spcPts val="0"/>
              </a:spcAft>
              <a:buNone/>
            </a:pPr>
            <a:r>
              <a:rPr lang="en-US" sz="1100">
                <a:solidFill>
                  <a:srgbClr val="FFF2CC"/>
                </a:solidFill>
                <a:latin typeface="Roboto"/>
                <a:ea typeface="Roboto"/>
                <a:cs typeface="Roboto"/>
                <a:sym typeface="Roboto"/>
              </a:rPr>
              <a:t>}</a:t>
            </a:r>
            <a:endParaRPr>
              <a:solidFill>
                <a:srgbClr val="FFF2CC"/>
              </a:solidFill>
            </a:endParaRPr>
          </a:p>
        </p:txBody>
      </p:sp>
      <p:sp>
        <p:nvSpPr>
          <p:cNvPr id="188" name="Google Shape;188;p18"/>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6</a:t>
            </a:fld>
            <a:endParaRPr sz="2000" b="1">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192"/>
        <p:cNvGrpSpPr/>
        <p:nvPr/>
      </p:nvGrpSpPr>
      <p:grpSpPr>
        <a:xfrm>
          <a:off x="0" y="0"/>
          <a:ext cx="0" cy="0"/>
          <a:chOff x="0" y="0"/>
          <a:chExt cx="0" cy="0"/>
        </a:xfrm>
      </p:grpSpPr>
      <p:grpSp>
        <p:nvGrpSpPr>
          <p:cNvPr id="193" name="Google Shape;193;p19"/>
          <p:cNvGrpSpPr/>
          <p:nvPr/>
        </p:nvGrpSpPr>
        <p:grpSpPr>
          <a:xfrm>
            <a:off x="3" y="8941096"/>
            <a:ext cx="3498292" cy="1345904"/>
            <a:chOff x="9355875" y="3095472"/>
            <a:chExt cx="7344723" cy="2109898"/>
          </a:xfrm>
        </p:grpSpPr>
        <p:grpSp>
          <p:nvGrpSpPr>
            <p:cNvPr id="194" name="Google Shape;194;p19"/>
            <p:cNvGrpSpPr/>
            <p:nvPr/>
          </p:nvGrpSpPr>
          <p:grpSpPr>
            <a:xfrm>
              <a:off x="9355875" y="3095472"/>
              <a:ext cx="7344723" cy="2109898"/>
              <a:chOff x="3" y="-76198"/>
              <a:chExt cx="1934400" cy="555690"/>
            </a:xfrm>
          </p:grpSpPr>
          <p:sp>
            <p:nvSpPr>
              <p:cNvPr id="195" name="Google Shape;195;p19"/>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196" name="Google Shape;196;p19"/>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197" name="Google Shape;197;p19"/>
            <p:cNvGrpSpPr/>
            <p:nvPr/>
          </p:nvGrpSpPr>
          <p:grpSpPr>
            <a:xfrm>
              <a:off x="9846862" y="3934727"/>
              <a:ext cx="6362325" cy="981398"/>
              <a:chOff x="0" y="-238723"/>
              <a:chExt cx="8483100" cy="1308531"/>
            </a:xfrm>
          </p:grpSpPr>
          <p:sp>
            <p:nvSpPr>
              <p:cNvPr id="198" name="Google Shape;198;p19"/>
              <p:cNvSpPr txBox="1"/>
              <p:nvPr/>
            </p:nvSpPr>
            <p:spPr>
              <a:xfrm>
                <a:off x="0" y="-238723"/>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Introduction</a:t>
                </a:r>
                <a:endParaRPr sz="1735"/>
              </a:p>
            </p:txBody>
          </p:sp>
          <p:sp>
            <p:nvSpPr>
              <p:cNvPr id="199" name="Google Shape;199;p19"/>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200" name="Google Shape;200;p19"/>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a:solidFill>
                  <a:srgbClr val="FFFFFF"/>
                </a:solidFill>
              </a:rPr>
              <a:t>Key Takeaways</a:t>
            </a:r>
            <a:endParaRPr/>
          </a:p>
        </p:txBody>
      </p:sp>
      <p:sp>
        <p:nvSpPr>
          <p:cNvPr id="201" name="Google Shape;201;p19"/>
          <p:cNvSpPr txBox="1"/>
          <p:nvPr/>
        </p:nvSpPr>
        <p:spPr>
          <a:xfrm>
            <a:off x="635050" y="2531525"/>
            <a:ext cx="16746300" cy="6067800"/>
          </a:xfrm>
          <a:prstGeom prst="rect">
            <a:avLst/>
          </a:prstGeom>
          <a:noFill/>
          <a:ln>
            <a:noFill/>
          </a:ln>
        </p:spPr>
        <p:txBody>
          <a:bodyPr spcFirstLastPara="1" wrap="square" lIns="91425" tIns="91425" rIns="91425" bIns="91425" anchor="t" anchorCtr="0">
            <a:noAutofit/>
          </a:bodyPr>
          <a:lstStyle/>
          <a:p>
            <a:pPr marL="457200" lvl="0" indent="-450850" algn="l" rtl="0">
              <a:spcBef>
                <a:spcPts val="0"/>
              </a:spcBef>
              <a:spcAft>
                <a:spcPts val="0"/>
              </a:spcAft>
              <a:buClr>
                <a:schemeClr val="lt1"/>
              </a:buClr>
              <a:buSzPts val="3500"/>
              <a:buFont typeface="Calibri"/>
              <a:buChar char="●"/>
            </a:pPr>
            <a:r>
              <a:rPr lang="en-US" sz="3500">
                <a:solidFill>
                  <a:schemeClr val="lt1"/>
                </a:solidFill>
                <a:latin typeface="Calibri"/>
                <a:ea typeface="Calibri"/>
                <a:cs typeface="Calibri"/>
                <a:sym typeface="Calibri"/>
              </a:rPr>
              <a:t>Major issue</a:t>
            </a:r>
            <a:endParaRPr sz="3500">
              <a:solidFill>
                <a:schemeClr val="lt1"/>
              </a:solidFill>
              <a:latin typeface="Calibri"/>
              <a:ea typeface="Calibri"/>
              <a:cs typeface="Calibri"/>
              <a:sym typeface="Calibri"/>
            </a:endParaRPr>
          </a:p>
          <a:p>
            <a:pPr marL="1371600" lvl="2" indent="-450850" algn="l" rtl="0">
              <a:spcBef>
                <a:spcPts val="0"/>
              </a:spcBef>
              <a:spcAft>
                <a:spcPts val="0"/>
              </a:spcAft>
              <a:buClr>
                <a:schemeClr val="lt1"/>
              </a:buClr>
              <a:buSzPts val="3500"/>
              <a:buFont typeface="Calibri"/>
              <a:buChar char="■"/>
            </a:pPr>
            <a:r>
              <a:rPr lang="en-US" sz="3500">
                <a:solidFill>
                  <a:schemeClr val="lt1"/>
                </a:solidFill>
                <a:latin typeface="Calibri"/>
                <a:ea typeface="Calibri"/>
                <a:cs typeface="Calibri"/>
                <a:sym typeface="Calibri"/>
              </a:rPr>
              <a:t>$470 million lost in 2024 (FTC)</a:t>
            </a:r>
            <a:endParaRPr sz="3500">
              <a:solidFill>
                <a:schemeClr val="lt1"/>
              </a:solidFill>
              <a:latin typeface="Calibri"/>
              <a:ea typeface="Calibri"/>
              <a:cs typeface="Calibri"/>
              <a:sym typeface="Calibri"/>
            </a:endParaRPr>
          </a:p>
          <a:p>
            <a:pPr marL="0" lvl="0" indent="0" algn="l" rtl="0">
              <a:spcBef>
                <a:spcPts val="0"/>
              </a:spcBef>
              <a:spcAft>
                <a:spcPts val="0"/>
              </a:spcAft>
              <a:buNone/>
            </a:pPr>
            <a:endParaRPr sz="3500">
              <a:solidFill>
                <a:schemeClr val="lt1"/>
              </a:solidFill>
              <a:latin typeface="Calibri"/>
              <a:ea typeface="Calibri"/>
              <a:cs typeface="Calibri"/>
              <a:sym typeface="Calibri"/>
            </a:endParaRPr>
          </a:p>
          <a:p>
            <a:pPr marL="457200" lvl="0" indent="-450850" algn="l" rtl="0">
              <a:spcBef>
                <a:spcPts val="0"/>
              </a:spcBef>
              <a:spcAft>
                <a:spcPts val="0"/>
              </a:spcAft>
              <a:buClr>
                <a:schemeClr val="lt1"/>
              </a:buClr>
              <a:buSzPts val="3500"/>
              <a:buFont typeface="Calibri"/>
              <a:buChar char="●"/>
            </a:pPr>
            <a:r>
              <a:rPr lang="en-US" sz="3500">
                <a:solidFill>
                  <a:schemeClr val="lt1"/>
                </a:solidFill>
                <a:latin typeface="Calibri"/>
                <a:ea typeface="Calibri"/>
                <a:cs typeface="Calibri"/>
                <a:sym typeface="Calibri"/>
              </a:rPr>
              <a:t>Smishing is not random, its coordinated and structured</a:t>
            </a:r>
            <a:endParaRPr sz="35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Professional-like in practice</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457200" lvl="0" indent="-457200" algn="l" rtl="0">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Human Psychology drives smishing success</a:t>
            </a:r>
            <a:endParaRPr sz="36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Authority </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Emotion</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p:txBody>
      </p:sp>
      <p:sp>
        <p:nvSpPr>
          <p:cNvPr id="202" name="Google Shape;202;p19"/>
          <p:cNvSpPr txBox="1"/>
          <p:nvPr/>
        </p:nvSpPr>
        <p:spPr>
          <a:xfrm>
            <a:off x="4835750" y="8826200"/>
            <a:ext cx="9481200" cy="861900"/>
          </a:xfrm>
          <a:prstGeom prst="rect">
            <a:avLst/>
          </a:prstGeom>
          <a:noFill/>
          <a:ln>
            <a:noFill/>
          </a:ln>
        </p:spPr>
        <p:txBody>
          <a:bodyPr spcFirstLastPara="1" wrap="square" lIns="91425" tIns="91425" rIns="91425" bIns="91425" anchor="t" anchorCtr="0">
            <a:spAutoFit/>
          </a:bodyPr>
          <a:lstStyle/>
          <a:p>
            <a:pPr marL="0" lvl="0" indent="-247650" algn="l" rtl="0">
              <a:spcBef>
                <a:spcPts val="0"/>
              </a:spcBef>
              <a:spcAft>
                <a:spcPts val="0"/>
              </a:spcAft>
              <a:buNone/>
            </a:pPr>
            <a:r>
              <a:rPr lang="en-US" sz="1100">
                <a:solidFill>
                  <a:srgbClr val="FFF2CC"/>
                </a:solidFill>
              </a:rPr>
              <a:t>	</a:t>
            </a:r>
            <a:r>
              <a:rPr lang="en-US" sz="1100">
                <a:solidFill>
                  <a:srgbClr val="FFF2CC"/>
                </a:solidFill>
                <a:uFill>
                  <a:noFill/>
                </a:uFill>
                <a:hlinkClick r:id="rId3">
                  <a:extLst>
                    <a:ext uri="{A12FA001-AC4F-418D-AE19-62706E023703}">
                      <ahyp:hlinkClr xmlns:ahyp="http://schemas.microsoft.com/office/drawing/2018/hyperlinkcolor" val="tx"/>
                    </a:ext>
                  </a:extLst>
                </a:hlinkClick>
              </a:rPr>
              <a:t>2025. New FTC Data Show Top Text Message Scams of 2024; Overall Losses to Text Scams Hit $470 Million. </a:t>
            </a:r>
            <a:r>
              <a:rPr lang="en-US" sz="1100" i="1">
                <a:solidFill>
                  <a:srgbClr val="FFF2CC"/>
                </a:solidFill>
                <a:uFill>
                  <a:noFill/>
                </a:uFill>
                <a:hlinkClick r:id="rId3">
                  <a:extLst>
                    <a:ext uri="{A12FA001-AC4F-418D-AE19-62706E023703}">
                      <ahyp:hlinkClr xmlns:ahyp="http://schemas.microsoft.com/office/drawing/2018/hyperlinkcolor" val="tx"/>
                    </a:ext>
                  </a:extLst>
                </a:hlinkClick>
              </a:rPr>
              <a:t>Federal Trade Commission</a:t>
            </a:r>
            <a:r>
              <a:rPr lang="en-US" sz="1100">
                <a:solidFill>
                  <a:srgbClr val="FFF2CC"/>
                </a:solidFill>
                <a:uFill>
                  <a:noFill/>
                </a:uFill>
                <a:hlinkClick r:id="rId3">
                  <a:extLst>
                    <a:ext uri="{A12FA001-AC4F-418D-AE19-62706E023703}">
                      <ahyp:hlinkClr xmlns:ahyp="http://schemas.microsoft.com/office/drawing/2018/hyperlinkcolor" val="tx"/>
                    </a:ext>
                  </a:extLst>
                </a:hlinkClick>
              </a:rPr>
              <a:t>. Retrieved March 24, 2026 from https://www.ftc.gov/news-events/news/press-releases/2025/04/new-ftc-data-show-top-text-message-scams-2024-overall-losses-text-scams-hit-470-million </a:t>
            </a:r>
            <a:endParaRPr>
              <a:solidFill>
                <a:srgbClr val="FFF2CC"/>
              </a:solidFill>
            </a:endParaRPr>
          </a:p>
        </p:txBody>
      </p:sp>
      <p:sp>
        <p:nvSpPr>
          <p:cNvPr id="203" name="Google Shape;203;p19"/>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7</a:t>
            </a:fld>
            <a:endParaRPr sz="2000" b="1">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207"/>
        <p:cNvGrpSpPr/>
        <p:nvPr/>
      </p:nvGrpSpPr>
      <p:grpSpPr>
        <a:xfrm>
          <a:off x="0" y="0"/>
          <a:ext cx="0" cy="0"/>
          <a:chOff x="0" y="0"/>
          <a:chExt cx="0" cy="0"/>
        </a:xfrm>
      </p:grpSpPr>
      <p:grpSp>
        <p:nvGrpSpPr>
          <p:cNvPr id="208" name="Google Shape;208;p20"/>
          <p:cNvGrpSpPr/>
          <p:nvPr/>
        </p:nvGrpSpPr>
        <p:grpSpPr>
          <a:xfrm>
            <a:off x="3" y="8941096"/>
            <a:ext cx="3498292" cy="1345904"/>
            <a:chOff x="9355875" y="3095472"/>
            <a:chExt cx="7344723" cy="2109898"/>
          </a:xfrm>
        </p:grpSpPr>
        <p:grpSp>
          <p:nvGrpSpPr>
            <p:cNvPr id="209" name="Google Shape;209;p20"/>
            <p:cNvGrpSpPr/>
            <p:nvPr/>
          </p:nvGrpSpPr>
          <p:grpSpPr>
            <a:xfrm>
              <a:off x="9355875" y="3095472"/>
              <a:ext cx="7344723" cy="2109898"/>
              <a:chOff x="3" y="-76198"/>
              <a:chExt cx="1934400" cy="555690"/>
            </a:xfrm>
          </p:grpSpPr>
          <p:sp>
            <p:nvSpPr>
              <p:cNvPr id="210" name="Google Shape;210;p20"/>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211" name="Google Shape;211;p20"/>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212" name="Google Shape;212;p20"/>
            <p:cNvGrpSpPr/>
            <p:nvPr/>
          </p:nvGrpSpPr>
          <p:grpSpPr>
            <a:xfrm>
              <a:off x="9846841" y="3934710"/>
              <a:ext cx="6362346" cy="981415"/>
              <a:chOff x="-28" y="-238745"/>
              <a:chExt cx="8483128" cy="1308553"/>
            </a:xfrm>
          </p:grpSpPr>
          <p:sp>
            <p:nvSpPr>
              <p:cNvPr id="213" name="Google Shape;213;p20"/>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214" name="Google Shape;214;p20"/>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215" name="Google Shape;215;p20"/>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a:solidFill>
                  <a:srgbClr val="FFFFFF"/>
                </a:solidFill>
              </a:rPr>
              <a:t>Research Questions</a:t>
            </a:r>
            <a:endParaRPr/>
          </a:p>
        </p:txBody>
      </p:sp>
      <p:sp>
        <p:nvSpPr>
          <p:cNvPr id="216" name="Google Shape;216;p20"/>
          <p:cNvSpPr txBox="1"/>
          <p:nvPr/>
        </p:nvSpPr>
        <p:spPr>
          <a:xfrm>
            <a:off x="635050" y="2531525"/>
            <a:ext cx="16746300" cy="70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lt1"/>
                </a:solidFill>
                <a:latin typeface="Calibri"/>
                <a:ea typeface="Calibri"/>
                <a:cs typeface="Calibri"/>
                <a:sym typeface="Calibri"/>
              </a:rPr>
              <a:t>RQ1: What are the psychological and demographic factors that influence a user’s susceptibility to smishing attacks?</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US" sz="3200">
                <a:solidFill>
                  <a:schemeClr val="lt1"/>
                </a:solidFill>
                <a:latin typeface="Calibri"/>
                <a:ea typeface="Calibri"/>
                <a:cs typeface="Calibri"/>
                <a:sym typeface="Calibri"/>
              </a:rPr>
              <a:t>RQ2: How effective are technical solutions in mitigating smishing?</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US" sz="3200">
                <a:solidFill>
                  <a:schemeClr val="lt1"/>
                </a:solidFill>
                <a:latin typeface="Calibri"/>
                <a:ea typeface="Calibri"/>
                <a:cs typeface="Calibri"/>
                <a:sym typeface="Calibri"/>
              </a:rPr>
              <a:t>RQ3: What gaps exist in current smishing defenses? What interdisciplinary strategies are needed to address the smishing issue?</a:t>
            </a:r>
            <a:endParaRPr sz="3200">
              <a:solidFill>
                <a:schemeClr val="lt1"/>
              </a:solidFill>
              <a:latin typeface="Calibri"/>
              <a:ea typeface="Calibri"/>
              <a:cs typeface="Calibri"/>
              <a:sym typeface="Calibri"/>
            </a:endParaRPr>
          </a:p>
        </p:txBody>
      </p:sp>
      <p:sp>
        <p:nvSpPr>
          <p:cNvPr id="217" name="Google Shape;217;p20"/>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8</a:t>
            </a:fld>
            <a:endParaRPr sz="2000" b="1">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221"/>
        <p:cNvGrpSpPr/>
        <p:nvPr/>
      </p:nvGrpSpPr>
      <p:grpSpPr>
        <a:xfrm>
          <a:off x="0" y="0"/>
          <a:ext cx="0" cy="0"/>
          <a:chOff x="0" y="0"/>
          <a:chExt cx="0" cy="0"/>
        </a:xfrm>
      </p:grpSpPr>
      <p:sp>
        <p:nvSpPr>
          <p:cNvPr id="222" name="Google Shape;222;p21"/>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a:solidFill>
                  <a:srgbClr val="FFFFFF"/>
                </a:solidFill>
              </a:rPr>
              <a:t>Methodology</a:t>
            </a:r>
            <a:endParaRPr/>
          </a:p>
        </p:txBody>
      </p:sp>
      <p:sp>
        <p:nvSpPr>
          <p:cNvPr id="223" name="Google Shape;223;p21"/>
          <p:cNvSpPr txBox="1"/>
          <p:nvPr/>
        </p:nvSpPr>
        <p:spPr>
          <a:xfrm>
            <a:off x="635050" y="2531525"/>
            <a:ext cx="16746300" cy="7002900"/>
          </a:xfrm>
          <a:prstGeom prst="rect">
            <a:avLst/>
          </a:prstGeom>
          <a:noFill/>
          <a:ln>
            <a:noFill/>
          </a:ln>
        </p:spPr>
        <p:txBody>
          <a:bodyPr spcFirstLastPara="1" wrap="square" lIns="91425" tIns="91425" rIns="91425" bIns="91425" anchor="t" anchorCtr="0">
            <a:noAutofit/>
          </a:bodyPr>
          <a:lstStyle/>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Systematic approach</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Google scholar + “SMiShing”</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Zotero</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Google Drive</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Sheets (22 total sources)</a:t>
            </a:r>
            <a:endParaRPr sz="3200">
              <a:solidFill>
                <a:schemeClr val="lt1"/>
              </a:solidFill>
              <a:latin typeface="Calibri"/>
              <a:ea typeface="Calibri"/>
              <a:cs typeface="Calibri"/>
              <a:sym typeface="Calibri"/>
            </a:endParaRPr>
          </a:p>
        </p:txBody>
      </p:sp>
      <p:pic>
        <p:nvPicPr>
          <p:cNvPr id="224" name="Google Shape;224;p21"/>
          <p:cNvPicPr preferRelativeResize="0"/>
          <p:nvPr/>
        </p:nvPicPr>
        <p:blipFill rotWithShape="1">
          <a:blip r:embed="rId3">
            <a:alphaModFix/>
          </a:blip>
          <a:srcRect t="20803" b="32897"/>
          <a:stretch/>
        </p:blipFill>
        <p:spPr>
          <a:xfrm>
            <a:off x="7222725" y="3281575"/>
            <a:ext cx="10036499" cy="4646525"/>
          </a:xfrm>
          <a:prstGeom prst="rect">
            <a:avLst/>
          </a:prstGeom>
          <a:noFill/>
          <a:ln>
            <a:noFill/>
          </a:ln>
        </p:spPr>
      </p:pic>
      <p:grpSp>
        <p:nvGrpSpPr>
          <p:cNvPr id="225" name="Google Shape;225;p21"/>
          <p:cNvGrpSpPr/>
          <p:nvPr/>
        </p:nvGrpSpPr>
        <p:grpSpPr>
          <a:xfrm>
            <a:off x="3" y="8941096"/>
            <a:ext cx="3498292" cy="1345904"/>
            <a:chOff x="9355875" y="3095472"/>
            <a:chExt cx="7344723" cy="2109898"/>
          </a:xfrm>
        </p:grpSpPr>
        <p:grpSp>
          <p:nvGrpSpPr>
            <p:cNvPr id="226" name="Google Shape;226;p21"/>
            <p:cNvGrpSpPr/>
            <p:nvPr/>
          </p:nvGrpSpPr>
          <p:grpSpPr>
            <a:xfrm>
              <a:off x="9355875" y="3095472"/>
              <a:ext cx="7344723" cy="2109898"/>
              <a:chOff x="3" y="-76198"/>
              <a:chExt cx="1934400" cy="555690"/>
            </a:xfrm>
          </p:grpSpPr>
          <p:sp>
            <p:nvSpPr>
              <p:cNvPr id="227" name="Google Shape;227;p21"/>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228" name="Google Shape;228;p21"/>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229" name="Google Shape;229;p21"/>
            <p:cNvGrpSpPr/>
            <p:nvPr/>
          </p:nvGrpSpPr>
          <p:grpSpPr>
            <a:xfrm>
              <a:off x="9846841" y="3934710"/>
              <a:ext cx="6362346" cy="981415"/>
              <a:chOff x="-28" y="-238745"/>
              <a:chExt cx="8483128" cy="1308553"/>
            </a:xfrm>
          </p:grpSpPr>
          <p:sp>
            <p:nvSpPr>
              <p:cNvPr id="230" name="Google Shape;230;p21"/>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231" name="Google Shape;231;p21"/>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232" name="Google Shape;232;p21"/>
          <p:cNvSpPr txBox="1"/>
          <p:nvPr/>
        </p:nvSpPr>
        <p:spPr>
          <a:xfrm>
            <a:off x="4401050" y="9329625"/>
            <a:ext cx="11674200" cy="6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rgbClr val="FFF2CC"/>
                </a:solidFill>
              </a:rPr>
              <a:t>Courtesy of Gemini AI “Create a diagram of google scholar, then zotero, then google drive, and finally google sheets.”</a:t>
            </a:r>
            <a:endParaRPr sz="1200">
              <a:solidFill>
                <a:srgbClr val="FFF2CC"/>
              </a:solidFill>
            </a:endParaRPr>
          </a:p>
        </p:txBody>
      </p:sp>
      <p:sp>
        <p:nvSpPr>
          <p:cNvPr id="233" name="Google Shape;233;p21"/>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9</a:t>
            </a:fld>
            <a:endParaRPr sz="2000" b="1">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237"/>
        <p:cNvGrpSpPr/>
        <p:nvPr/>
      </p:nvGrpSpPr>
      <p:grpSpPr>
        <a:xfrm>
          <a:off x="0" y="0"/>
          <a:ext cx="0" cy="0"/>
          <a:chOff x="0" y="0"/>
          <a:chExt cx="0" cy="0"/>
        </a:xfrm>
      </p:grpSpPr>
      <p:sp>
        <p:nvSpPr>
          <p:cNvPr id="238" name="Google Shape;238;p22"/>
          <p:cNvSpPr txBox="1"/>
          <p:nvPr/>
        </p:nvSpPr>
        <p:spPr>
          <a:xfrm>
            <a:off x="1530987" y="766212"/>
            <a:ext cx="15112500" cy="2662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a:solidFill>
                  <a:srgbClr val="FFFFFF"/>
                </a:solidFill>
              </a:rPr>
              <a:t>RQ1: </a:t>
            </a:r>
            <a:r>
              <a:rPr lang="en-US" sz="4500">
                <a:solidFill>
                  <a:schemeClr val="lt1"/>
                </a:solidFill>
                <a:latin typeface="Calibri"/>
                <a:ea typeface="Calibri"/>
                <a:cs typeface="Calibri"/>
                <a:sym typeface="Calibri"/>
              </a:rPr>
              <a:t>psychological and demographic factors that influence susceptibility to smishing attacks</a:t>
            </a:r>
            <a:endParaRPr sz="4500">
              <a:solidFill>
                <a:schemeClr val="lt1"/>
              </a:solidFill>
              <a:latin typeface="Calibri"/>
              <a:ea typeface="Calibri"/>
              <a:cs typeface="Calibri"/>
              <a:sym typeface="Calibri"/>
            </a:endParaRPr>
          </a:p>
          <a:p>
            <a:pPr marL="0" marR="0" lvl="0" indent="0" algn="ctr" rtl="0">
              <a:lnSpc>
                <a:spcPct val="120000"/>
              </a:lnSpc>
              <a:spcBef>
                <a:spcPts val="0"/>
              </a:spcBef>
              <a:spcAft>
                <a:spcPts val="0"/>
              </a:spcAft>
              <a:buNone/>
            </a:pPr>
            <a:endParaRPr sz="6500">
              <a:solidFill>
                <a:srgbClr val="FFFFFF"/>
              </a:solidFill>
            </a:endParaRPr>
          </a:p>
        </p:txBody>
      </p:sp>
      <p:grpSp>
        <p:nvGrpSpPr>
          <p:cNvPr id="239" name="Google Shape;239;p22"/>
          <p:cNvGrpSpPr/>
          <p:nvPr/>
        </p:nvGrpSpPr>
        <p:grpSpPr>
          <a:xfrm>
            <a:off x="3" y="8941096"/>
            <a:ext cx="3498292" cy="1345904"/>
            <a:chOff x="9355875" y="3095472"/>
            <a:chExt cx="7344723" cy="2109898"/>
          </a:xfrm>
        </p:grpSpPr>
        <p:grpSp>
          <p:nvGrpSpPr>
            <p:cNvPr id="240" name="Google Shape;240;p22"/>
            <p:cNvGrpSpPr/>
            <p:nvPr/>
          </p:nvGrpSpPr>
          <p:grpSpPr>
            <a:xfrm>
              <a:off x="9355875" y="3095472"/>
              <a:ext cx="7344723" cy="2109898"/>
              <a:chOff x="3" y="-76198"/>
              <a:chExt cx="1934400" cy="555690"/>
            </a:xfrm>
          </p:grpSpPr>
          <p:sp>
            <p:nvSpPr>
              <p:cNvPr id="241" name="Google Shape;241;p22"/>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242" name="Google Shape;242;p22"/>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243" name="Google Shape;243;p22"/>
            <p:cNvGrpSpPr/>
            <p:nvPr/>
          </p:nvGrpSpPr>
          <p:grpSpPr>
            <a:xfrm>
              <a:off x="9846841" y="3934710"/>
              <a:ext cx="6362346" cy="981415"/>
              <a:chOff x="-28" y="-238745"/>
              <a:chExt cx="8483128" cy="1308553"/>
            </a:xfrm>
          </p:grpSpPr>
          <p:sp>
            <p:nvSpPr>
              <p:cNvPr id="244" name="Google Shape;244;p22"/>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245" name="Google Shape;245;p22"/>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246" name="Google Shape;246;p22"/>
          <p:cNvSpPr txBox="1"/>
          <p:nvPr/>
        </p:nvSpPr>
        <p:spPr>
          <a:xfrm>
            <a:off x="5022575" y="9055300"/>
            <a:ext cx="10608900" cy="1117500"/>
          </a:xfrm>
          <a:prstGeom prst="rect">
            <a:avLst/>
          </a:prstGeom>
          <a:noFill/>
          <a:ln>
            <a:noFill/>
          </a:ln>
        </p:spPr>
        <p:txBody>
          <a:bodyPr spcFirstLastPara="1" wrap="square" lIns="91425" tIns="91425" rIns="91425" bIns="91425" anchor="t" anchorCtr="0">
            <a:spAutoFit/>
          </a:bodyPr>
          <a:lstStyle/>
          <a:p>
            <a:pPr marL="0" marR="76200" lvl="0" indent="0" algn="l" rtl="0">
              <a:lnSpc>
                <a:spcPct val="135000"/>
              </a:lnSpc>
              <a:spcBef>
                <a:spcPts val="0"/>
              </a:spcBef>
              <a:spcAft>
                <a:spcPts val="0"/>
              </a:spcAft>
              <a:buNone/>
            </a:pPr>
            <a:r>
              <a:rPr lang="en-US" sz="1200">
                <a:solidFill>
                  <a:srgbClr val="FFF2CC"/>
                </a:solidFill>
              </a:rPr>
              <a:t>Charts were created by the author (Brian Mellinger)</a:t>
            </a: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Data from: Md Lutfor Rahman, Daniel Timko, Hamid Wali, and Ajaya Neupane. 2023. Users Really Do Respond To Smishing. In </a:t>
            </a:r>
            <a:r>
              <a:rPr lang="en-US" sz="1200" i="1">
                <a:solidFill>
                  <a:srgbClr val="FFF2CC"/>
                </a:solidFill>
              </a:rPr>
              <a:t>Proceedings of the Thirteenth ACM Conference on Data and Application Security and Privacy</a:t>
            </a:r>
            <a:r>
              <a:rPr lang="en-US" sz="1200">
                <a:solidFill>
                  <a:srgbClr val="FFF2CC"/>
                </a:solidFill>
              </a:rPr>
              <a:t> (</a:t>
            </a:r>
            <a:r>
              <a:rPr lang="en-US" sz="1200" i="1">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xmlns:ahyp="http://schemas.microsoft.com/office/drawing/2018/hyperlinkcolor" val="tx"/>
                    </a:ext>
                  </a:extLst>
                </a:hlinkClick>
              </a:rPr>
              <a:t> </a:t>
            </a:r>
            <a:r>
              <a:rPr lang="en-US" sz="1200" u="sng">
                <a:solidFill>
                  <a:srgbClr val="FFF2CC"/>
                </a:solidFill>
                <a:hlinkClick r:id="rId3">
                  <a:extLst>
                    <a:ext uri="{A12FA001-AC4F-418D-AE19-62706E023703}">
                      <ahyp:hlinkClr xmlns:ahyp="http://schemas.microsoft.com/office/drawing/2018/hyperlinkcolor" val="tx"/>
                    </a:ext>
                  </a:extLst>
                </a:hlinkClick>
              </a:rPr>
              <a:t>https://doi.org/10.1145/3577923.3583640</a:t>
            </a:r>
            <a:endParaRPr sz="1200" u="sng">
              <a:solidFill>
                <a:srgbClr val="FFF2CC"/>
              </a:solidFill>
            </a:endParaRPr>
          </a:p>
        </p:txBody>
      </p:sp>
      <p:pic>
        <p:nvPicPr>
          <p:cNvPr id="247" name="Google Shape;247;p22"/>
          <p:cNvPicPr preferRelativeResize="0"/>
          <p:nvPr/>
        </p:nvPicPr>
        <p:blipFill>
          <a:blip r:embed="rId4">
            <a:alphaModFix/>
          </a:blip>
          <a:stretch>
            <a:fillRect/>
          </a:stretch>
        </p:blipFill>
        <p:spPr>
          <a:xfrm>
            <a:off x="152400" y="2891700"/>
            <a:ext cx="8473825" cy="5897000"/>
          </a:xfrm>
          <a:prstGeom prst="rect">
            <a:avLst/>
          </a:prstGeom>
          <a:noFill/>
          <a:ln>
            <a:noFill/>
          </a:ln>
        </p:spPr>
      </p:pic>
      <p:pic>
        <p:nvPicPr>
          <p:cNvPr id="248" name="Google Shape;248;p22"/>
          <p:cNvPicPr preferRelativeResize="0"/>
          <p:nvPr/>
        </p:nvPicPr>
        <p:blipFill>
          <a:blip r:embed="rId5">
            <a:alphaModFix/>
          </a:blip>
          <a:stretch>
            <a:fillRect/>
          </a:stretch>
        </p:blipFill>
        <p:spPr>
          <a:xfrm>
            <a:off x="9101975" y="2891699"/>
            <a:ext cx="8863824" cy="5897000"/>
          </a:xfrm>
          <a:prstGeom prst="rect">
            <a:avLst/>
          </a:prstGeom>
          <a:noFill/>
          <a:ln>
            <a:noFill/>
          </a:ln>
        </p:spPr>
      </p:pic>
      <p:sp>
        <p:nvSpPr>
          <p:cNvPr id="249" name="Google Shape;249;p22"/>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10</a:t>
            </a:fld>
            <a:endParaRPr sz="2000" b="1">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253"/>
        <p:cNvGrpSpPr/>
        <p:nvPr/>
      </p:nvGrpSpPr>
      <p:grpSpPr>
        <a:xfrm>
          <a:off x="0" y="0"/>
          <a:ext cx="0" cy="0"/>
          <a:chOff x="0" y="0"/>
          <a:chExt cx="0" cy="0"/>
        </a:xfrm>
      </p:grpSpPr>
      <p:sp>
        <p:nvSpPr>
          <p:cNvPr id="254" name="Google Shape;254;p23"/>
          <p:cNvSpPr txBox="1"/>
          <p:nvPr/>
        </p:nvSpPr>
        <p:spPr>
          <a:xfrm>
            <a:off x="1587762" y="427337"/>
            <a:ext cx="15112500" cy="2662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a:solidFill>
                  <a:srgbClr val="FFFFFF"/>
                </a:solidFill>
              </a:rPr>
              <a:t>RQ1: </a:t>
            </a:r>
            <a:r>
              <a:rPr lang="en-US" sz="4500">
                <a:solidFill>
                  <a:schemeClr val="lt1"/>
                </a:solidFill>
                <a:latin typeface="Calibri"/>
                <a:ea typeface="Calibri"/>
                <a:cs typeface="Calibri"/>
                <a:sym typeface="Calibri"/>
              </a:rPr>
              <a:t>psychological and demographic factors that influence susceptibility to smishing attacks</a:t>
            </a:r>
            <a:endParaRPr sz="4500">
              <a:solidFill>
                <a:schemeClr val="lt1"/>
              </a:solidFill>
              <a:latin typeface="Calibri"/>
              <a:ea typeface="Calibri"/>
              <a:cs typeface="Calibri"/>
              <a:sym typeface="Calibri"/>
            </a:endParaRPr>
          </a:p>
          <a:p>
            <a:pPr marL="0" marR="0" lvl="0" indent="0" algn="ctr" rtl="0">
              <a:lnSpc>
                <a:spcPct val="120000"/>
              </a:lnSpc>
              <a:spcBef>
                <a:spcPts val="0"/>
              </a:spcBef>
              <a:spcAft>
                <a:spcPts val="0"/>
              </a:spcAft>
              <a:buNone/>
            </a:pPr>
            <a:endParaRPr sz="6500">
              <a:solidFill>
                <a:srgbClr val="FFFFFF"/>
              </a:solidFill>
            </a:endParaRPr>
          </a:p>
        </p:txBody>
      </p:sp>
      <p:sp>
        <p:nvSpPr>
          <p:cNvPr id="255" name="Google Shape;255;p23"/>
          <p:cNvSpPr txBox="1"/>
          <p:nvPr/>
        </p:nvSpPr>
        <p:spPr>
          <a:xfrm>
            <a:off x="635050" y="2319475"/>
            <a:ext cx="7551600" cy="2662800"/>
          </a:xfrm>
          <a:prstGeom prst="rect">
            <a:avLst/>
          </a:prstGeom>
          <a:noFill/>
          <a:ln>
            <a:noFill/>
          </a:ln>
        </p:spPr>
        <p:txBody>
          <a:bodyPr spcFirstLastPara="1" wrap="square" lIns="91425" tIns="91425" rIns="91425" bIns="91425" anchor="t" anchorCtr="0">
            <a:noAutofit/>
          </a:bodyPr>
          <a:lstStyle/>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Authority Impersonation</a:t>
            </a:r>
            <a:r>
              <a:rPr lang="en-US" sz="3200" baseline="30000">
                <a:solidFill>
                  <a:schemeClr val="lt1"/>
                </a:solidFill>
                <a:latin typeface="Calibri"/>
                <a:ea typeface="Calibri"/>
                <a:cs typeface="Calibri"/>
                <a:sym typeface="Calibri"/>
              </a:rPr>
              <a:t>1</a:t>
            </a:r>
            <a:endParaRPr sz="3200" baseline="300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Fear, urgency, greed</a:t>
            </a:r>
            <a:r>
              <a:rPr lang="en-US" sz="3200" baseline="30000">
                <a:solidFill>
                  <a:schemeClr val="lt1"/>
                </a:solidFill>
                <a:latin typeface="Calibri"/>
                <a:ea typeface="Calibri"/>
                <a:cs typeface="Calibri"/>
                <a:sym typeface="Calibri"/>
              </a:rPr>
              <a:t>2</a:t>
            </a:r>
            <a:endParaRPr sz="3200" baseline="300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African-American, Mexican-American</a:t>
            </a:r>
            <a:r>
              <a:rPr lang="en-US" sz="3200" baseline="30000">
                <a:solidFill>
                  <a:schemeClr val="lt1"/>
                </a:solidFill>
                <a:latin typeface="Calibri"/>
                <a:ea typeface="Calibri"/>
                <a:cs typeface="Calibri"/>
                <a:sym typeface="Calibri"/>
              </a:rPr>
              <a:t>3</a:t>
            </a:r>
            <a:endParaRPr sz="3200" baseline="300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Men</a:t>
            </a:r>
            <a:r>
              <a:rPr lang="en-US" sz="3200" baseline="30000">
                <a:solidFill>
                  <a:schemeClr val="lt1"/>
                </a:solidFill>
                <a:latin typeface="Calibri"/>
                <a:ea typeface="Calibri"/>
                <a:cs typeface="Calibri"/>
                <a:sym typeface="Calibri"/>
              </a:rPr>
              <a:t>4</a:t>
            </a:r>
            <a:endParaRPr sz="3200" baseline="300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Users without cybersecurity training</a:t>
            </a:r>
            <a:r>
              <a:rPr lang="en-US" sz="3200" baseline="30000">
                <a:solidFill>
                  <a:schemeClr val="lt1"/>
                </a:solidFill>
                <a:latin typeface="Calibri"/>
                <a:ea typeface="Calibri"/>
                <a:cs typeface="Calibri"/>
                <a:sym typeface="Calibri"/>
              </a:rPr>
              <a:t>1</a:t>
            </a:r>
            <a:endParaRPr sz="3200" baseline="30000">
              <a:solidFill>
                <a:schemeClr val="lt1"/>
              </a:solidFill>
              <a:latin typeface="Calibri"/>
              <a:ea typeface="Calibri"/>
              <a:cs typeface="Calibri"/>
              <a:sym typeface="Calibri"/>
            </a:endParaRPr>
          </a:p>
        </p:txBody>
      </p:sp>
      <p:grpSp>
        <p:nvGrpSpPr>
          <p:cNvPr id="256" name="Google Shape;256;p23"/>
          <p:cNvGrpSpPr/>
          <p:nvPr/>
        </p:nvGrpSpPr>
        <p:grpSpPr>
          <a:xfrm>
            <a:off x="3" y="8941096"/>
            <a:ext cx="3498292" cy="1345904"/>
            <a:chOff x="9355875" y="3095472"/>
            <a:chExt cx="7344723" cy="2109898"/>
          </a:xfrm>
        </p:grpSpPr>
        <p:grpSp>
          <p:nvGrpSpPr>
            <p:cNvPr id="257" name="Google Shape;257;p23"/>
            <p:cNvGrpSpPr/>
            <p:nvPr/>
          </p:nvGrpSpPr>
          <p:grpSpPr>
            <a:xfrm>
              <a:off x="9355875" y="3095472"/>
              <a:ext cx="7344723" cy="2109898"/>
              <a:chOff x="3" y="-76198"/>
              <a:chExt cx="1934400" cy="555690"/>
            </a:xfrm>
          </p:grpSpPr>
          <p:sp>
            <p:nvSpPr>
              <p:cNvPr id="258" name="Google Shape;258;p23"/>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259" name="Google Shape;259;p23"/>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260" name="Google Shape;260;p23"/>
            <p:cNvGrpSpPr/>
            <p:nvPr/>
          </p:nvGrpSpPr>
          <p:grpSpPr>
            <a:xfrm>
              <a:off x="9846841" y="3934710"/>
              <a:ext cx="6362346" cy="981415"/>
              <a:chOff x="-28" y="-238745"/>
              <a:chExt cx="8483128" cy="1308553"/>
            </a:xfrm>
          </p:grpSpPr>
          <p:sp>
            <p:nvSpPr>
              <p:cNvPr id="261" name="Google Shape;261;p23"/>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262" name="Google Shape;262;p23"/>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263" name="Google Shape;263;p23"/>
          <p:cNvSpPr txBox="1"/>
          <p:nvPr/>
        </p:nvSpPr>
        <p:spPr>
          <a:xfrm>
            <a:off x="498300" y="5128850"/>
            <a:ext cx="7551600" cy="4608600"/>
          </a:xfrm>
          <a:prstGeom prst="rect">
            <a:avLst/>
          </a:prstGeom>
          <a:noFill/>
          <a:ln>
            <a:noFill/>
          </a:ln>
        </p:spPr>
        <p:txBody>
          <a:bodyPr spcFirstLastPara="1" wrap="square" lIns="91425" tIns="91425" rIns="91425" bIns="91425" anchor="t" anchorCtr="0">
            <a:spAutoFit/>
          </a:bodyPr>
          <a:lstStyle/>
          <a:p>
            <a:pPr marL="0" marR="76200" lvl="0" indent="0" algn="r" rtl="0">
              <a:lnSpc>
                <a:spcPct val="135000"/>
              </a:lnSpc>
              <a:spcBef>
                <a:spcPts val="0"/>
              </a:spcBef>
              <a:spcAft>
                <a:spcPts val="0"/>
              </a:spcAft>
              <a:buNone/>
            </a:pPr>
            <a:r>
              <a:rPr lang="en-US" sz="1200">
                <a:solidFill>
                  <a:srgbClr val="FFF2CC"/>
                </a:solidFill>
              </a:rPr>
              <a:t>[1]</a:t>
            </a: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Sarah Tabassum, Cori Faklaris, and Heather Richter Lipford. What Drives SMiShing Susceptibility? A U.S. Interview Study of How and Why Mobile Phone Users Judge Text Messages to be Real or Fake.</a:t>
            </a:r>
            <a:endParaRPr sz="1200">
              <a:solidFill>
                <a:srgbClr val="FFF2CC"/>
              </a:solidFill>
            </a:endParaRPr>
          </a:p>
          <a:p>
            <a:pPr marL="0" marR="76200" lvl="0" indent="0" algn="r" rtl="0">
              <a:lnSpc>
                <a:spcPct val="135000"/>
              </a:lnSpc>
              <a:spcBef>
                <a:spcPts val="0"/>
              </a:spcBef>
              <a:spcAft>
                <a:spcPts val="0"/>
              </a:spcAft>
              <a:buNone/>
            </a:pPr>
            <a:r>
              <a:rPr lang="en-US" sz="1200">
                <a:solidFill>
                  <a:srgbClr val="FFF2CC"/>
                </a:solidFill>
              </a:rPr>
              <a:t>[2]</a:t>
            </a: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Md Lutfor Rahman, Daniel Timko, Hamid Wali, and Ajaya Neupane. 2023. Users Really Do Respond To Smishing. In </a:t>
            </a:r>
            <a:r>
              <a:rPr lang="en-US" sz="1200" i="1">
                <a:solidFill>
                  <a:srgbClr val="FFF2CC"/>
                </a:solidFill>
              </a:rPr>
              <a:t>Proceedings of the Thirteenth ACM Conference on Data and Application Security and Privacy</a:t>
            </a:r>
            <a:r>
              <a:rPr lang="en-US" sz="1200">
                <a:solidFill>
                  <a:srgbClr val="FFF2CC"/>
                </a:solidFill>
              </a:rPr>
              <a:t> (</a:t>
            </a:r>
            <a:r>
              <a:rPr lang="en-US" sz="1200" i="1">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xmlns:ahyp="http://schemas.microsoft.com/office/drawing/2018/hyperlinkcolor" val="tx"/>
                    </a:ext>
                  </a:extLst>
                </a:hlinkClick>
              </a:rPr>
              <a:t> </a:t>
            </a:r>
            <a:r>
              <a:rPr lang="en-US" sz="1200" u="sng">
                <a:solidFill>
                  <a:srgbClr val="FFF2CC"/>
                </a:solidFill>
                <a:hlinkClick r:id="rId3">
                  <a:extLst>
                    <a:ext uri="{A12FA001-AC4F-418D-AE19-62706E023703}">
                      <ahyp:hlinkClr xmlns:ahyp="http://schemas.microsoft.com/office/drawing/2018/hyperlinkcolor" val="tx"/>
                    </a:ext>
                  </a:extLst>
                </a:hlinkClick>
              </a:rPr>
              <a:t>https://doi.org/10.1145/3577923.3583640</a:t>
            </a:r>
            <a:endParaRPr sz="1200">
              <a:solidFill>
                <a:srgbClr val="FFF2CC"/>
              </a:solidFill>
            </a:endParaRPr>
          </a:p>
          <a:p>
            <a:pPr marL="0" marR="76200" lvl="0" indent="0" algn="r" rtl="0">
              <a:lnSpc>
                <a:spcPct val="135000"/>
              </a:lnSpc>
              <a:spcBef>
                <a:spcPts val="0"/>
              </a:spcBef>
              <a:spcAft>
                <a:spcPts val="0"/>
              </a:spcAft>
              <a:buNone/>
            </a:pPr>
            <a:r>
              <a:rPr lang="en-US" sz="1200">
                <a:solidFill>
                  <a:srgbClr val="FFF2CC"/>
                </a:solidFill>
              </a:rPr>
              <a:t>[3]</a:t>
            </a: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Aaron Zimba, Katongo Phiri, Chimanga Kashale, and Mwiza Phiri. 2025. Unveiling deception: a socio-economic analysis of smishing attacks on mobile money transaction users. </a:t>
            </a:r>
            <a:r>
              <a:rPr lang="en-US" sz="1200" i="1">
                <a:solidFill>
                  <a:srgbClr val="FFF2CC"/>
                </a:solidFill>
              </a:rPr>
              <a:t>Humanit Soc Sci Commun</a:t>
            </a:r>
            <a:r>
              <a:rPr lang="en-US" sz="1200">
                <a:solidFill>
                  <a:srgbClr val="FFF2CC"/>
                </a:solidFill>
              </a:rPr>
              <a:t> 12, 1 (December 2025), 1880.</a:t>
            </a:r>
            <a:r>
              <a:rPr lang="en-US" sz="1200">
                <a:solidFill>
                  <a:srgbClr val="FFF2CC"/>
                </a:solidFill>
                <a:uFill>
                  <a:noFill/>
                </a:uFill>
                <a:hlinkClick r:id="rId4">
                  <a:extLst>
                    <a:ext uri="{A12FA001-AC4F-418D-AE19-62706E023703}">
                      <ahyp:hlinkClr xmlns:ahyp="http://schemas.microsoft.com/office/drawing/2018/hyperlinkcolor" val="tx"/>
                    </a:ext>
                  </a:extLst>
                </a:hlinkClick>
              </a:rPr>
              <a:t> </a:t>
            </a:r>
            <a:r>
              <a:rPr lang="en-US" sz="1200" u="sng">
                <a:solidFill>
                  <a:srgbClr val="FFF2CC"/>
                </a:solidFill>
                <a:hlinkClick r:id="rId4">
                  <a:extLst>
                    <a:ext uri="{A12FA001-AC4F-418D-AE19-62706E023703}">
                      <ahyp:hlinkClr xmlns:ahyp="http://schemas.microsoft.com/office/drawing/2018/hyperlinkcolor" val="tx"/>
                    </a:ext>
                  </a:extLst>
                </a:hlinkClick>
              </a:rPr>
              <a:t>https://doi.org/10.1057/s41599-025-06141-8</a:t>
            </a:r>
            <a:endParaRPr sz="1200">
              <a:solidFill>
                <a:srgbClr val="FFF2CC"/>
              </a:solidFill>
            </a:endParaRPr>
          </a:p>
          <a:p>
            <a:pPr marL="0" marR="76200" lvl="0" indent="0" algn="r" rtl="0">
              <a:lnSpc>
                <a:spcPct val="135000"/>
              </a:lnSpc>
              <a:spcBef>
                <a:spcPts val="0"/>
              </a:spcBef>
              <a:spcAft>
                <a:spcPts val="0"/>
              </a:spcAft>
              <a:buNone/>
            </a:pPr>
            <a:r>
              <a:rPr lang="en-US" sz="1200">
                <a:solidFill>
                  <a:srgbClr val="FFF2CC"/>
                </a:solidFill>
              </a:rPr>
              <a:t>[4]</a:t>
            </a: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Ezer Osei Yeboah-Boateng and Priscilla Mateko Amanor. 2014. Phishing, SMiShing &amp; Vishing: An Assessment of Threats against Mobile Devices. 5, 4 (2014).</a:t>
            </a:r>
            <a:endParaRPr sz="1200">
              <a:solidFill>
                <a:srgbClr val="FFF2CC"/>
              </a:solidFill>
            </a:endParaRPr>
          </a:p>
          <a:p>
            <a:pPr marL="0" marR="50800" lvl="0" indent="0" algn="l" rtl="0">
              <a:lnSpc>
                <a:spcPct val="135000"/>
              </a:lnSpc>
              <a:spcBef>
                <a:spcPts val="0"/>
              </a:spcBef>
              <a:spcAft>
                <a:spcPts val="0"/>
              </a:spcAft>
              <a:buNone/>
            </a:pPr>
            <a:endParaRPr sz="1200" u="sng">
              <a:solidFill>
                <a:srgbClr val="FFF2CC"/>
              </a:solidFill>
            </a:endParaRPr>
          </a:p>
          <a:p>
            <a:pPr marL="215900" marR="50800" lvl="0" indent="0" algn="l" rtl="0">
              <a:lnSpc>
                <a:spcPct val="135000"/>
              </a:lnSpc>
              <a:spcBef>
                <a:spcPts val="0"/>
              </a:spcBef>
              <a:spcAft>
                <a:spcPts val="0"/>
              </a:spcAft>
              <a:buNone/>
            </a:pPr>
            <a:endParaRPr sz="1200">
              <a:solidFill>
                <a:srgbClr val="FFF2CC"/>
              </a:solidFill>
            </a:endParaRPr>
          </a:p>
          <a:p>
            <a:pPr marL="215900" marR="50800" lvl="0" indent="0" algn="l" rtl="0">
              <a:lnSpc>
                <a:spcPct val="135000"/>
              </a:lnSpc>
              <a:spcBef>
                <a:spcPts val="0"/>
              </a:spcBef>
              <a:spcAft>
                <a:spcPts val="0"/>
              </a:spcAft>
              <a:buNone/>
            </a:pPr>
            <a:endParaRPr sz="1200">
              <a:solidFill>
                <a:srgbClr val="FFF2CC"/>
              </a:solidFill>
            </a:endParaRPr>
          </a:p>
        </p:txBody>
      </p:sp>
      <p:pic>
        <p:nvPicPr>
          <p:cNvPr id="264" name="Google Shape;264;p23"/>
          <p:cNvPicPr preferRelativeResize="0"/>
          <p:nvPr/>
        </p:nvPicPr>
        <p:blipFill>
          <a:blip r:embed="rId5">
            <a:alphaModFix/>
          </a:blip>
          <a:stretch>
            <a:fillRect/>
          </a:stretch>
        </p:blipFill>
        <p:spPr>
          <a:xfrm>
            <a:off x="8049900" y="2418150"/>
            <a:ext cx="10101351" cy="6522950"/>
          </a:xfrm>
          <a:prstGeom prst="rect">
            <a:avLst/>
          </a:prstGeom>
          <a:noFill/>
          <a:ln>
            <a:noFill/>
          </a:ln>
        </p:spPr>
      </p:pic>
      <p:sp>
        <p:nvSpPr>
          <p:cNvPr id="265" name="Google Shape;265;p23"/>
          <p:cNvSpPr txBox="1"/>
          <p:nvPr/>
        </p:nvSpPr>
        <p:spPr>
          <a:xfrm>
            <a:off x="9529875" y="4164525"/>
            <a:ext cx="928200" cy="50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n = 23</a:t>
            </a:r>
            <a:endParaRPr sz="1600">
              <a:solidFill>
                <a:schemeClr val="dk1"/>
              </a:solidFill>
              <a:latin typeface="Calibri"/>
              <a:ea typeface="Calibri"/>
              <a:cs typeface="Calibri"/>
              <a:sym typeface="Calibri"/>
            </a:endParaRPr>
          </a:p>
        </p:txBody>
      </p:sp>
      <p:sp>
        <p:nvSpPr>
          <p:cNvPr id="266" name="Google Shape;266;p23"/>
          <p:cNvSpPr txBox="1"/>
          <p:nvPr/>
        </p:nvSpPr>
        <p:spPr>
          <a:xfrm>
            <a:off x="9529865" y="5245002"/>
            <a:ext cx="928200" cy="50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n = 28</a:t>
            </a:r>
            <a:endParaRPr sz="1600">
              <a:solidFill>
                <a:schemeClr val="dk1"/>
              </a:solidFill>
              <a:latin typeface="Calibri"/>
              <a:ea typeface="Calibri"/>
              <a:cs typeface="Calibri"/>
              <a:sym typeface="Calibri"/>
            </a:endParaRPr>
          </a:p>
        </p:txBody>
      </p:sp>
      <p:sp>
        <p:nvSpPr>
          <p:cNvPr id="267" name="Google Shape;267;p23"/>
          <p:cNvSpPr txBox="1"/>
          <p:nvPr/>
        </p:nvSpPr>
        <p:spPr>
          <a:xfrm>
            <a:off x="9560150" y="6446721"/>
            <a:ext cx="928200" cy="50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n = 46</a:t>
            </a:r>
            <a:endParaRPr sz="1600">
              <a:solidFill>
                <a:schemeClr val="dk1"/>
              </a:solidFill>
              <a:latin typeface="Calibri"/>
              <a:ea typeface="Calibri"/>
              <a:cs typeface="Calibri"/>
              <a:sym typeface="Calibri"/>
            </a:endParaRPr>
          </a:p>
        </p:txBody>
      </p:sp>
      <p:sp>
        <p:nvSpPr>
          <p:cNvPr id="268" name="Google Shape;268;p23"/>
          <p:cNvSpPr txBox="1"/>
          <p:nvPr/>
        </p:nvSpPr>
        <p:spPr>
          <a:xfrm>
            <a:off x="9554070" y="7527424"/>
            <a:ext cx="928200" cy="50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n = 128</a:t>
            </a:r>
            <a:endParaRPr sz="1600">
              <a:solidFill>
                <a:schemeClr val="dk1"/>
              </a:solidFill>
              <a:latin typeface="Calibri"/>
              <a:ea typeface="Calibri"/>
              <a:cs typeface="Calibri"/>
              <a:sym typeface="Calibri"/>
            </a:endParaRPr>
          </a:p>
        </p:txBody>
      </p:sp>
      <p:sp>
        <p:nvSpPr>
          <p:cNvPr id="269" name="Google Shape;269;p23"/>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11</a:t>
            </a:fld>
            <a:endParaRPr sz="2000" b="1">
              <a:solidFill>
                <a:schemeClr val="lt1"/>
              </a:solidFill>
            </a:endParaRPr>
          </a:p>
        </p:txBody>
      </p:sp>
      <p:sp>
        <p:nvSpPr>
          <p:cNvPr id="270" name="Google Shape;270;p23"/>
          <p:cNvSpPr txBox="1"/>
          <p:nvPr/>
        </p:nvSpPr>
        <p:spPr>
          <a:xfrm>
            <a:off x="8387025" y="9055300"/>
            <a:ext cx="9117900" cy="1117500"/>
          </a:xfrm>
          <a:prstGeom prst="rect">
            <a:avLst/>
          </a:prstGeom>
          <a:noFill/>
          <a:ln>
            <a:noFill/>
          </a:ln>
        </p:spPr>
        <p:txBody>
          <a:bodyPr spcFirstLastPara="1" wrap="square" lIns="91425" tIns="91425" rIns="91425" bIns="91425" anchor="t" anchorCtr="0">
            <a:spAutoFit/>
          </a:bodyPr>
          <a:lstStyle/>
          <a:p>
            <a:pPr marL="0" marR="76200" lvl="0" indent="0" algn="l" rtl="0">
              <a:lnSpc>
                <a:spcPct val="135000"/>
              </a:lnSpc>
              <a:spcBef>
                <a:spcPts val="0"/>
              </a:spcBef>
              <a:spcAft>
                <a:spcPts val="0"/>
              </a:spcAft>
              <a:buNone/>
            </a:pPr>
            <a:r>
              <a:rPr lang="en-US" sz="1200">
                <a:solidFill>
                  <a:srgbClr val="FFF2CC"/>
                </a:solidFill>
              </a:rPr>
              <a:t>Chart created by the author (Brian Mellinger)</a:t>
            </a:r>
            <a:endParaRPr sz="1200">
              <a:solidFill>
                <a:srgbClr val="FFF2CC"/>
              </a:solidFill>
            </a:endParaRPr>
          </a:p>
          <a:p>
            <a:pPr marL="215900" marR="50800" lvl="0" indent="0" algn="l" rtl="0">
              <a:lnSpc>
                <a:spcPct val="135000"/>
              </a:lnSpc>
              <a:spcBef>
                <a:spcPts val="0"/>
              </a:spcBef>
              <a:spcAft>
                <a:spcPts val="0"/>
              </a:spcAft>
              <a:buNone/>
            </a:pPr>
            <a:r>
              <a:rPr lang="en-US" sz="1200">
                <a:solidFill>
                  <a:srgbClr val="FFF2CC"/>
                </a:solidFill>
              </a:rPr>
              <a:t>Data from: Md Lutfor Rahman, Daniel Timko, Hamid Wali, and Ajaya Neupane. 2023. Users Really Do Respond To Smishing. In </a:t>
            </a:r>
            <a:r>
              <a:rPr lang="en-US" sz="1200" i="1">
                <a:solidFill>
                  <a:srgbClr val="FFF2CC"/>
                </a:solidFill>
              </a:rPr>
              <a:t>Proceedings of the Thirteenth ACM Conference on Data and Application Security and Privacy</a:t>
            </a:r>
            <a:r>
              <a:rPr lang="en-US" sz="1200">
                <a:solidFill>
                  <a:srgbClr val="FFF2CC"/>
                </a:solidFill>
              </a:rPr>
              <a:t> (</a:t>
            </a:r>
            <a:r>
              <a:rPr lang="en-US" sz="1200" i="1">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xmlns:ahyp="http://schemas.microsoft.com/office/drawing/2018/hyperlinkcolor" val="tx"/>
                    </a:ext>
                  </a:extLst>
                </a:hlinkClick>
              </a:rPr>
              <a:t> </a:t>
            </a:r>
            <a:r>
              <a:rPr lang="en-US" sz="1200" u="sng">
                <a:solidFill>
                  <a:srgbClr val="FFF2CC"/>
                </a:solidFill>
                <a:hlinkClick r:id="rId3">
                  <a:extLst>
                    <a:ext uri="{A12FA001-AC4F-418D-AE19-62706E023703}">
                      <ahyp:hlinkClr xmlns:ahyp="http://schemas.microsoft.com/office/drawing/2018/hyperlinkcolor" val="tx"/>
                    </a:ext>
                  </a:extLst>
                </a:hlinkClick>
              </a:rPr>
              <a:t>https://doi.org/10.1145/3577923.3583640</a:t>
            </a:r>
            <a:endParaRPr sz="1200" u="sng">
              <a:solidFill>
                <a:srgbClr val="FFF2CC"/>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274"/>
        <p:cNvGrpSpPr/>
        <p:nvPr/>
      </p:nvGrpSpPr>
      <p:grpSpPr>
        <a:xfrm>
          <a:off x="0" y="0"/>
          <a:ext cx="0" cy="0"/>
          <a:chOff x="0" y="0"/>
          <a:chExt cx="0" cy="0"/>
        </a:xfrm>
      </p:grpSpPr>
      <p:sp>
        <p:nvSpPr>
          <p:cNvPr id="275" name="Google Shape;275;p24"/>
          <p:cNvSpPr txBox="1"/>
          <p:nvPr/>
        </p:nvSpPr>
        <p:spPr>
          <a:xfrm>
            <a:off x="1587787" y="1304162"/>
            <a:ext cx="15112500" cy="692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sz="4500">
                <a:solidFill>
                  <a:schemeClr val="lt1"/>
                </a:solidFill>
                <a:latin typeface="Calibri"/>
                <a:ea typeface="Calibri"/>
                <a:cs typeface="Calibri"/>
                <a:sym typeface="Calibri"/>
              </a:rPr>
              <a:t>RQ2: How effective is smishing mitigation?</a:t>
            </a:r>
            <a:endParaRPr sz="4500"/>
          </a:p>
        </p:txBody>
      </p:sp>
      <p:sp>
        <p:nvSpPr>
          <p:cNvPr id="276" name="Google Shape;276;p24"/>
          <p:cNvSpPr txBox="1"/>
          <p:nvPr/>
        </p:nvSpPr>
        <p:spPr>
          <a:xfrm>
            <a:off x="635050" y="2531525"/>
            <a:ext cx="16746300" cy="7002900"/>
          </a:xfrm>
          <a:prstGeom prst="rect">
            <a:avLst/>
          </a:prstGeom>
          <a:noFill/>
          <a:ln>
            <a:noFill/>
          </a:ln>
        </p:spPr>
        <p:txBody>
          <a:bodyPr spcFirstLastPara="1" wrap="square" lIns="91425" tIns="91425" rIns="91425" bIns="91425" anchor="t" anchorCtr="0">
            <a:noAutofit/>
          </a:bodyPr>
          <a:lstStyle/>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Machine Learning?</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Cybersmish (multi-analysis)</a:t>
            </a:r>
            <a:r>
              <a:rPr lang="en-US" sz="3200" baseline="30000">
                <a:solidFill>
                  <a:schemeClr val="lt1"/>
                </a:solidFill>
                <a:latin typeface="Calibri"/>
                <a:ea typeface="Calibri"/>
                <a:cs typeface="Calibri"/>
                <a:sym typeface="Calibri"/>
              </a:rPr>
              <a:t>1</a:t>
            </a:r>
            <a:r>
              <a:rPr lang="en-US" sz="3200">
                <a:solidFill>
                  <a:schemeClr val="lt1"/>
                </a:solidFill>
                <a:latin typeface="Calibri"/>
                <a:ea typeface="Calibri"/>
                <a:cs typeface="Calibri"/>
                <a:sym typeface="Calibri"/>
              </a:rPr>
              <a:t> → 95.5%</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SmiDCA (noun classifier)</a:t>
            </a:r>
            <a:r>
              <a:rPr lang="en-US" sz="3200" baseline="30000">
                <a:solidFill>
                  <a:schemeClr val="lt1"/>
                </a:solidFill>
                <a:latin typeface="Calibri"/>
                <a:ea typeface="Calibri"/>
                <a:cs typeface="Calibri"/>
                <a:sym typeface="Calibri"/>
              </a:rPr>
              <a:t>2 </a:t>
            </a:r>
            <a:r>
              <a:rPr lang="en-US" sz="3200">
                <a:solidFill>
                  <a:schemeClr val="lt1"/>
                </a:solidFill>
                <a:latin typeface="Calibri"/>
                <a:ea typeface="Calibri"/>
                <a:cs typeface="Calibri"/>
                <a:sym typeface="Calibri"/>
              </a:rPr>
              <a:t>→ 96.4%</a:t>
            </a:r>
            <a:endParaRPr sz="3200" baseline="300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Laws? (U.S.)</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TCPA</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CAN-SPAM</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TRACED act</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p:txBody>
      </p:sp>
      <p:grpSp>
        <p:nvGrpSpPr>
          <p:cNvPr id="277" name="Google Shape;277;p24"/>
          <p:cNvGrpSpPr/>
          <p:nvPr/>
        </p:nvGrpSpPr>
        <p:grpSpPr>
          <a:xfrm>
            <a:off x="3" y="8941096"/>
            <a:ext cx="3498292" cy="1345904"/>
            <a:chOff x="9355875" y="3095472"/>
            <a:chExt cx="7344723" cy="2109898"/>
          </a:xfrm>
        </p:grpSpPr>
        <p:grpSp>
          <p:nvGrpSpPr>
            <p:cNvPr id="278" name="Google Shape;278;p24"/>
            <p:cNvGrpSpPr/>
            <p:nvPr/>
          </p:nvGrpSpPr>
          <p:grpSpPr>
            <a:xfrm>
              <a:off x="9355875" y="3095472"/>
              <a:ext cx="7344723" cy="2109898"/>
              <a:chOff x="3" y="-76198"/>
              <a:chExt cx="1934400" cy="555690"/>
            </a:xfrm>
          </p:grpSpPr>
          <p:sp>
            <p:nvSpPr>
              <p:cNvPr id="279" name="Google Shape;279;p24"/>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280" name="Google Shape;280;p24"/>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281" name="Google Shape;281;p24"/>
            <p:cNvGrpSpPr/>
            <p:nvPr/>
          </p:nvGrpSpPr>
          <p:grpSpPr>
            <a:xfrm>
              <a:off x="9846841" y="3934710"/>
              <a:ext cx="6362346" cy="981415"/>
              <a:chOff x="-28" y="-238745"/>
              <a:chExt cx="8483128" cy="1308553"/>
            </a:xfrm>
          </p:grpSpPr>
          <p:sp>
            <p:nvSpPr>
              <p:cNvPr id="282" name="Google Shape;282;p24"/>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283" name="Google Shape;283;p24"/>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284" name="Google Shape;284;p24"/>
          <p:cNvSpPr txBox="1"/>
          <p:nvPr/>
        </p:nvSpPr>
        <p:spPr>
          <a:xfrm>
            <a:off x="757125" y="6569800"/>
            <a:ext cx="8895000" cy="2182500"/>
          </a:xfrm>
          <a:prstGeom prst="rect">
            <a:avLst/>
          </a:prstGeom>
          <a:noFill/>
          <a:ln>
            <a:noFill/>
          </a:ln>
        </p:spPr>
        <p:txBody>
          <a:bodyPr spcFirstLastPara="1" wrap="square" lIns="91425" tIns="91425" rIns="91425" bIns="91425" anchor="t" anchorCtr="0">
            <a:spAutoFit/>
          </a:bodyPr>
          <a:lstStyle/>
          <a:p>
            <a:pPr marL="0" marR="76200" lvl="0" indent="0" algn="r" rtl="0">
              <a:lnSpc>
                <a:spcPct val="135000"/>
              </a:lnSpc>
              <a:spcBef>
                <a:spcPts val="0"/>
              </a:spcBef>
              <a:spcAft>
                <a:spcPts val="0"/>
              </a:spcAft>
              <a:buNone/>
            </a:pPr>
            <a:r>
              <a:rPr lang="en-US" sz="1100">
                <a:solidFill>
                  <a:srgbClr val="FFF2CC"/>
                </a:solidFill>
              </a:rPr>
              <a:t>[1]</a:t>
            </a:r>
            <a:endParaRPr sz="1100">
              <a:solidFill>
                <a:srgbClr val="FFF2CC"/>
              </a:solidFill>
            </a:endParaRPr>
          </a:p>
          <a:p>
            <a:pPr marL="215900" marR="50800" lvl="0" indent="0" algn="l" rtl="0">
              <a:lnSpc>
                <a:spcPct val="135000"/>
              </a:lnSpc>
              <a:spcBef>
                <a:spcPts val="0"/>
              </a:spcBef>
              <a:spcAft>
                <a:spcPts val="0"/>
              </a:spcAft>
              <a:buNone/>
            </a:pPr>
            <a:r>
              <a:rPr lang="en-US" sz="1100">
                <a:solidFill>
                  <a:srgbClr val="FFF2CC"/>
                </a:solidFill>
              </a:rPr>
              <a:t>W. L. T. T. N. Kumarasiri, M. K. J. C. Siriwardhana, S. A. D. S. L. Suraweera, A. N. Senarathne, and S. M. B. Harshanath. 2023. Cybersmish: A Proactive Approach for Smishing Detection and Prevention using Machine Learning. In </a:t>
            </a:r>
            <a:r>
              <a:rPr lang="en-US" sz="1100" i="1">
                <a:solidFill>
                  <a:srgbClr val="FFF2CC"/>
                </a:solidFill>
              </a:rPr>
              <a:t>2023 7th International Conference on I-SMAC (IoT in Social, Mobile, Analytics and Cloud) (I-SMAC)</a:t>
            </a:r>
            <a:r>
              <a:rPr lang="en-US" sz="1100">
                <a:solidFill>
                  <a:srgbClr val="FFF2CC"/>
                </a:solidFill>
              </a:rPr>
              <a:t>, October 2023. 210–217.</a:t>
            </a:r>
            <a:r>
              <a:rPr lang="en-US" sz="1100">
                <a:solidFill>
                  <a:srgbClr val="FFF2CC"/>
                </a:solidFill>
                <a:uFill>
                  <a:noFill/>
                </a:uFill>
                <a:hlinkClick r:id="rId3">
                  <a:extLst>
                    <a:ext uri="{A12FA001-AC4F-418D-AE19-62706E023703}">
                      <ahyp:hlinkClr xmlns:ahyp="http://schemas.microsoft.com/office/drawing/2018/hyperlinkcolor" val="tx"/>
                    </a:ext>
                  </a:extLst>
                </a:hlinkClick>
              </a:rPr>
              <a:t> </a:t>
            </a:r>
            <a:r>
              <a:rPr lang="en-US" sz="1100" u="sng">
                <a:solidFill>
                  <a:srgbClr val="FFF2CC"/>
                </a:solidFill>
                <a:hlinkClick r:id="rId3">
                  <a:extLst>
                    <a:ext uri="{A12FA001-AC4F-418D-AE19-62706E023703}">
                      <ahyp:hlinkClr xmlns:ahyp="http://schemas.microsoft.com/office/drawing/2018/hyperlinkcolor" val="tx"/>
                    </a:ext>
                  </a:extLst>
                </a:hlinkClick>
              </a:rPr>
              <a:t>https://doi.org/10.1109/I-SMAC58438.2023.10290228</a:t>
            </a:r>
            <a:endParaRPr sz="1100" u="sng">
              <a:solidFill>
                <a:srgbClr val="FFF2CC"/>
              </a:solidFill>
            </a:endParaRPr>
          </a:p>
          <a:p>
            <a:pPr marL="215900" marR="50800" lvl="0" indent="0" algn="l" rtl="0">
              <a:lnSpc>
                <a:spcPct val="135000"/>
              </a:lnSpc>
              <a:spcBef>
                <a:spcPts val="0"/>
              </a:spcBef>
              <a:spcAft>
                <a:spcPts val="0"/>
              </a:spcAft>
              <a:buNone/>
            </a:pPr>
            <a:endParaRPr sz="1100">
              <a:solidFill>
                <a:srgbClr val="FFF2CC"/>
              </a:solidFill>
            </a:endParaRPr>
          </a:p>
          <a:p>
            <a:pPr marL="0" marR="76200" lvl="0" indent="0" algn="r" rtl="0">
              <a:lnSpc>
                <a:spcPct val="135000"/>
              </a:lnSpc>
              <a:spcBef>
                <a:spcPts val="0"/>
              </a:spcBef>
              <a:spcAft>
                <a:spcPts val="0"/>
              </a:spcAft>
              <a:buNone/>
            </a:pPr>
            <a:r>
              <a:rPr lang="en-US" sz="1100">
                <a:solidFill>
                  <a:srgbClr val="FFF2CC"/>
                </a:solidFill>
              </a:rPr>
              <a:t>[2]</a:t>
            </a:r>
            <a:endParaRPr sz="1100">
              <a:solidFill>
                <a:srgbClr val="FFF2CC"/>
              </a:solidFill>
            </a:endParaRPr>
          </a:p>
          <a:p>
            <a:pPr marL="215900" marR="50800" lvl="0" indent="0" algn="l" rtl="0">
              <a:lnSpc>
                <a:spcPct val="135000"/>
              </a:lnSpc>
              <a:spcBef>
                <a:spcPts val="0"/>
              </a:spcBef>
              <a:spcAft>
                <a:spcPts val="0"/>
              </a:spcAft>
              <a:buNone/>
            </a:pPr>
            <a:r>
              <a:rPr lang="en-US" sz="1100">
                <a:solidFill>
                  <a:srgbClr val="FFF2CC"/>
                </a:solidFill>
              </a:rPr>
              <a:t>Gunikhan Sonowal and K S Kuppusamy. 2018. SmiDCA: An Anti-Smishing Model with Machine Learning Approach. </a:t>
            </a:r>
            <a:r>
              <a:rPr lang="en-US" sz="1100" i="1">
                <a:solidFill>
                  <a:srgbClr val="FFF2CC"/>
                </a:solidFill>
              </a:rPr>
              <a:t>Comput J</a:t>
            </a:r>
            <a:r>
              <a:rPr lang="en-US" sz="1100">
                <a:solidFill>
                  <a:srgbClr val="FFF2CC"/>
                </a:solidFill>
              </a:rPr>
              <a:t> 61, 8 (August 2018), 1143–1157.</a:t>
            </a:r>
            <a:r>
              <a:rPr lang="en-US" sz="1100">
                <a:solidFill>
                  <a:srgbClr val="FFF2CC"/>
                </a:solidFill>
                <a:uFill>
                  <a:noFill/>
                </a:uFill>
                <a:hlinkClick r:id="rId4">
                  <a:extLst>
                    <a:ext uri="{A12FA001-AC4F-418D-AE19-62706E023703}">
                      <ahyp:hlinkClr xmlns:ahyp="http://schemas.microsoft.com/office/drawing/2018/hyperlinkcolor" val="tx"/>
                    </a:ext>
                  </a:extLst>
                </a:hlinkClick>
              </a:rPr>
              <a:t> </a:t>
            </a:r>
            <a:r>
              <a:rPr lang="en-US" sz="1100" u="sng">
                <a:solidFill>
                  <a:srgbClr val="FFF2CC"/>
                </a:solidFill>
                <a:hlinkClick r:id="rId4">
                  <a:extLst>
                    <a:ext uri="{A12FA001-AC4F-418D-AE19-62706E023703}">
                      <ahyp:hlinkClr xmlns:ahyp="http://schemas.microsoft.com/office/drawing/2018/hyperlinkcolor" val="tx"/>
                    </a:ext>
                  </a:extLst>
                </a:hlinkClick>
              </a:rPr>
              <a:t>https://doi.org/10.1093/comjnl/bxy039</a:t>
            </a:r>
            <a:endParaRPr sz="1100" u="sng">
              <a:solidFill>
                <a:srgbClr val="FFF2CC"/>
              </a:solidFill>
            </a:endParaRPr>
          </a:p>
        </p:txBody>
      </p:sp>
      <p:pic>
        <p:nvPicPr>
          <p:cNvPr id="285" name="Google Shape;285;p24"/>
          <p:cNvPicPr preferRelativeResize="0"/>
          <p:nvPr/>
        </p:nvPicPr>
        <p:blipFill>
          <a:blip r:embed="rId5">
            <a:alphaModFix/>
          </a:blip>
          <a:stretch>
            <a:fillRect/>
          </a:stretch>
        </p:blipFill>
        <p:spPr>
          <a:xfrm>
            <a:off x="9880457" y="2820475"/>
            <a:ext cx="8184743" cy="4311050"/>
          </a:xfrm>
          <a:prstGeom prst="rect">
            <a:avLst/>
          </a:prstGeom>
          <a:noFill/>
          <a:ln>
            <a:noFill/>
          </a:ln>
        </p:spPr>
      </p:pic>
      <p:sp>
        <p:nvSpPr>
          <p:cNvPr id="286" name="Google Shape;286;p24"/>
          <p:cNvSpPr txBox="1"/>
          <p:nvPr/>
        </p:nvSpPr>
        <p:spPr>
          <a:xfrm>
            <a:off x="10733275" y="7672700"/>
            <a:ext cx="6990000" cy="1268400"/>
          </a:xfrm>
          <a:prstGeom prst="rect">
            <a:avLst/>
          </a:prstGeom>
          <a:noFill/>
          <a:ln>
            <a:noFill/>
          </a:ln>
        </p:spPr>
        <p:txBody>
          <a:bodyPr spcFirstLastPara="1" wrap="square" lIns="91425" tIns="91425" rIns="91425" bIns="91425" anchor="t" anchorCtr="0">
            <a:spAutoFit/>
          </a:bodyPr>
          <a:lstStyle/>
          <a:p>
            <a:pPr marL="0" marR="50800" lvl="0" indent="0" algn="l" rtl="0">
              <a:lnSpc>
                <a:spcPct val="135000"/>
              </a:lnSpc>
              <a:spcBef>
                <a:spcPts val="0"/>
              </a:spcBef>
              <a:spcAft>
                <a:spcPts val="0"/>
              </a:spcAft>
              <a:buNone/>
            </a:pPr>
            <a:r>
              <a:rPr lang="en-US" sz="1100">
                <a:solidFill>
                  <a:srgbClr val="FFF2CC"/>
                </a:solidFill>
              </a:rPr>
              <a:t>Image retrieved via: Seyed Mohammad Sanjari, Ashfak Md Shibli, Maraz Mia, Maanak Gupta, and Mir Mehedi Ahsan Pritom. 2025. SmishViz: Towards A Graph-based Visualization System for Monitoring and Characterizing Ongoing Smishing Threats. In </a:t>
            </a:r>
            <a:r>
              <a:rPr lang="en-US" sz="1100" i="1">
                <a:solidFill>
                  <a:srgbClr val="FFF2CC"/>
                </a:solidFill>
              </a:rPr>
              <a:t>Proceedings of the Fifteenth ACM Conference on Data and Application Security and Privacy</a:t>
            </a:r>
            <a:r>
              <a:rPr lang="en-US" sz="1100">
                <a:solidFill>
                  <a:srgbClr val="FFF2CC"/>
                </a:solidFill>
              </a:rPr>
              <a:t> (</a:t>
            </a:r>
            <a:r>
              <a:rPr lang="en-US" sz="1100" i="1">
                <a:solidFill>
                  <a:srgbClr val="FFF2CC"/>
                </a:solidFill>
              </a:rPr>
              <a:t>CODASPY ’25</a:t>
            </a:r>
            <a:r>
              <a:rPr lang="en-US" sz="1100">
                <a:solidFill>
                  <a:srgbClr val="FFF2CC"/>
                </a:solidFill>
              </a:rPr>
              <a:t>), June 04, 2025. Association for Computing Machinery, New York, NY, USA, 257–268.</a:t>
            </a:r>
            <a:r>
              <a:rPr lang="en-US" sz="1100">
                <a:solidFill>
                  <a:srgbClr val="FFF2CC"/>
                </a:solidFill>
                <a:uFill>
                  <a:noFill/>
                </a:uFill>
                <a:hlinkClick r:id="rId6">
                  <a:extLst>
                    <a:ext uri="{A12FA001-AC4F-418D-AE19-62706E023703}">
                      <ahyp:hlinkClr xmlns:ahyp="http://schemas.microsoft.com/office/drawing/2018/hyperlinkcolor" val="tx"/>
                    </a:ext>
                  </a:extLst>
                </a:hlinkClick>
              </a:rPr>
              <a:t> </a:t>
            </a:r>
            <a:r>
              <a:rPr lang="en-US" sz="1100" u="sng">
                <a:solidFill>
                  <a:srgbClr val="FFF2CC"/>
                </a:solidFill>
                <a:hlinkClick r:id="rId6">
                  <a:extLst>
                    <a:ext uri="{A12FA001-AC4F-418D-AE19-62706E023703}">
                      <ahyp:hlinkClr xmlns:ahyp="http://schemas.microsoft.com/office/drawing/2018/hyperlinkcolor" val="tx"/>
                    </a:ext>
                  </a:extLst>
                </a:hlinkClick>
              </a:rPr>
              <a:t>https://doi.org/10.1145/3714393.3726499</a:t>
            </a:r>
            <a:endParaRPr sz="1100" u="sng">
              <a:solidFill>
                <a:srgbClr val="FFF2CC"/>
              </a:solidFill>
            </a:endParaRPr>
          </a:p>
        </p:txBody>
      </p:sp>
      <p:sp>
        <p:nvSpPr>
          <p:cNvPr id="287" name="Google Shape;287;p24"/>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12</a:t>
            </a:fld>
            <a:endParaRPr sz="2000" b="1">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291"/>
        <p:cNvGrpSpPr/>
        <p:nvPr/>
      </p:nvGrpSpPr>
      <p:grpSpPr>
        <a:xfrm>
          <a:off x="0" y="0"/>
          <a:ext cx="0" cy="0"/>
          <a:chOff x="0" y="0"/>
          <a:chExt cx="0" cy="0"/>
        </a:xfrm>
      </p:grpSpPr>
      <p:sp>
        <p:nvSpPr>
          <p:cNvPr id="292" name="Google Shape;292;p25"/>
          <p:cNvSpPr txBox="1"/>
          <p:nvPr/>
        </p:nvSpPr>
        <p:spPr>
          <a:xfrm>
            <a:off x="1587787" y="1304162"/>
            <a:ext cx="15112500" cy="692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US" sz="4500">
                <a:solidFill>
                  <a:schemeClr val="lt1"/>
                </a:solidFill>
                <a:latin typeface="Calibri"/>
                <a:ea typeface="Calibri"/>
                <a:cs typeface="Calibri"/>
                <a:sym typeface="Calibri"/>
              </a:rPr>
              <a:t>RQ3: What gaps exist in current smishing defenses?</a:t>
            </a:r>
            <a:endParaRPr sz="4500"/>
          </a:p>
        </p:txBody>
      </p:sp>
      <p:sp>
        <p:nvSpPr>
          <p:cNvPr id="293" name="Google Shape;293;p25"/>
          <p:cNvSpPr txBox="1"/>
          <p:nvPr/>
        </p:nvSpPr>
        <p:spPr>
          <a:xfrm>
            <a:off x="635050" y="2433825"/>
            <a:ext cx="16746300" cy="6507300"/>
          </a:xfrm>
          <a:prstGeom prst="rect">
            <a:avLst/>
          </a:prstGeom>
          <a:noFill/>
          <a:ln>
            <a:noFill/>
          </a:ln>
        </p:spPr>
        <p:txBody>
          <a:bodyPr spcFirstLastPara="1" wrap="square" lIns="91425" tIns="91425" rIns="91425" bIns="91425" anchor="t" anchorCtr="0">
            <a:noAutofit/>
          </a:bodyPr>
          <a:lstStyle/>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laws specific to smishing</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The machine learning issue</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psychological research</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Ecosystem level phishing defenses</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Reporting and user support failures</a:t>
            </a:r>
            <a:endParaRPr sz="3200">
              <a:solidFill>
                <a:schemeClr val="lt1"/>
              </a:solidFill>
              <a:latin typeface="Calibri"/>
              <a:ea typeface="Calibri"/>
              <a:cs typeface="Calibri"/>
              <a:sym typeface="Calibri"/>
            </a:endParaRPr>
          </a:p>
        </p:txBody>
      </p:sp>
      <p:grpSp>
        <p:nvGrpSpPr>
          <p:cNvPr id="294" name="Google Shape;294;p25"/>
          <p:cNvGrpSpPr/>
          <p:nvPr/>
        </p:nvGrpSpPr>
        <p:grpSpPr>
          <a:xfrm>
            <a:off x="3" y="8941096"/>
            <a:ext cx="3498292" cy="1345904"/>
            <a:chOff x="9355875" y="3095472"/>
            <a:chExt cx="7344723" cy="2109898"/>
          </a:xfrm>
        </p:grpSpPr>
        <p:grpSp>
          <p:nvGrpSpPr>
            <p:cNvPr id="295" name="Google Shape;295;p25"/>
            <p:cNvGrpSpPr/>
            <p:nvPr/>
          </p:nvGrpSpPr>
          <p:grpSpPr>
            <a:xfrm>
              <a:off x="9355875" y="3095472"/>
              <a:ext cx="7344723" cy="2109898"/>
              <a:chOff x="3" y="-76198"/>
              <a:chExt cx="1934400" cy="555690"/>
            </a:xfrm>
          </p:grpSpPr>
          <p:sp>
            <p:nvSpPr>
              <p:cNvPr id="296" name="Google Shape;296;p25"/>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297" name="Google Shape;297;p25"/>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298" name="Google Shape;298;p25"/>
            <p:cNvGrpSpPr/>
            <p:nvPr/>
          </p:nvGrpSpPr>
          <p:grpSpPr>
            <a:xfrm>
              <a:off x="9846841" y="3934710"/>
              <a:ext cx="6362346" cy="981415"/>
              <a:chOff x="-28" y="-238745"/>
              <a:chExt cx="8483128" cy="1308553"/>
            </a:xfrm>
          </p:grpSpPr>
          <p:sp>
            <p:nvSpPr>
              <p:cNvPr id="299" name="Google Shape;299;p25"/>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300" name="Google Shape;300;p25"/>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301" name="Google Shape;301;p25"/>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13</a:t>
            </a:fld>
            <a:endParaRPr sz="2000" b="1">
              <a:solidFill>
                <a:schemeClr val="lt1"/>
              </a:solidFill>
            </a:endParaRPr>
          </a:p>
        </p:txBody>
      </p:sp>
      <p:sp>
        <p:nvSpPr>
          <p:cNvPr id="302" name="Google Shape;302;p25"/>
          <p:cNvSpPr txBox="1"/>
          <p:nvPr/>
        </p:nvSpPr>
        <p:spPr>
          <a:xfrm>
            <a:off x="4264875" y="9255875"/>
            <a:ext cx="11013000" cy="70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a:solidFill>
                  <a:srgbClr val="FFF2CC"/>
                </a:solidFill>
              </a:rPr>
              <a:t>Synthesized by the author’s (Brian Mellinger) working literature review “The Evolution of SMiShing: A Literature Review of Coordinated THreats, Psychological Triggers, and Multi-Domain Defense Strategies</a:t>
            </a:r>
            <a:endParaRPr sz="1100">
              <a:solidFill>
                <a:srgbClr val="FFF2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306"/>
        <p:cNvGrpSpPr/>
        <p:nvPr/>
      </p:nvGrpSpPr>
      <p:grpSpPr>
        <a:xfrm>
          <a:off x="0" y="0"/>
          <a:ext cx="0" cy="0"/>
          <a:chOff x="0" y="0"/>
          <a:chExt cx="0" cy="0"/>
        </a:xfrm>
      </p:grpSpPr>
      <p:sp>
        <p:nvSpPr>
          <p:cNvPr id="307" name="Google Shape;307;p26"/>
          <p:cNvSpPr txBox="1"/>
          <p:nvPr/>
        </p:nvSpPr>
        <p:spPr>
          <a:xfrm>
            <a:off x="1587787" y="1304162"/>
            <a:ext cx="15112500" cy="692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100"/>
              <a:buNone/>
            </a:pPr>
            <a:r>
              <a:rPr lang="en-US" sz="4500">
                <a:solidFill>
                  <a:schemeClr val="lt1"/>
                </a:solidFill>
                <a:latin typeface="Calibri"/>
                <a:ea typeface="Calibri"/>
                <a:cs typeface="Calibri"/>
                <a:sym typeface="Calibri"/>
              </a:rPr>
              <a:t>RQ3: What gaps exist in current smishing defenses?</a:t>
            </a:r>
            <a:endParaRPr sz="4500"/>
          </a:p>
        </p:txBody>
      </p:sp>
      <p:sp>
        <p:nvSpPr>
          <p:cNvPr id="308" name="Google Shape;308;p26"/>
          <p:cNvSpPr txBox="1"/>
          <p:nvPr/>
        </p:nvSpPr>
        <p:spPr>
          <a:xfrm>
            <a:off x="635050" y="2433825"/>
            <a:ext cx="16746300" cy="6507300"/>
          </a:xfrm>
          <a:prstGeom prst="rect">
            <a:avLst/>
          </a:prstGeom>
          <a:noFill/>
          <a:ln>
            <a:noFill/>
          </a:ln>
        </p:spPr>
        <p:txBody>
          <a:bodyPr spcFirstLastPara="1" wrap="square" lIns="91425" tIns="91425" rIns="91425" bIns="91425" anchor="t" anchorCtr="0">
            <a:noAutofit/>
          </a:bodyPr>
          <a:lstStyle/>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laws specific to smishing</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The machine learning issue</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psychological research</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Ecosystem level phishing defenses</a:t>
            </a:r>
            <a:endParaRPr sz="3200">
              <a:solidFill>
                <a:schemeClr val="lt1"/>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lt1"/>
              </a:solidFill>
              <a:latin typeface="Calibri"/>
              <a:ea typeface="Calibri"/>
              <a:cs typeface="Calibri"/>
              <a:sym typeface="Calibri"/>
            </a:endParaRPr>
          </a:p>
          <a:p>
            <a:pPr marL="457200" lvl="0" indent="-431800" algn="l" rtl="0">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Reporting and user support failures</a:t>
            </a:r>
            <a:endParaRPr sz="3200">
              <a:solidFill>
                <a:schemeClr val="lt1"/>
              </a:solidFill>
              <a:latin typeface="Calibri"/>
              <a:ea typeface="Calibri"/>
              <a:cs typeface="Calibri"/>
              <a:sym typeface="Calibri"/>
            </a:endParaRPr>
          </a:p>
        </p:txBody>
      </p:sp>
      <p:grpSp>
        <p:nvGrpSpPr>
          <p:cNvPr id="309" name="Google Shape;309;p26"/>
          <p:cNvGrpSpPr/>
          <p:nvPr/>
        </p:nvGrpSpPr>
        <p:grpSpPr>
          <a:xfrm>
            <a:off x="3" y="8941096"/>
            <a:ext cx="3498292" cy="1345904"/>
            <a:chOff x="9355875" y="3095472"/>
            <a:chExt cx="7344723" cy="2109898"/>
          </a:xfrm>
        </p:grpSpPr>
        <p:grpSp>
          <p:nvGrpSpPr>
            <p:cNvPr id="310" name="Google Shape;310;p26"/>
            <p:cNvGrpSpPr/>
            <p:nvPr/>
          </p:nvGrpSpPr>
          <p:grpSpPr>
            <a:xfrm>
              <a:off x="9355875" y="3095472"/>
              <a:ext cx="7344723" cy="2109898"/>
              <a:chOff x="3" y="-76198"/>
              <a:chExt cx="1934400" cy="555690"/>
            </a:xfrm>
          </p:grpSpPr>
          <p:sp>
            <p:nvSpPr>
              <p:cNvPr id="311" name="Google Shape;311;p26"/>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312" name="Google Shape;312;p26"/>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313" name="Google Shape;313;p26"/>
            <p:cNvGrpSpPr/>
            <p:nvPr/>
          </p:nvGrpSpPr>
          <p:grpSpPr>
            <a:xfrm>
              <a:off x="9846841" y="3934710"/>
              <a:ext cx="6362346" cy="981415"/>
              <a:chOff x="-28" y="-238745"/>
              <a:chExt cx="8483128" cy="1308553"/>
            </a:xfrm>
          </p:grpSpPr>
          <p:sp>
            <p:nvSpPr>
              <p:cNvPr id="314" name="Google Shape;314;p26"/>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Research</a:t>
                </a:r>
                <a:endParaRPr sz="1735"/>
              </a:p>
            </p:txBody>
          </p:sp>
          <p:sp>
            <p:nvSpPr>
              <p:cNvPr id="315" name="Google Shape;315;p26"/>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316" name="Google Shape;316;p26"/>
          <p:cNvSpPr txBox="1"/>
          <p:nvPr/>
        </p:nvSpPr>
        <p:spPr>
          <a:xfrm>
            <a:off x="7209700" y="1421435"/>
            <a:ext cx="11234700" cy="569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0000" b="1">
                <a:solidFill>
                  <a:schemeClr val="lt1"/>
                </a:solidFill>
                <a:latin typeface="Calibri"/>
                <a:ea typeface="Calibri"/>
                <a:cs typeface="Calibri"/>
                <a:sym typeface="Calibri"/>
              </a:rPr>
              <a:t>7726</a:t>
            </a:r>
            <a:endParaRPr sz="40000" b="1">
              <a:solidFill>
                <a:schemeClr val="lt1"/>
              </a:solidFill>
              <a:latin typeface="Calibri"/>
              <a:ea typeface="Calibri"/>
              <a:cs typeface="Calibri"/>
              <a:sym typeface="Calibri"/>
            </a:endParaRPr>
          </a:p>
        </p:txBody>
      </p:sp>
      <p:sp>
        <p:nvSpPr>
          <p:cNvPr id="317" name="Google Shape;317;p26"/>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14</a:t>
            </a:fld>
            <a:endParaRPr sz="2000" b="1">
              <a:solidFill>
                <a:schemeClr val="lt1"/>
              </a:solidFill>
            </a:endParaRPr>
          </a:p>
        </p:txBody>
      </p:sp>
      <p:sp>
        <p:nvSpPr>
          <p:cNvPr id="318" name="Google Shape;318;p26"/>
          <p:cNvSpPr txBox="1"/>
          <p:nvPr/>
        </p:nvSpPr>
        <p:spPr>
          <a:xfrm>
            <a:off x="4264875" y="9255875"/>
            <a:ext cx="11013000" cy="70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a:solidFill>
                  <a:srgbClr val="FFF2CC"/>
                </a:solidFill>
              </a:rPr>
              <a:t>Synthesized by the author’s (Brian Mellinger) working literature review “The Evolution of SMiShing: A Literature Review of Coordinated THreats, Psychological Triggers, and Multi-Domain Defense Strategies</a:t>
            </a:r>
            <a:endParaRPr sz="1100">
              <a:solidFill>
                <a:srgbClr val="FFF2C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322"/>
        <p:cNvGrpSpPr/>
        <p:nvPr/>
      </p:nvGrpSpPr>
      <p:grpSpPr>
        <a:xfrm>
          <a:off x="0" y="0"/>
          <a:ext cx="0" cy="0"/>
          <a:chOff x="0" y="0"/>
          <a:chExt cx="0" cy="0"/>
        </a:xfrm>
      </p:grpSpPr>
      <p:grpSp>
        <p:nvGrpSpPr>
          <p:cNvPr id="323" name="Google Shape;323;p27"/>
          <p:cNvGrpSpPr/>
          <p:nvPr/>
        </p:nvGrpSpPr>
        <p:grpSpPr>
          <a:xfrm>
            <a:off x="3" y="8941096"/>
            <a:ext cx="3498292" cy="1345904"/>
            <a:chOff x="9355875" y="3095472"/>
            <a:chExt cx="7344723" cy="2109898"/>
          </a:xfrm>
        </p:grpSpPr>
        <p:grpSp>
          <p:nvGrpSpPr>
            <p:cNvPr id="324" name="Google Shape;324;p27"/>
            <p:cNvGrpSpPr/>
            <p:nvPr/>
          </p:nvGrpSpPr>
          <p:grpSpPr>
            <a:xfrm>
              <a:off x="9355875" y="3095472"/>
              <a:ext cx="7344723" cy="2109898"/>
              <a:chOff x="3" y="-76198"/>
              <a:chExt cx="1934400" cy="555690"/>
            </a:xfrm>
          </p:grpSpPr>
          <p:sp>
            <p:nvSpPr>
              <p:cNvPr id="325" name="Google Shape;325;p27"/>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326" name="Google Shape;326;p27"/>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327" name="Google Shape;327;p27"/>
            <p:cNvGrpSpPr/>
            <p:nvPr/>
          </p:nvGrpSpPr>
          <p:grpSpPr>
            <a:xfrm>
              <a:off x="9846862" y="3934727"/>
              <a:ext cx="6362325" cy="981398"/>
              <a:chOff x="0" y="-238723"/>
              <a:chExt cx="8483100" cy="1308531"/>
            </a:xfrm>
          </p:grpSpPr>
          <p:sp>
            <p:nvSpPr>
              <p:cNvPr id="328" name="Google Shape;328;p27"/>
              <p:cNvSpPr txBox="1"/>
              <p:nvPr/>
            </p:nvSpPr>
            <p:spPr>
              <a:xfrm>
                <a:off x="0" y="-238723"/>
                <a:ext cx="8483100" cy="6564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Conclusion</a:t>
                </a:r>
                <a:endParaRPr sz="1735"/>
              </a:p>
            </p:txBody>
          </p:sp>
          <p:sp>
            <p:nvSpPr>
              <p:cNvPr id="329" name="Google Shape;329;p27"/>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330" name="Google Shape;330;p27"/>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a:solidFill>
                  <a:srgbClr val="FFFFFF"/>
                </a:solidFill>
              </a:rPr>
              <a:t>Discussion/Key Takeaways</a:t>
            </a:r>
            <a:endParaRPr/>
          </a:p>
        </p:txBody>
      </p:sp>
      <p:sp>
        <p:nvSpPr>
          <p:cNvPr id="331" name="Google Shape;331;p27"/>
          <p:cNvSpPr txBox="1"/>
          <p:nvPr/>
        </p:nvSpPr>
        <p:spPr>
          <a:xfrm>
            <a:off x="770850" y="2537400"/>
            <a:ext cx="16746300" cy="7002900"/>
          </a:xfrm>
          <a:prstGeom prst="rect">
            <a:avLst/>
          </a:prstGeom>
          <a:noFill/>
          <a:ln>
            <a:noFill/>
          </a:ln>
        </p:spPr>
        <p:txBody>
          <a:bodyPr spcFirstLastPara="1" wrap="square" lIns="91425" tIns="91425" rIns="91425" bIns="91425" anchor="t" anchorCtr="0">
            <a:noAutofit/>
          </a:bodyPr>
          <a:lstStyle/>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Smishing campaigns</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organized/professional</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Not opportunistic or rudimentary</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Current understanding</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Human behavior is the weapon</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Reframing the issue</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The new approach</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Machine learning success</a:t>
            </a:r>
            <a:endParaRPr sz="3200">
              <a:solidFill>
                <a:schemeClr val="lt1"/>
              </a:solidFill>
              <a:latin typeface="Calibri"/>
              <a:ea typeface="Calibri"/>
              <a:cs typeface="Calibri"/>
              <a:sym typeface="Calibri"/>
            </a:endParaRPr>
          </a:p>
          <a:p>
            <a:pPr marL="1371600" lvl="2"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Limitations and environment testing</a:t>
            </a:r>
            <a:endParaRPr sz="3200">
              <a:solidFill>
                <a:schemeClr val="lt1"/>
              </a:solidFill>
              <a:latin typeface="Calibri"/>
              <a:ea typeface="Calibri"/>
              <a:cs typeface="Calibri"/>
              <a:sym typeface="Calibri"/>
            </a:endParaRPr>
          </a:p>
        </p:txBody>
      </p:sp>
      <p:pic>
        <p:nvPicPr>
          <p:cNvPr id="332" name="Google Shape;332;p27"/>
          <p:cNvPicPr preferRelativeResize="0"/>
          <p:nvPr/>
        </p:nvPicPr>
        <p:blipFill>
          <a:blip r:embed="rId3">
            <a:alphaModFix/>
          </a:blip>
          <a:stretch>
            <a:fillRect/>
          </a:stretch>
        </p:blipFill>
        <p:spPr>
          <a:xfrm>
            <a:off x="9603150" y="3429000"/>
            <a:ext cx="7380649" cy="4154249"/>
          </a:xfrm>
          <a:prstGeom prst="rect">
            <a:avLst/>
          </a:prstGeom>
          <a:noFill/>
          <a:ln>
            <a:noFill/>
          </a:ln>
        </p:spPr>
      </p:pic>
      <p:sp>
        <p:nvSpPr>
          <p:cNvPr id="333" name="Google Shape;333;p27"/>
          <p:cNvSpPr txBox="1"/>
          <p:nvPr/>
        </p:nvSpPr>
        <p:spPr>
          <a:xfrm>
            <a:off x="9964625" y="7790975"/>
            <a:ext cx="6477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rgbClr val="FFF2CC"/>
                </a:solidFill>
              </a:rPr>
              <a:t>Image via: https://afwh12.medium.com/are-computer-science-and-psychology-substantially-connected-8a7814477bea</a:t>
            </a:r>
            <a:endParaRPr>
              <a:solidFill>
                <a:srgbClr val="FFF2CC"/>
              </a:solidFill>
            </a:endParaRPr>
          </a:p>
        </p:txBody>
      </p:sp>
      <p:sp>
        <p:nvSpPr>
          <p:cNvPr id="334" name="Google Shape;334;p27"/>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15</a:t>
            </a:fld>
            <a:endParaRPr sz="2000" b="1">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338"/>
        <p:cNvGrpSpPr/>
        <p:nvPr/>
      </p:nvGrpSpPr>
      <p:grpSpPr>
        <a:xfrm>
          <a:off x="0" y="0"/>
          <a:ext cx="0" cy="0"/>
          <a:chOff x="0" y="0"/>
          <a:chExt cx="0" cy="0"/>
        </a:xfrm>
      </p:grpSpPr>
      <p:sp>
        <p:nvSpPr>
          <p:cNvPr id="339" name="Google Shape;339;p28"/>
          <p:cNvSpPr txBox="1"/>
          <p:nvPr/>
        </p:nvSpPr>
        <p:spPr>
          <a:xfrm>
            <a:off x="1587787" y="1304162"/>
            <a:ext cx="151125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a:solidFill>
                  <a:srgbClr val="FFFFFF"/>
                </a:solidFill>
              </a:rPr>
              <a:t>Future Research</a:t>
            </a:r>
            <a:endParaRPr/>
          </a:p>
        </p:txBody>
      </p:sp>
      <p:sp>
        <p:nvSpPr>
          <p:cNvPr id="340" name="Google Shape;340;p28"/>
          <p:cNvSpPr txBox="1"/>
          <p:nvPr/>
        </p:nvSpPr>
        <p:spPr>
          <a:xfrm>
            <a:off x="635050" y="2531525"/>
            <a:ext cx="16746300" cy="7002900"/>
          </a:xfrm>
          <a:prstGeom prst="rect">
            <a:avLst/>
          </a:prstGeom>
          <a:noFill/>
          <a:ln>
            <a:noFill/>
          </a:ln>
        </p:spPr>
        <p:txBody>
          <a:bodyPr spcFirstLastPara="1" wrap="square" lIns="91425" tIns="91425" rIns="91425" bIns="91425" anchor="t" anchorCtr="0">
            <a:noAutofit/>
          </a:bodyPr>
          <a:lstStyle/>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Reformed understanding of smishing</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Psychological issue</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mass cybercrime enterprise</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Interdisciplinary research</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Psychology/education researchers</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Combined research</a:t>
            </a:r>
            <a:endParaRPr sz="3200">
              <a:solidFill>
                <a:schemeClr val="lt1"/>
              </a:solidFill>
              <a:latin typeface="Calibri"/>
              <a:ea typeface="Calibri"/>
              <a:cs typeface="Calibri"/>
              <a:sym typeface="Calibri"/>
            </a:endParaRPr>
          </a:p>
          <a:p>
            <a:pPr marL="0" lvl="0" indent="0" algn="l" rtl="0">
              <a:spcBef>
                <a:spcPts val="0"/>
              </a:spcBef>
              <a:spcAft>
                <a:spcPts val="0"/>
              </a:spcAft>
              <a:buNone/>
            </a:pPr>
            <a:endParaRPr sz="3200">
              <a:solidFill>
                <a:schemeClr val="lt1"/>
              </a:solidFill>
              <a:latin typeface="Calibri"/>
              <a:ea typeface="Calibri"/>
              <a:cs typeface="Calibri"/>
              <a:sym typeface="Calibri"/>
            </a:endParaRPr>
          </a:p>
          <a:p>
            <a:pPr marL="457200" lvl="0"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long standing studies</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collection of smishing messages</a:t>
            </a:r>
            <a:endParaRPr sz="3200">
              <a:solidFill>
                <a:schemeClr val="lt1"/>
              </a:solidFill>
              <a:latin typeface="Calibri"/>
              <a:ea typeface="Calibri"/>
              <a:cs typeface="Calibri"/>
              <a:sym typeface="Calibri"/>
            </a:endParaRPr>
          </a:p>
          <a:p>
            <a:pPr marL="914400" lvl="1" indent="-431800" algn="l" rtl="0">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lasting machine learning solution</a:t>
            </a:r>
            <a:endParaRPr sz="3200">
              <a:solidFill>
                <a:schemeClr val="lt1"/>
              </a:solidFill>
              <a:latin typeface="Calibri"/>
              <a:ea typeface="Calibri"/>
              <a:cs typeface="Calibri"/>
              <a:sym typeface="Calibri"/>
            </a:endParaRPr>
          </a:p>
        </p:txBody>
      </p:sp>
      <p:grpSp>
        <p:nvGrpSpPr>
          <p:cNvPr id="341" name="Google Shape;341;p28"/>
          <p:cNvGrpSpPr/>
          <p:nvPr/>
        </p:nvGrpSpPr>
        <p:grpSpPr>
          <a:xfrm>
            <a:off x="3" y="8941096"/>
            <a:ext cx="3498292" cy="1345904"/>
            <a:chOff x="9355875" y="3095472"/>
            <a:chExt cx="7344723" cy="2109898"/>
          </a:xfrm>
        </p:grpSpPr>
        <p:grpSp>
          <p:nvGrpSpPr>
            <p:cNvPr id="342" name="Google Shape;342;p28"/>
            <p:cNvGrpSpPr/>
            <p:nvPr/>
          </p:nvGrpSpPr>
          <p:grpSpPr>
            <a:xfrm>
              <a:off x="9355875" y="3095472"/>
              <a:ext cx="7344723" cy="2109898"/>
              <a:chOff x="3" y="-76198"/>
              <a:chExt cx="1934400" cy="555690"/>
            </a:xfrm>
          </p:grpSpPr>
          <p:sp>
            <p:nvSpPr>
              <p:cNvPr id="343" name="Google Shape;343;p28"/>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344" name="Google Shape;344;p28"/>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345" name="Google Shape;345;p28"/>
            <p:cNvGrpSpPr/>
            <p:nvPr/>
          </p:nvGrpSpPr>
          <p:grpSpPr>
            <a:xfrm>
              <a:off x="9846841" y="3934710"/>
              <a:ext cx="6362346" cy="981415"/>
              <a:chOff x="-28" y="-238745"/>
              <a:chExt cx="8483128" cy="1308553"/>
            </a:xfrm>
          </p:grpSpPr>
          <p:sp>
            <p:nvSpPr>
              <p:cNvPr id="346" name="Google Shape;346;p28"/>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Conclusion</a:t>
                </a:r>
                <a:endParaRPr sz="1735"/>
              </a:p>
            </p:txBody>
          </p:sp>
          <p:sp>
            <p:nvSpPr>
              <p:cNvPr id="347" name="Google Shape;347;p28"/>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pic>
        <p:nvPicPr>
          <p:cNvPr id="348" name="Google Shape;348;p28"/>
          <p:cNvPicPr preferRelativeResize="0"/>
          <p:nvPr/>
        </p:nvPicPr>
        <p:blipFill>
          <a:blip r:embed="rId3">
            <a:alphaModFix/>
          </a:blip>
          <a:stretch>
            <a:fillRect/>
          </a:stretch>
        </p:blipFill>
        <p:spPr>
          <a:xfrm>
            <a:off x="8142100" y="3559675"/>
            <a:ext cx="9239250" cy="4095750"/>
          </a:xfrm>
          <a:prstGeom prst="rect">
            <a:avLst/>
          </a:prstGeom>
          <a:noFill/>
          <a:ln>
            <a:noFill/>
          </a:ln>
        </p:spPr>
      </p:pic>
      <p:sp>
        <p:nvSpPr>
          <p:cNvPr id="349" name="Google Shape;349;p28"/>
          <p:cNvSpPr txBox="1"/>
          <p:nvPr/>
        </p:nvSpPr>
        <p:spPr>
          <a:xfrm>
            <a:off x="9402875" y="7888650"/>
            <a:ext cx="691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rgbClr val="FFF2CC"/>
                </a:solidFill>
              </a:rPr>
              <a:t>Image via: https://home.sophos.com/en-us/security-news/2021/smishing</a:t>
            </a:r>
            <a:endParaRPr>
              <a:solidFill>
                <a:srgbClr val="FFF2CC"/>
              </a:solidFill>
            </a:endParaRPr>
          </a:p>
        </p:txBody>
      </p:sp>
      <p:sp>
        <p:nvSpPr>
          <p:cNvPr id="350" name="Google Shape;350;p28"/>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16</a:t>
            </a:fld>
            <a:endParaRPr sz="2000" b="1">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70908"/>
            </a:gs>
            <a:gs pos="50000">
              <a:srgbClr val="29464A"/>
            </a:gs>
            <a:gs pos="100000">
              <a:srgbClr val="6D8080"/>
            </a:gs>
          </a:gsLst>
          <a:lin ang="2700006" scaled="0"/>
        </a:gradFill>
        <a:effectLst/>
      </p:bgPr>
    </p:bg>
    <p:spTree>
      <p:nvGrpSpPr>
        <p:cNvPr id="1" name="Shape 354"/>
        <p:cNvGrpSpPr/>
        <p:nvPr/>
      </p:nvGrpSpPr>
      <p:grpSpPr>
        <a:xfrm>
          <a:off x="0" y="0"/>
          <a:ext cx="0" cy="0"/>
          <a:chOff x="0" y="0"/>
          <a:chExt cx="0" cy="0"/>
        </a:xfrm>
      </p:grpSpPr>
      <p:sp>
        <p:nvSpPr>
          <p:cNvPr id="355" name="Google Shape;355;p29"/>
          <p:cNvSpPr txBox="1"/>
          <p:nvPr/>
        </p:nvSpPr>
        <p:spPr>
          <a:xfrm>
            <a:off x="1732962" y="634212"/>
            <a:ext cx="15112500" cy="1477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9600">
                <a:solidFill>
                  <a:schemeClr val="lt1"/>
                </a:solidFill>
              </a:rPr>
              <a:t>Conclusion</a:t>
            </a:r>
            <a:endParaRPr sz="9600">
              <a:solidFill>
                <a:schemeClr val="lt1"/>
              </a:solidFill>
            </a:endParaRPr>
          </a:p>
        </p:txBody>
      </p:sp>
      <p:grpSp>
        <p:nvGrpSpPr>
          <p:cNvPr id="356" name="Google Shape;356;p29"/>
          <p:cNvGrpSpPr/>
          <p:nvPr/>
        </p:nvGrpSpPr>
        <p:grpSpPr>
          <a:xfrm>
            <a:off x="3" y="8941096"/>
            <a:ext cx="3498292" cy="1345904"/>
            <a:chOff x="9355875" y="3095472"/>
            <a:chExt cx="7344723" cy="2109898"/>
          </a:xfrm>
        </p:grpSpPr>
        <p:grpSp>
          <p:nvGrpSpPr>
            <p:cNvPr id="357" name="Google Shape;357;p29"/>
            <p:cNvGrpSpPr/>
            <p:nvPr/>
          </p:nvGrpSpPr>
          <p:grpSpPr>
            <a:xfrm>
              <a:off x="9355875" y="3095472"/>
              <a:ext cx="7344723" cy="2109898"/>
              <a:chOff x="3" y="-76198"/>
              <a:chExt cx="1934400" cy="555690"/>
            </a:xfrm>
          </p:grpSpPr>
          <p:sp>
            <p:nvSpPr>
              <p:cNvPr id="358" name="Google Shape;358;p29"/>
              <p:cNvSpPr/>
              <p:nvPr/>
            </p:nvSpPr>
            <p:spPr>
              <a:xfrm>
                <a:off x="3" y="2"/>
                <a:ext cx="1934314" cy="479489"/>
              </a:xfrm>
              <a:custGeom>
                <a:avLst/>
                <a:gdLst/>
                <a:ahLst/>
                <a:cxnLst/>
                <a:rect l="l" t="t" r="r" b="b"/>
                <a:pathLst>
                  <a:path w="1934314" h="637195" extrusionOk="0">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w="5000" cap="sq" cmpd="sng">
                <a:solidFill>
                  <a:srgbClr val="9EB49F">
                    <a:alpha val="29800"/>
                  </a:srgbClr>
                </a:solidFill>
                <a:prstDash val="solid"/>
                <a:miter lim="8000"/>
                <a:headEnd type="none" w="sm" len="sm"/>
                <a:tailEnd type="none" w="sm" len="sm"/>
              </a:ln>
            </p:spPr>
            <p:txBody>
              <a:bodyPr spcFirstLastPara="1" wrap="square" lIns="47950" tIns="47950" rIns="47950" bIns="47950" anchor="ctr" anchorCtr="0">
                <a:noAutofit/>
              </a:bodyPr>
              <a:lstStyle/>
              <a:p>
                <a:pPr marL="0" lvl="0" indent="0" algn="l" rtl="0">
                  <a:spcBef>
                    <a:spcPts val="0"/>
                  </a:spcBef>
                  <a:spcAft>
                    <a:spcPts val="0"/>
                  </a:spcAft>
                  <a:buNone/>
                </a:pPr>
                <a:endParaRPr sz="735"/>
              </a:p>
            </p:txBody>
          </p:sp>
          <p:sp>
            <p:nvSpPr>
              <p:cNvPr id="359" name="Google Shape;359;p29"/>
              <p:cNvSpPr txBox="1"/>
              <p:nvPr/>
            </p:nvSpPr>
            <p:spPr>
              <a:xfrm>
                <a:off x="3" y="-76198"/>
                <a:ext cx="1934400" cy="479400"/>
              </a:xfrm>
              <a:prstGeom prst="rect">
                <a:avLst/>
              </a:prstGeom>
              <a:noFill/>
              <a:ln>
                <a:noFill/>
              </a:ln>
            </p:spPr>
            <p:txBody>
              <a:bodyPr spcFirstLastPara="1" wrap="square" lIns="26675" tIns="26675" rIns="26675" bIns="26675" anchor="ctr" anchorCtr="0">
                <a:noAutofit/>
              </a:bodyPr>
              <a:lstStyle/>
              <a:p>
                <a:pPr marL="0" marR="0" lvl="0" indent="0" algn="ctr" rtl="0">
                  <a:lnSpc>
                    <a:spcPct val="248833"/>
                  </a:lnSpc>
                  <a:spcBef>
                    <a:spcPts val="0"/>
                  </a:spcBef>
                  <a:spcAft>
                    <a:spcPts val="0"/>
                  </a:spcAft>
                  <a:buNone/>
                </a:pPr>
                <a:endParaRPr sz="945" b="0" i="0" u="none" strike="noStrike" cap="none">
                  <a:solidFill>
                    <a:schemeClr val="dk1"/>
                  </a:solidFill>
                  <a:latin typeface="Calibri"/>
                  <a:ea typeface="Calibri"/>
                  <a:cs typeface="Calibri"/>
                  <a:sym typeface="Calibri"/>
                </a:endParaRPr>
              </a:p>
            </p:txBody>
          </p:sp>
        </p:grpSp>
        <p:grpSp>
          <p:nvGrpSpPr>
            <p:cNvPr id="360" name="Google Shape;360;p29"/>
            <p:cNvGrpSpPr/>
            <p:nvPr/>
          </p:nvGrpSpPr>
          <p:grpSpPr>
            <a:xfrm>
              <a:off x="9846841" y="3934710"/>
              <a:ext cx="6362346" cy="981415"/>
              <a:chOff x="-28" y="-238745"/>
              <a:chExt cx="8483128" cy="1308553"/>
            </a:xfrm>
          </p:grpSpPr>
          <p:sp>
            <p:nvSpPr>
              <p:cNvPr id="361" name="Google Shape;361;p29"/>
              <p:cNvSpPr txBox="1"/>
              <p:nvPr/>
            </p:nvSpPr>
            <p:spPr>
              <a:xfrm>
                <a:off x="-28" y="-238745"/>
                <a:ext cx="8483100" cy="1021200"/>
              </a:xfrm>
              <a:prstGeom prst="rect">
                <a:avLst/>
              </a:prstGeom>
              <a:noFill/>
              <a:ln>
                <a:noFill/>
              </a:ln>
            </p:spPr>
            <p:txBody>
              <a:bodyPr spcFirstLastPara="1" wrap="square" lIns="0" tIns="0" rIns="0" bIns="0" anchor="t" anchorCtr="0">
                <a:noAutofit/>
              </a:bodyPr>
              <a:lstStyle/>
              <a:p>
                <a:pPr marL="0" marR="0" lvl="0" indent="0" algn="ctr" rtl="0">
                  <a:lnSpc>
                    <a:spcPct val="140012"/>
                  </a:lnSpc>
                  <a:spcBef>
                    <a:spcPts val="0"/>
                  </a:spcBef>
                  <a:spcAft>
                    <a:spcPts val="0"/>
                  </a:spcAft>
                  <a:buNone/>
                </a:pPr>
                <a:r>
                  <a:rPr lang="en-US" sz="2679" b="1">
                    <a:solidFill>
                      <a:srgbClr val="FFFFFF"/>
                    </a:solidFill>
                    <a:latin typeface="Work Sans"/>
                    <a:ea typeface="Work Sans"/>
                    <a:cs typeface="Work Sans"/>
                    <a:sym typeface="Work Sans"/>
                  </a:rPr>
                  <a:t>Conclusion</a:t>
                </a:r>
                <a:endParaRPr sz="1735"/>
              </a:p>
            </p:txBody>
          </p:sp>
          <p:sp>
            <p:nvSpPr>
              <p:cNvPr id="362" name="Google Shape;362;p29"/>
              <p:cNvSpPr txBox="1"/>
              <p:nvPr/>
            </p:nvSpPr>
            <p:spPr>
              <a:xfrm>
                <a:off x="0" y="782408"/>
                <a:ext cx="8483100" cy="287400"/>
              </a:xfrm>
              <a:prstGeom prst="rect">
                <a:avLst/>
              </a:prstGeom>
              <a:noFill/>
              <a:ln>
                <a:noFill/>
              </a:ln>
            </p:spPr>
            <p:txBody>
              <a:bodyPr spcFirstLastPara="1" wrap="square" lIns="0" tIns="0" rIns="0" bIns="0" anchor="t" anchorCtr="0">
                <a:noAutofit/>
              </a:bodyPr>
              <a:lstStyle/>
              <a:p>
                <a:pPr marL="0" marR="0" lvl="0" indent="0" algn="ctr" rtl="0">
                  <a:lnSpc>
                    <a:spcPct val="139958"/>
                  </a:lnSpc>
                  <a:spcBef>
                    <a:spcPts val="0"/>
                  </a:spcBef>
                  <a:spcAft>
                    <a:spcPts val="0"/>
                  </a:spcAft>
                  <a:buNone/>
                </a:pPr>
                <a:endParaRPr sz="735"/>
              </a:p>
            </p:txBody>
          </p:sp>
        </p:grpSp>
      </p:grpSp>
      <p:sp>
        <p:nvSpPr>
          <p:cNvPr id="363" name="Google Shape;363;p29"/>
          <p:cNvSpPr txBox="1"/>
          <p:nvPr/>
        </p:nvSpPr>
        <p:spPr>
          <a:xfrm>
            <a:off x="835275" y="6970350"/>
            <a:ext cx="8035200" cy="11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b="1">
                <a:solidFill>
                  <a:schemeClr val="lt1"/>
                </a:solidFill>
                <a:latin typeface="Calibri"/>
                <a:ea typeface="Calibri"/>
                <a:cs typeface="Calibri"/>
                <a:sym typeface="Calibri"/>
              </a:rPr>
              <a:t>Brian Mellinger</a:t>
            </a:r>
            <a:endParaRPr sz="3200" b="1">
              <a:solidFill>
                <a:schemeClr val="lt1"/>
              </a:solidFill>
              <a:latin typeface="Calibri"/>
              <a:ea typeface="Calibri"/>
              <a:cs typeface="Calibri"/>
              <a:sym typeface="Calibri"/>
            </a:endParaRPr>
          </a:p>
          <a:p>
            <a:pPr marL="0" lvl="0" indent="0" algn="l" rtl="0">
              <a:spcBef>
                <a:spcPts val="0"/>
              </a:spcBef>
              <a:spcAft>
                <a:spcPts val="0"/>
              </a:spcAft>
              <a:buNone/>
            </a:pPr>
            <a:r>
              <a:rPr lang="en-US" sz="3200" b="1">
                <a:solidFill>
                  <a:schemeClr val="lt1"/>
                </a:solidFill>
                <a:latin typeface="Calibri"/>
                <a:ea typeface="Calibri"/>
                <a:cs typeface="Calibri"/>
                <a:sym typeface="Calibri"/>
              </a:rPr>
              <a:t>bmelling@charlotte.edu</a:t>
            </a:r>
            <a:endParaRPr sz="3200" b="1">
              <a:solidFill>
                <a:schemeClr val="lt1"/>
              </a:solidFill>
              <a:latin typeface="Calibri"/>
              <a:ea typeface="Calibri"/>
              <a:cs typeface="Calibri"/>
              <a:sym typeface="Calibri"/>
            </a:endParaRPr>
          </a:p>
        </p:txBody>
      </p:sp>
      <p:pic>
        <p:nvPicPr>
          <p:cNvPr id="364" name="Google Shape;364;p29" title="SPEX logo_tall.jpg"/>
          <p:cNvPicPr preferRelativeResize="0"/>
          <p:nvPr/>
        </p:nvPicPr>
        <p:blipFill>
          <a:blip r:embed="rId3">
            <a:alphaModFix/>
          </a:blip>
          <a:stretch>
            <a:fillRect/>
          </a:stretch>
        </p:blipFill>
        <p:spPr>
          <a:xfrm>
            <a:off x="10715938" y="5848213"/>
            <a:ext cx="6641225" cy="3735686"/>
          </a:xfrm>
          <a:prstGeom prst="rect">
            <a:avLst/>
          </a:prstGeom>
          <a:noFill/>
          <a:ln>
            <a:noFill/>
          </a:ln>
        </p:spPr>
      </p:pic>
      <p:pic>
        <p:nvPicPr>
          <p:cNvPr id="365" name="Google Shape;365;p29" title="CCI-logo.jpg"/>
          <p:cNvPicPr preferRelativeResize="0"/>
          <p:nvPr/>
        </p:nvPicPr>
        <p:blipFill>
          <a:blip r:embed="rId4">
            <a:alphaModFix/>
          </a:blip>
          <a:stretch>
            <a:fillRect/>
          </a:stretch>
        </p:blipFill>
        <p:spPr>
          <a:xfrm>
            <a:off x="835275" y="563466"/>
            <a:ext cx="1619250" cy="1619250"/>
          </a:xfrm>
          <a:prstGeom prst="rect">
            <a:avLst/>
          </a:prstGeom>
          <a:noFill/>
          <a:ln>
            <a:noFill/>
          </a:ln>
        </p:spPr>
      </p:pic>
      <p:sp>
        <p:nvSpPr>
          <p:cNvPr id="366" name="Google Shape;366;p29"/>
          <p:cNvSpPr txBox="1">
            <a:spLocks noGrp="1"/>
          </p:cNvSpPr>
          <p:nvPr>
            <p:ph type="sldNum" idx="12"/>
          </p:nvPr>
        </p:nvSpPr>
        <p:spPr>
          <a:xfrm>
            <a:off x="15853000" y="958390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b="1">
                <a:solidFill>
                  <a:schemeClr val="lt1"/>
                </a:solidFill>
              </a:rPr>
              <a:t>17</a:t>
            </a:fld>
            <a:endParaRPr sz="2000" b="1">
              <a:solidFill>
                <a:schemeClr val="lt1"/>
              </a:solidFill>
            </a:endParaRPr>
          </a:p>
        </p:txBody>
      </p:sp>
      <p:sp>
        <p:nvSpPr>
          <p:cNvPr id="367" name="Google Shape;367;p29"/>
          <p:cNvSpPr txBox="1"/>
          <p:nvPr/>
        </p:nvSpPr>
        <p:spPr>
          <a:xfrm>
            <a:off x="3071550" y="2795775"/>
            <a:ext cx="12144900" cy="3490800"/>
          </a:xfrm>
          <a:prstGeom prst="rect">
            <a:avLst/>
          </a:prstGeom>
          <a:noFill/>
          <a:ln>
            <a:noFill/>
          </a:ln>
        </p:spPr>
        <p:txBody>
          <a:bodyPr spcFirstLastPara="1" wrap="square" lIns="91425" tIns="91425" rIns="91425" bIns="91425" anchor="t" anchorCtr="0">
            <a:noAutofit/>
          </a:bodyPr>
          <a:lstStyle/>
          <a:p>
            <a:pPr marL="457200" lvl="0" indent="-463550" algn="l" rtl="0">
              <a:lnSpc>
                <a:spcPct val="200000"/>
              </a:lnSpc>
              <a:spcBef>
                <a:spcPts val="0"/>
              </a:spcBef>
              <a:spcAft>
                <a:spcPts val="0"/>
              </a:spcAft>
              <a:buClr>
                <a:schemeClr val="lt1"/>
              </a:buClr>
              <a:buSzPts val="3700"/>
              <a:buFont typeface="Calibri"/>
              <a:buChar char="●"/>
            </a:pPr>
            <a:r>
              <a:rPr lang="en-US" sz="3700">
                <a:solidFill>
                  <a:schemeClr val="lt1"/>
                </a:solidFill>
                <a:latin typeface="Calibri"/>
                <a:ea typeface="Calibri"/>
                <a:cs typeface="Calibri"/>
                <a:sym typeface="Calibri"/>
              </a:rPr>
              <a:t>Smishing is a $470 million dollar issue</a:t>
            </a:r>
            <a:endParaRPr sz="3700">
              <a:solidFill>
                <a:schemeClr val="lt1"/>
              </a:solidFill>
              <a:latin typeface="Calibri"/>
              <a:ea typeface="Calibri"/>
              <a:cs typeface="Calibri"/>
              <a:sym typeface="Calibri"/>
            </a:endParaRPr>
          </a:p>
          <a:p>
            <a:pPr marL="457200" lvl="0" indent="-463550" algn="l" rtl="0">
              <a:lnSpc>
                <a:spcPct val="200000"/>
              </a:lnSpc>
              <a:spcBef>
                <a:spcPts val="0"/>
              </a:spcBef>
              <a:spcAft>
                <a:spcPts val="0"/>
              </a:spcAft>
              <a:buClr>
                <a:schemeClr val="lt1"/>
              </a:buClr>
              <a:buSzPts val="3700"/>
              <a:buFont typeface="Calibri"/>
              <a:buChar char="●"/>
            </a:pPr>
            <a:r>
              <a:rPr lang="en-US" sz="3700">
                <a:solidFill>
                  <a:schemeClr val="lt1"/>
                </a:solidFill>
                <a:latin typeface="Calibri"/>
                <a:ea typeface="Calibri"/>
                <a:cs typeface="Calibri"/>
                <a:sym typeface="Calibri"/>
              </a:rPr>
              <a:t>Smishing is a professional business</a:t>
            </a:r>
            <a:endParaRPr sz="3700">
              <a:solidFill>
                <a:schemeClr val="lt1"/>
              </a:solidFill>
              <a:latin typeface="Calibri"/>
              <a:ea typeface="Calibri"/>
              <a:cs typeface="Calibri"/>
              <a:sym typeface="Calibri"/>
            </a:endParaRPr>
          </a:p>
          <a:p>
            <a:pPr marL="457200" lvl="0" indent="-463550" algn="l" rtl="0">
              <a:lnSpc>
                <a:spcPct val="200000"/>
              </a:lnSpc>
              <a:spcBef>
                <a:spcPts val="0"/>
              </a:spcBef>
              <a:spcAft>
                <a:spcPts val="0"/>
              </a:spcAft>
              <a:buClr>
                <a:schemeClr val="lt1"/>
              </a:buClr>
              <a:buSzPts val="3700"/>
              <a:buFont typeface="Calibri"/>
              <a:buChar char="●"/>
            </a:pPr>
            <a:r>
              <a:rPr lang="en-US" sz="3700">
                <a:solidFill>
                  <a:schemeClr val="lt1"/>
                </a:solidFill>
                <a:latin typeface="Calibri"/>
                <a:ea typeface="Calibri"/>
                <a:cs typeface="Calibri"/>
                <a:sym typeface="Calibri"/>
              </a:rPr>
              <a:t>Smishing cannot be solved with stand-alone research</a:t>
            </a:r>
            <a:endParaRPr sz="3700">
              <a:solidFill>
                <a:schemeClr val="lt1"/>
              </a:solidFill>
              <a:latin typeface="Calibri"/>
              <a:ea typeface="Calibri"/>
              <a:cs typeface="Calibri"/>
              <a:sym typeface="Calibri"/>
            </a:endParaRPr>
          </a:p>
        </p:txBody>
      </p:sp>
      <p:pic>
        <p:nvPicPr>
          <p:cNvPr id="368" name="Google Shape;368;p29" title="Image-1.png"/>
          <p:cNvPicPr preferRelativeResize="0"/>
          <p:nvPr/>
        </p:nvPicPr>
        <p:blipFill>
          <a:blip r:embed="rId5">
            <a:alphaModFix/>
          </a:blip>
          <a:stretch>
            <a:fillRect/>
          </a:stretch>
        </p:blipFill>
        <p:spPr>
          <a:xfrm>
            <a:off x="6419075" y="6286575"/>
            <a:ext cx="3216000" cy="3216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1811</Words>
  <Application>Microsoft Office PowerPoint</Application>
  <PresentationFormat>Custom</PresentationFormat>
  <Paragraphs>217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Work Sans</vt:lpstr>
      <vt:lpstr>Roboto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Brian Justin Mellinger</cp:lastModifiedBy>
  <cp:revision>1</cp:revision>
  <dcterms:modified xsi:type="dcterms:W3CDTF">2026-05-13T02:19:55Z</dcterms:modified>
</cp:coreProperties>
</file>