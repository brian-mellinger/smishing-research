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10287000" cx="18288000"/>
  <p:notesSz cx="6858000" cy="9144000"/>
  <p:embeddedFontLst>
    <p:embeddedFont>
      <p:font typeface="Roboto"/>
      <p:regular r:id="rId23"/>
      <p:bold r:id="rId24"/>
      <p:italic r:id="rId25"/>
      <p:boldItalic r:id="rId26"/>
    </p:embeddedFont>
    <p:embeddedFont>
      <p:font typeface="Work Sans"/>
      <p:bold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WorkSans-boldItalic.fntdata"/><Relationship Id="rId27" Type="http://schemas.openxmlformats.org/officeDocument/2006/relationships/font" Target="fonts/Work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mishtank.com/smish/4794" TargetMode="External"/><Relationship Id="rId3" Type="http://schemas.openxmlformats.org/officeDocument/2006/relationships/hyperlink" Target="https://smishtank.com/smish/4723" TargetMode="External"/><Relationship Id="rId4" Type="http://schemas.openxmlformats.org/officeDocument/2006/relationships/hyperlink" Target="https://smishtank.com/smish/4753"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Intro: Today I am going to talk to you about smishing …. spex lab + HCCRG + CCI… name is Brian Mellinger, conducted an extended systematic literature review on the topic of smishing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Does anyone know what smishing is?</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Undergraduate researcher under Dr. Cori Faklaris in the Security and Privacy Experiences Lab</a:t>
            </a:r>
            <a:endParaRPr/>
          </a:p>
          <a:p>
            <a:pPr indent="0" lvl="0" marL="0" rtl="0" algn="l">
              <a:spcBef>
                <a:spcPts val="0"/>
              </a:spcBef>
              <a:spcAft>
                <a:spcPts val="0"/>
              </a:spcAft>
              <a:buNone/>
            </a:pPr>
            <a:r>
              <a:rPr lang="en-US"/>
              <a:t>Junior studying Computer Science: Cybersecurity Concentration and starting my Masters in Cybersecurity next </a:t>
            </a:r>
            <a:r>
              <a:rPr lang="en-US"/>
              <a:t>semester</a:t>
            </a:r>
            <a:r>
              <a:rPr lang="en-US"/>
              <a:t> (early </a:t>
            </a:r>
            <a:r>
              <a:rPr lang="en-US"/>
              <a:t>entry</a:t>
            </a:r>
            <a:r>
              <a:rPr lang="en-US"/>
              <a:t> program)</a:t>
            </a:r>
            <a:endParaRPr/>
          </a:p>
          <a:p>
            <a:pPr indent="0" lvl="0" marL="0" rtl="0" algn="l">
              <a:spcBef>
                <a:spcPts val="0"/>
              </a:spcBef>
              <a:spcAft>
                <a:spcPts val="0"/>
              </a:spcAft>
              <a:buNone/>
            </a:pPr>
            <a:r>
              <a:rPr lang="en-US"/>
              <a:t>The time my military family was hit by a cybercrime</a:t>
            </a:r>
            <a:endParaRPr/>
          </a:p>
        </p:txBody>
      </p:sp>
      <p:sp>
        <p:nvSpPr>
          <p:cNvPr id="97" name="Google Shape;9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6187657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Introduction: Define what smishing is, the key components of this review</a:t>
            </a:r>
            <a:endParaRPr>
              <a:solidFill>
                <a:schemeClr val="dk1"/>
              </a:solidFill>
            </a:endParaRPr>
          </a:p>
          <a:p>
            <a:pPr indent="0" lvl="0" marL="0" rtl="0" algn="l">
              <a:spcBef>
                <a:spcPts val="0"/>
              </a:spcBef>
              <a:spcAft>
                <a:spcPts val="0"/>
              </a:spcAft>
              <a:buNone/>
            </a:pPr>
            <a:r>
              <a:rPr lang="en-US">
                <a:solidFill>
                  <a:schemeClr val="dk1"/>
                </a:solidFill>
              </a:rPr>
              <a:t>Research: What researchers are saying about smishing</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Conclusion: What clearly needs to happen to solve this global issue</a:t>
            </a:r>
            <a:endParaRPr>
              <a:solidFill>
                <a:schemeClr val="dk1"/>
              </a:solidFill>
            </a:endParaRPr>
          </a:p>
        </p:txBody>
      </p:sp>
      <p:sp>
        <p:nvSpPr>
          <p:cNvPr id="115" name="Google Shape;115;g3d6187657f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6a57a6d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d6a57a6d4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6874bc8f0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d6874bc8f0_1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u="sng">
                <a:solidFill>
                  <a:schemeClr val="hlink"/>
                </a:solidFill>
                <a:hlinkClick r:id="rId2"/>
              </a:rPr>
              <a:t>https://smishtank.com/smish/4794</a:t>
            </a:r>
            <a:r>
              <a:rPr lang="en-US"/>
              <a:t>            They are all listed as potential smishing messages listed by smishtank.</a:t>
            </a:r>
            <a:endParaRPr/>
          </a:p>
          <a:p>
            <a:pPr indent="0" lvl="0" marL="0" rtl="0" algn="l">
              <a:spcBef>
                <a:spcPts val="0"/>
              </a:spcBef>
              <a:spcAft>
                <a:spcPts val="0"/>
              </a:spcAft>
              <a:buNone/>
            </a:pPr>
            <a:r>
              <a:rPr lang="en-US" u="sng">
                <a:solidFill>
                  <a:schemeClr val="hlink"/>
                </a:solidFill>
                <a:hlinkClick r:id="rId3"/>
              </a:rPr>
              <a:t>https://smishtank.com/smish/4723</a:t>
            </a:r>
            <a:endParaRPr/>
          </a:p>
          <a:p>
            <a:pPr indent="0" lvl="0" marL="0" rtl="0" algn="l">
              <a:spcBef>
                <a:spcPts val="0"/>
              </a:spcBef>
              <a:spcAft>
                <a:spcPts val="0"/>
              </a:spcAft>
              <a:buNone/>
            </a:pPr>
            <a:r>
              <a:rPr lang="en-US" u="sng">
                <a:solidFill>
                  <a:schemeClr val="hlink"/>
                </a:solidFill>
                <a:hlinkClick r:id="rId4"/>
              </a:rPr>
              <a:t>https://smishtank.com/smish/4753</a:t>
            </a:r>
            <a:endParaRPr/>
          </a:p>
        </p:txBody>
      </p:sp>
      <p:sp>
        <p:nvSpPr>
          <p:cNvPr id="174" name="Google Shape;17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655cbadec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FTC estimated in 2024 alone, 470 million lost to smishing</a:t>
            </a:r>
            <a:endParaRPr/>
          </a:p>
        </p:txBody>
      </p:sp>
      <p:sp>
        <p:nvSpPr>
          <p:cNvPr id="191" name="Google Shape;191;g3d655cbadec_0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d655cbadec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3d655cbadec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655cbadec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d655cbadec_0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6874bc8f0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265 participants</a:t>
            </a:r>
            <a:endParaRPr/>
          </a:p>
        </p:txBody>
      </p:sp>
      <p:sp>
        <p:nvSpPr>
          <p:cNvPr id="236" name="Google Shape;236;g3d6874bc8f0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6a57a6d4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d6a57a6d4e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655cbadec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Cybersmish - scans Messages, URL, and website code: 95.5% accuracy</a:t>
            </a:r>
            <a:endParaRPr/>
          </a:p>
          <a:p>
            <a:pPr indent="0" lvl="0" marL="0" rtl="0" algn="l">
              <a:spcBef>
                <a:spcPts val="0"/>
              </a:spcBef>
              <a:spcAft>
                <a:spcPts val="0"/>
              </a:spcAft>
              <a:buNone/>
            </a:pPr>
            <a:r>
              <a:rPr lang="en-US"/>
              <a:t>smiDCA - 96.40% accuracy</a:t>
            </a:r>
            <a:endParaRPr/>
          </a:p>
          <a:p>
            <a:pPr indent="0" lvl="0" marL="0" rtl="0" algn="l">
              <a:spcBef>
                <a:spcPts val="0"/>
              </a:spcBef>
              <a:spcAft>
                <a:spcPts val="0"/>
              </a:spcAft>
              <a:buNone/>
            </a:pPr>
            <a:r>
              <a:rPr lang="en-US"/>
              <a:t>(TCPA) Telephone consumer protection act - advertisers must gain explicit consent before texting customers</a:t>
            </a:r>
            <a:endParaRPr/>
          </a:p>
          <a:p>
            <a:pPr indent="0" lvl="0" marL="0" rtl="0" algn="l">
              <a:spcBef>
                <a:spcPts val="0"/>
              </a:spcBef>
              <a:spcAft>
                <a:spcPts val="0"/>
              </a:spcAft>
              <a:buNone/>
            </a:pPr>
            <a:r>
              <a:rPr lang="en-US"/>
              <a:t>CAN-SPAM - targets emails … only legitimate businesses</a:t>
            </a:r>
            <a:endParaRPr/>
          </a:p>
          <a:p>
            <a:pPr indent="0" lvl="0" marL="0" rtl="0" algn="l">
              <a:spcBef>
                <a:spcPts val="0"/>
              </a:spcBef>
              <a:spcAft>
                <a:spcPts val="0"/>
              </a:spcAft>
              <a:buNone/>
            </a:pPr>
            <a:r>
              <a:rPr lang="en-US"/>
              <a:t>TRACED - helps reduce robo calls not sms texts</a:t>
            </a:r>
            <a:endParaRPr/>
          </a:p>
        </p:txBody>
      </p:sp>
      <p:sp>
        <p:nvSpPr>
          <p:cNvPr id="273" name="Google Shape;273;g3d655cbadec_0_2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d6874bc8f0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US"/>
              <a:t>Laws don’t relate to smishing</a:t>
            </a:r>
            <a:endParaRPr/>
          </a:p>
          <a:p>
            <a:pPr indent="-298450" lvl="0" marL="457200" rtl="0" algn="l">
              <a:spcBef>
                <a:spcPts val="0"/>
              </a:spcBef>
              <a:spcAft>
                <a:spcPts val="0"/>
              </a:spcAft>
              <a:buSzPts val="1100"/>
              <a:buAutoNum type="arabicPeriod"/>
            </a:pPr>
            <a:r>
              <a:rPr lang="en-US"/>
              <a:t>Machine learning requires constant support and data collection for retraining</a:t>
            </a:r>
            <a:endParaRPr/>
          </a:p>
          <a:p>
            <a:pPr indent="-298450" lvl="0" marL="457200" rtl="0" algn="l">
              <a:spcBef>
                <a:spcPts val="0"/>
              </a:spcBef>
              <a:spcAft>
                <a:spcPts val="0"/>
              </a:spcAft>
              <a:buSzPts val="1100"/>
              <a:buAutoNum type="arabicPeriod"/>
            </a:pPr>
            <a:r>
              <a:rPr lang="en-US"/>
              <a:t>Smishing is a psychological issue, they use strong emotion to invoke a response</a:t>
            </a:r>
            <a:endParaRPr/>
          </a:p>
          <a:p>
            <a:pPr indent="-298450" lvl="0" marL="457200" rtl="0" algn="l">
              <a:spcBef>
                <a:spcPts val="0"/>
              </a:spcBef>
              <a:spcAft>
                <a:spcPts val="0"/>
              </a:spcAft>
              <a:buSzPts val="1100"/>
              <a:buAutoNum type="arabicPeriod"/>
            </a:pPr>
            <a:r>
              <a:rPr lang="en-US"/>
              <a:t>Modern smishing implements multiple forms of phishing, it doesn’t always stay in text</a:t>
            </a:r>
            <a:endParaRPr/>
          </a:p>
          <a:p>
            <a:pPr indent="-298450" lvl="0" marL="457200" rtl="0" algn="l">
              <a:spcBef>
                <a:spcPts val="0"/>
              </a:spcBef>
              <a:spcAft>
                <a:spcPts val="0"/>
              </a:spcAft>
              <a:buSzPts val="1100"/>
              <a:buAutoNum type="arabicPeriod"/>
            </a:pPr>
            <a:r>
              <a:rPr lang="en-US"/>
              <a:t>Who even knows how to report smishing messages</a:t>
            </a:r>
            <a:endParaRPr/>
          </a:p>
        </p:txBody>
      </p:sp>
      <p:sp>
        <p:nvSpPr>
          <p:cNvPr id="290" name="Google Shape;290;g3d6874bc8f0_1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6a57a6d4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US"/>
              <a:t>Laws don’t relate to smishing</a:t>
            </a:r>
            <a:endParaRPr/>
          </a:p>
          <a:p>
            <a:pPr indent="-298450" lvl="0" marL="457200" rtl="0" algn="l">
              <a:spcBef>
                <a:spcPts val="0"/>
              </a:spcBef>
              <a:spcAft>
                <a:spcPts val="0"/>
              </a:spcAft>
              <a:buSzPts val="1100"/>
              <a:buAutoNum type="arabicPeriod"/>
            </a:pPr>
            <a:r>
              <a:rPr lang="en-US"/>
              <a:t>Machine learning requires constant support and data collection for retraining</a:t>
            </a:r>
            <a:endParaRPr/>
          </a:p>
          <a:p>
            <a:pPr indent="-298450" lvl="0" marL="457200" rtl="0" algn="l">
              <a:spcBef>
                <a:spcPts val="0"/>
              </a:spcBef>
              <a:spcAft>
                <a:spcPts val="0"/>
              </a:spcAft>
              <a:buSzPts val="1100"/>
              <a:buAutoNum type="arabicPeriod"/>
            </a:pPr>
            <a:r>
              <a:rPr lang="en-US"/>
              <a:t>Smishing is a psychological issue, they use strong emotion to invoke a response</a:t>
            </a:r>
            <a:endParaRPr/>
          </a:p>
          <a:p>
            <a:pPr indent="-298450" lvl="0" marL="457200" rtl="0" algn="l">
              <a:spcBef>
                <a:spcPts val="0"/>
              </a:spcBef>
              <a:spcAft>
                <a:spcPts val="0"/>
              </a:spcAft>
              <a:buSzPts val="1100"/>
              <a:buAutoNum type="arabicPeriod"/>
            </a:pPr>
            <a:r>
              <a:rPr lang="en-US"/>
              <a:t>Modern smishing implements multiple forms of phishing, it doesn’t always stay in text</a:t>
            </a:r>
            <a:endParaRPr/>
          </a:p>
          <a:p>
            <a:pPr indent="-298450" lvl="0" marL="457200" rtl="0" algn="l">
              <a:spcBef>
                <a:spcPts val="0"/>
              </a:spcBef>
              <a:spcAft>
                <a:spcPts val="0"/>
              </a:spcAft>
              <a:buSzPts val="1100"/>
              <a:buAutoNum type="arabicPeriod"/>
            </a:pPr>
            <a:r>
              <a:rPr lang="en-US"/>
              <a:t>Who even knows how to report smishing messages</a:t>
            </a:r>
            <a:endParaRPr/>
          </a:p>
        </p:txBody>
      </p:sp>
      <p:sp>
        <p:nvSpPr>
          <p:cNvPr id="305" name="Google Shape;305;g3d6a57a6d4e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d655cbadec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important</a:t>
            </a:r>
            <a:r>
              <a:rPr lang="en-US"/>
              <a:t> to remember that smishing isnt </a:t>
            </a:r>
            <a:r>
              <a:rPr lang="en-US"/>
              <a:t>rudimentary</a:t>
            </a:r>
            <a:r>
              <a:rPr lang="en-US"/>
              <a:t>, its an organized cybercrime network that uses human behavior as its primary weapon and we have to reshape how we think about this issue. Machine learning approaches show promise but need fulltime support and have only been tested in enclosed environments</a:t>
            </a:r>
            <a:endParaRPr/>
          </a:p>
        </p:txBody>
      </p:sp>
      <p:sp>
        <p:nvSpPr>
          <p:cNvPr id="321" name="Google Shape;321;g3d655cbadec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d655cbadec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g3d655cbadec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d6874bc8f0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3d6874bc8f0_1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9.jpg"/><Relationship Id="rId6" Type="http://schemas.openxmlformats.org/officeDocument/2006/relationships/image" Target="../media/image1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doi.org/10.1145/3577923.3583640" TargetMode="External"/><Relationship Id="rId4" Type="http://schemas.openxmlformats.org/officeDocument/2006/relationships/hyperlink" Target="https://doi.org/10.1145/3577923.358364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hyperlink" Target="https://doi.org/10.1109/ACCESS.2022.3217795" TargetMode="External"/><Relationship Id="rId5" Type="http://schemas.openxmlformats.org/officeDocument/2006/relationships/hyperlink" Target="https://doi.org/10.1109/ACCESS.2022.321779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www.zotero.org/google-docs/?POrl4H" TargetMode="External"/><Relationship Id="rId4" Type="http://schemas.openxmlformats.org/officeDocument/2006/relationships/hyperlink" Target="https://www.zotero.org/google-docs/?POrl4H" TargetMode="External"/><Relationship Id="rId5" Type="http://schemas.openxmlformats.org/officeDocument/2006/relationships/hyperlink" Target="https://www.zotero.org/google-docs/?POrl4H"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doi.org/10.1145/3577923.3583640" TargetMode="External"/><Relationship Id="rId4" Type="http://schemas.openxmlformats.org/officeDocument/2006/relationships/hyperlink" Target="https://doi.org/10.1145/3577923.3583640" TargetMode="External"/><Relationship Id="rId5" Type="http://schemas.openxmlformats.org/officeDocument/2006/relationships/image" Target="../media/image6.png"/><Relationship Id="rId6"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doi.org/10.1145/3577923.3583640" TargetMode="External"/><Relationship Id="rId4" Type="http://schemas.openxmlformats.org/officeDocument/2006/relationships/hyperlink" Target="https://doi.org/10.1145/3577923.3583640" TargetMode="External"/><Relationship Id="rId9" Type="http://schemas.openxmlformats.org/officeDocument/2006/relationships/hyperlink" Target="https://doi.org/10.1145/3577923.3583640" TargetMode="External"/><Relationship Id="rId5" Type="http://schemas.openxmlformats.org/officeDocument/2006/relationships/hyperlink" Target="https://doi.org/10.1057/s41599-025-06141-8" TargetMode="External"/><Relationship Id="rId6" Type="http://schemas.openxmlformats.org/officeDocument/2006/relationships/hyperlink" Target="https://doi.org/10.1057/s41599-025-06141-8" TargetMode="External"/><Relationship Id="rId7" Type="http://schemas.openxmlformats.org/officeDocument/2006/relationships/image" Target="../media/image13.png"/><Relationship Id="rId8" Type="http://schemas.openxmlformats.org/officeDocument/2006/relationships/hyperlink" Target="https://doi.org/10.1145/3577923.3583640"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doi.org/10.1109/I-SMAC58438.2023.10290228" TargetMode="External"/><Relationship Id="rId4" Type="http://schemas.openxmlformats.org/officeDocument/2006/relationships/hyperlink" Target="https://doi.org/10.1109/I-SMAC58438.2023.10290228" TargetMode="External"/><Relationship Id="rId9" Type="http://schemas.openxmlformats.org/officeDocument/2006/relationships/hyperlink" Target="https://doi.org/10.1145/3714393.3726499" TargetMode="External"/><Relationship Id="rId5" Type="http://schemas.openxmlformats.org/officeDocument/2006/relationships/hyperlink" Target="https://doi.org/10.1093/comjnl/bxy039" TargetMode="External"/><Relationship Id="rId6" Type="http://schemas.openxmlformats.org/officeDocument/2006/relationships/hyperlink" Target="https://doi.org/10.1093/comjnl/bxy039" TargetMode="External"/><Relationship Id="rId7" Type="http://schemas.openxmlformats.org/officeDocument/2006/relationships/image" Target="../media/image16.png"/><Relationship Id="rId8" Type="http://schemas.openxmlformats.org/officeDocument/2006/relationships/hyperlink" Target="https://doi.org/10.1145/3714393.3726499"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jpg"/><Relationship Id="rId4" Type="http://schemas.openxmlformats.org/officeDocument/2006/relationships/image" Target="../media/image15.jpg"/><Relationship Id="rId5"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33333">
              <a:srgbClr val="29464A"/>
            </a:gs>
            <a:gs pos="66667">
              <a:srgbClr val="6D8080"/>
            </a:gs>
            <a:gs pos="100000">
              <a:srgbClr val="BDCBBB"/>
            </a:gs>
          </a:gsLst>
          <a:lin ang="0" scaled="0"/>
        </a:gradFill>
      </p:bgPr>
    </p:bg>
    <p:spTree>
      <p:nvGrpSpPr>
        <p:cNvPr id="83" name="Shape 83"/>
        <p:cNvGrpSpPr/>
        <p:nvPr/>
      </p:nvGrpSpPr>
      <p:grpSpPr>
        <a:xfrm>
          <a:off x="0" y="0"/>
          <a:ext cx="0" cy="0"/>
          <a:chOff x="0" y="0"/>
          <a:chExt cx="0" cy="0"/>
        </a:xfrm>
      </p:grpSpPr>
      <p:sp>
        <p:nvSpPr>
          <p:cNvPr id="84" name="Google Shape;84;p13"/>
          <p:cNvSpPr/>
          <p:nvPr/>
        </p:nvSpPr>
        <p:spPr>
          <a:xfrm>
            <a:off x="12666413" y="-1073776"/>
            <a:ext cx="6641227" cy="6641227"/>
          </a:xfrm>
          <a:custGeom>
            <a:rect b="b" l="l" r="r" t="t"/>
            <a:pathLst>
              <a:path extrusionOk="0" h="6641227" w="6641227">
                <a:moveTo>
                  <a:pt x="0" y="0"/>
                </a:moveTo>
                <a:lnTo>
                  <a:pt x="6641227" y="0"/>
                </a:lnTo>
                <a:lnTo>
                  <a:pt x="6641227" y="6641227"/>
                </a:lnTo>
                <a:lnTo>
                  <a:pt x="0" y="6641227"/>
                </a:lnTo>
                <a:lnTo>
                  <a:pt x="0" y="0"/>
                </a:lnTo>
                <a:close/>
              </a:path>
            </a:pathLst>
          </a:custGeom>
          <a:blipFill rotWithShape="1">
            <a:blip r:embed="rId3">
              <a:alphaModFix/>
            </a:blip>
            <a:stretch>
              <a:fillRect b="0" l="0" r="0" t="0"/>
            </a:stretch>
          </a:blipFill>
          <a:ln>
            <a:noFill/>
          </a:ln>
        </p:spPr>
      </p:sp>
      <p:sp>
        <p:nvSpPr>
          <p:cNvPr id="85" name="Google Shape;85;p13"/>
          <p:cNvSpPr/>
          <p:nvPr/>
        </p:nvSpPr>
        <p:spPr>
          <a:xfrm>
            <a:off x="1028700" y="1028700"/>
            <a:ext cx="879376" cy="722687"/>
          </a:xfrm>
          <a:custGeom>
            <a:rect b="b" l="l" r="r" t="t"/>
            <a:pathLst>
              <a:path extrusionOk="0" h="722687" w="879376">
                <a:moveTo>
                  <a:pt x="0" y="0"/>
                </a:moveTo>
                <a:lnTo>
                  <a:pt x="879376" y="0"/>
                </a:lnTo>
                <a:lnTo>
                  <a:pt x="879376" y="722687"/>
                </a:lnTo>
                <a:lnTo>
                  <a:pt x="0" y="722687"/>
                </a:lnTo>
                <a:lnTo>
                  <a:pt x="0" y="0"/>
                </a:lnTo>
                <a:close/>
              </a:path>
            </a:pathLst>
          </a:custGeom>
          <a:blipFill rotWithShape="1">
            <a:blip r:embed="rId4">
              <a:alphaModFix/>
            </a:blip>
            <a:stretch>
              <a:fillRect b="0" l="0" r="0" t="0"/>
            </a:stretch>
          </a:blipFill>
          <a:ln>
            <a:noFill/>
          </a:ln>
        </p:spPr>
      </p:sp>
      <p:sp>
        <p:nvSpPr>
          <p:cNvPr id="86" name="Google Shape;86;p13"/>
          <p:cNvSpPr txBox="1"/>
          <p:nvPr/>
        </p:nvSpPr>
        <p:spPr>
          <a:xfrm>
            <a:off x="293238" y="2320297"/>
            <a:ext cx="12401400" cy="3047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lang="en-US" sz="6000">
                <a:solidFill>
                  <a:schemeClr val="lt1"/>
                </a:solidFill>
              </a:rPr>
              <a:t>SMiShing: A </a:t>
            </a:r>
            <a:r>
              <a:rPr lang="en-US" sz="6000">
                <a:solidFill>
                  <a:schemeClr val="lt1"/>
                </a:solidFill>
              </a:rPr>
              <a:t>Systematic</a:t>
            </a:r>
            <a:r>
              <a:rPr lang="en-US" sz="6000">
                <a:solidFill>
                  <a:schemeClr val="lt1"/>
                </a:solidFill>
              </a:rPr>
              <a:t> Literature Review with Suggestions for Future Research</a:t>
            </a:r>
            <a:endParaRPr sz="6000">
              <a:solidFill>
                <a:schemeClr val="lt1"/>
              </a:solidFill>
            </a:endParaRPr>
          </a:p>
        </p:txBody>
      </p:sp>
      <p:grpSp>
        <p:nvGrpSpPr>
          <p:cNvPr id="87" name="Google Shape;87;p13"/>
          <p:cNvGrpSpPr/>
          <p:nvPr/>
        </p:nvGrpSpPr>
        <p:grpSpPr>
          <a:xfrm>
            <a:off x="12865612" y="8031612"/>
            <a:ext cx="4393688" cy="1226688"/>
            <a:chOff x="0" y="-76200"/>
            <a:chExt cx="1157185" cy="323078"/>
          </a:xfrm>
        </p:grpSpPr>
        <p:sp>
          <p:nvSpPr>
            <p:cNvPr id="88" name="Google Shape;88;p13"/>
            <p:cNvSpPr/>
            <p:nvPr/>
          </p:nvSpPr>
          <p:spPr>
            <a:xfrm>
              <a:off x="0" y="0"/>
              <a:ext cx="1157185" cy="246878"/>
            </a:xfrm>
            <a:custGeom>
              <a:rect b="b" l="l" r="r" t="t"/>
              <a:pathLst>
                <a:path extrusionOk="0" h="246878" w="1157185">
                  <a:moveTo>
                    <a:pt x="17621" y="0"/>
                  </a:moveTo>
                  <a:lnTo>
                    <a:pt x="1139565" y="0"/>
                  </a:lnTo>
                  <a:cubicBezTo>
                    <a:pt x="1144238" y="0"/>
                    <a:pt x="1148720" y="1856"/>
                    <a:pt x="1152024" y="5161"/>
                  </a:cubicBezTo>
                  <a:cubicBezTo>
                    <a:pt x="1155329" y="8465"/>
                    <a:pt x="1157185" y="12947"/>
                    <a:pt x="1157185" y="17621"/>
                  </a:cubicBezTo>
                  <a:lnTo>
                    <a:pt x="1157185" y="229258"/>
                  </a:lnTo>
                  <a:cubicBezTo>
                    <a:pt x="1157185" y="233931"/>
                    <a:pt x="1155329" y="238413"/>
                    <a:pt x="1152024" y="241717"/>
                  </a:cubicBezTo>
                  <a:cubicBezTo>
                    <a:pt x="1148720" y="245022"/>
                    <a:pt x="1144238" y="246878"/>
                    <a:pt x="1139565" y="246878"/>
                  </a:cubicBezTo>
                  <a:lnTo>
                    <a:pt x="17621" y="246878"/>
                  </a:lnTo>
                  <a:cubicBezTo>
                    <a:pt x="12947" y="246878"/>
                    <a:pt x="8465" y="245022"/>
                    <a:pt x="5161" y="241717"/>
                  </a:cubicBezTo>
                  <a:cubicBezTo>
                    <a:pt x="1856" y="238413"/>
                    <a:pt x="0" y="233931"/>
                    <a:pt x="0" y="229258"/>
                  </a:cubicBezTo>
                  <a:lnTo>
                    <a:pt x="0" y="17621"/>
                  </a:lnTo>
                  <a:cubicBezTo>
                    <a:pt x="0" y="12947"/>
                    <a:pt x="1856" y="8465"/>
                    <a:pt x="5161" y="5161"/>
                  </a:cubicBezTo>
                  <a:cubicBezTo>
                    <a:pt x="8465" y="1856"/>
                    <a:pt x="12947" y="0"/>
                    <a:pt x="17621" y="0"/>
                  </a:cubicBezTo>
                  <a:close/>
                </a:path>
              </a:pathLst>
            </a:custGeom>
            <a:solidFill>
              <a:srgbClr val="FFFFFF">
                <a:alpha val="29803"/>
              </a:srgbClr>
            </a:solidFill>
            <a:ln cap="sq" cmpd="sng" w="9525">
              <a:solidFill>
                <a:srgbClr val="9EB49F">
                  <a:alpha val="29803"/>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txBox="1"/>
            <p:nvPr/>
          </p:nvSpPr>
          <p:spPr>
            <a:xfrm>
              <a:off x="0" y="-76200"/>
              <a:ext cx="1157185" cy="323078"/>
            </a:xfrm>
            <a:prstGeom prst="rect">
              <a:avLst/>
            </a:prstGeom>
            <a:noFill/>
            <a:ln>
              <a:noFill/>
            </a:ln>
          </p:spPr>
          <p:txBody>
            <a:bodyPr anchorCtr="0" anchor="ctr" bIns="50800" lIns="50800" spcFirstLastPara="1" rIns="50800" wrap="square" tIns="50800">
              <a:noAutofit/>
            </a:bodyPr>
            <a:lstStyle/>
            <a:p>
              <a:pPr indent="0" lvl="0" marL="0" marR="0" rtl="0" algn="ctr">
                <a:lnSpc>
                  <a:spcPct val="24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0" name="Google Shape;90;p13"/>
          <p:cNvSpPr txBox="1"/>
          <p:nvPr/>
        </p:nvSpPr>
        <p:spPr>
          <a:xfrm>
            <a:off x="13239519" y="8510852"/>
            <a:ext cx="3645900" cy="5541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i="0" lang="en-US" sz="3599" u="none" cap="none" strike="noStrike">
                <a:solidFill>
                  <a:schemeClr val="lt1"/>
                </a:solidFill>
                <a:latin typeface="Work Sans"/>
                <a:ea typeface="Work Sans"/>
                <a:cs typeface="Work Sans"/>
                <a:sym typeface="Work Sans"/>
              </a:rPr>
              <a:t>Brian Mellinger</a:t>
            </a:r>
            <a:endParaRPr sz="2200">
              <a:solidFill>
                <a:schemeClr val="lt1"/>
              </a:solidFill>
            </a:endParaRPr>
          </a:p>
        </p:txBody>
      </p:sp>
      <p:sp>
        <p:nvSpPr>
          <p:cNvPr id="91" name="Google Shape;91;p13"/>
          <p:cNvSpPr txBox="1"/>
          <p:nvPr/>
        </p:nvSpPr>
        <p:spPr>
          <a:xfrm>
            <a:off x="2353402" y="1102071"/>
            <a:ext cx="2843094" cy="556896"/>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0" i="0" lang="en-US" sz="3199" u="none" cap="none" strike="noStrike">
                <a:solidFill>
                  <a:srgbClr val="FFFFFF"/>
                </a:solidFill>
                <a:latin typeface="Work Sans"/>
                <a:ea typeface="Work Sans"/>
                <a:cs typeface="Work Sans"/>
                <a:sym typeface="Work Sans"/>
              </a:rPr>
              <a:t>UNC Charlotte</a:t>
            </a:r>
            <a:endParaRPr/>
          </a:p>
        </p:txBody>
      </p:sp>
      <p:pic>
        <p:nvPicPr>
          <p:cNvPr id="92" name="Google Shape;92;p13" title="SPEX logo_tall.jpg"/>
          <p:cNvPicPr preferRelativeResize="0"/>
          <p:nvPr/>
        </p:nvPicPr>
        <p:blipFill>
          <a:blip r:embed="rId5">
            <a:alphaModFix/>
          </a:blip>
          <a:stretch>
            <a:fillRect/>
          </a:stretch>
        </p:blipFill>
        <p:spPr>
          <a:xfrm>
            <a:off x="454338" y="6324538"/>
            <a:ext cx="6641225" cy="3735686"/>
          </a:xfrm>
          <a:prstGeom prst="rect">
            <a:avLst/>
          </a:prstGeom>
          <a:noFill/>
          <a:ln>
            <a:noFill/>
          </a:ln>
        </p:spPr>
      </p:pic>
      <p:pic>
        <p:nvPicPr>
          <p:cNvPr id="93" name="Google Shape;93;p13" title="CCI-logo.jpg"/>
          <p:cNvPicPr preferRelativeResize="0"/>
          <p:nvPr/>
        </p:nvPicPr>
        <p:blipFill>
          <a:blip r:embed="rId6">
            <a:alphaModFix/>
          </a:blip>
          <a:stretch>
            <a:fillRect/>
          </a:stretch>
        </p:blipFill>
        <p:spPr>
          <a:xfrm>
            <a:off x="15052325" y="1320591"/>
            <a:ext cx="1619250" cy="1619250"/>
          </a:xfrm>
          <a:prstGeom prst="rect">
            <a:avLst/>
          </a:prstGeom>
          <a:noFill/>
          <a:ln>
            <a:noFill/>
          </a:ln>
        </p:spPr>
      </p:pic>
      <p:sp>
        <p:nvSpPr>
          <p:cNvPr id="94" name="Google Shape;94;p13"/>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33333">
              <a:srgbClr val="29464A"/>
            </a:gs>
            <a:gs pos="66667">
              <a:srgbClr val="6D8080"/>
            </a:gs>
            <a:gs pos="100000">
              <a:srgbClr val="B9C8B6"/>
            </a:gs>
          </a:gsLst>
          <a:lin ang="5400000" scaled="0"/>
        </a:gradFill>
      </p:bgPr>
    </p:bg>
    <p:spTree>
      <p:nvGrpSpPr>
        <p:cNvPr id="98" name="Shape 98"/>
        <p:cNvGrpSpPr/>
        <p:nvPr/>
      </p:nvGrpSpPr>
      <p:grpSpPr>
        <a:xfrm>
          <a:off x="0" y="0"/>
          <a:ext cx="0" cy="0"/>
          <a:chOff x="0" y="0"/>
          <a:chExt cx="0" cy="0"/>
        </a:xfrm>
      </p:grpSpPr>
      <p:sp>
        <p:nvSpPr>
          <p:cNvPr id="99" name="Google Shape;99;p14"/>
          <p:cNvSpPr txBox="1"/>
          <p:nvPr/>
        </p:nvSpPr>
        <p:spPr>
          <a:xfrm>
            <a:off x="1587787" y="1304162"/>
            <a:ext cx="15112500" cy="1000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6500">
                <a:solidFill>
                  <a:srgbClr val="FFFFFF"/>
                </a:solidFill>
              </a:rPr>
              <a:t>Who am I? </a:t>
            </a:r>
            <a:endParaRPr/>
          </a:p>
        </p:txBody>
      </p:sp>
      <p:sp>
        <p:nvSpPr>
          <p:cNvPr id="100" name="Google Shape;100;p14"/>
          <p:cNvSpPr/>
          <p:nvPr/>
        </p:nvSpPr>
        <p:spPr>
          <a:xfrm>
            <a:off x="930925" y="2009550"/>
            <a:ext cx="4096512" cy="4070096"/>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29800"/>
            </a:srgbClr>
          </a:solidFill>
          <a:ln cap="sq" cmpd="sng" w="9525">
            <a:solidFill>
              <a:schemeClr val="dk2">
                <a:alpha val="29800"/>
              </a:scheme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1" name="Google Shape;101;p14" title="professional_photo.jpg"/>
          <p:cNvPicPr preferRelativeResize="0"/>
          <p:nvPr/>
        </p:nvPicPr>
        <p:blipFill>
          <a:blip r:embed="rId3">
            <a:alphaModFix/>
          </a:blip>
          <a:stretch>
            <a:fillRect/>
          </a:stretch>
        </p:blipFill>
        <p:spPr>
          <a:xfrm>
            <a:off x="1074181" y="2139612"/>
            <a:ext cx="3810000" cy="3810000"/>
          </a:xfrm>
          <a:prstGeom prst="ellipse">
            <a:avLst/>
          </a:prstGeom>
          <a:noFill/>
          <a:ln cap="flat" cmpd="sng" w="28575">
            <a:solidFill>
              <a:schemeClr val="dk2"/>
            </a:solidFill>
            <a:prstDash val="solid"/>
            <a:round/>
            <a:headEnd len="sm" w="sm" type="none"/>
            <a:tailEnd len="sm" w="sm" type="none"/>
          </a:ln>
        </p:spPr>
      </p:pic>
      <p:sp>
        <p:nvSpPr>
          <p:cNvPr id="102" name="Google Shape;102;p14"/>
          <p:cNvSpPr txBox="1"/>
          <p:nvPr/>
        </p:nvSpPr>
        <p:spPr>
          <a:xfrm>
            <a:off x="6289650" y="3640675"/>
            <a:ext cx="804600" cy="1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03" name="Google Shape;103;p14"/>
          <p:cNvSpPr txBox="1"/>
          <p:nvPr/>
        </p:nvSpPr>
        <p:spPr>
          <a:xfrm>
            <a:off x="5963425" y="2857750"/>
            <a:ext cx="9612900" cy="5695200"/>
          </a:xfrm>
          <a:prstGeom prst="rect">
            <a:avLst/>
          </a:prstGeom>
          <a:noFill/>
          <a:ln>
            <a:noFill/>
          </a:ln>
        </p:spPr>
        <p:txBody>
          <a:bodyPr anchorCtr="0" anchor="t" bIns="91425" lIns="91425" spcFirstLastPara="1" rIns="91425" wrap="square" tIns="91425">
            <a:noAutofit/>
          </a:bodyPr>
          <a:lstStyle/>
          <a:p>
            <a:pPr indent="-431800" lvl="0" marL="457200" rtl="0" algn="l">
              <a:lnSpc>
                <a:spcPct val="150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Undergraduate</a:t>
            </a:r>
            <a:r>
              <a:rPr lang="en-US" sz="3200">
                <a:solidFill>
                  <a:schemeClr val="lt1"/>
                </a:solidFill>
                <a:latin typeface="Calibri"/>
                <a:ea typeface="Calibri"/>
                <a:cs typeface="Calibri"/>
                <a:sym typeface="Calibri"/>
              </a:rPr>
              <a:t> Researcher under Dr. Cori Faklaris</a:t>
            </a:r>
            <a:endParaRPr sz="3200">
              <a:solidFill>
                <a:schemeClr val="lt1"/>
              </a:solidFill>
              <a:latin typeface="Calibri"/>
              <a:ea typeface="Calibri"/>
              <a:cs typeface="Calibri"/>
              <a:sym typeface="Calibri"/>
            </a:endParaRPr>
          </a:p>
          <a:p>
            <a:pPr indent="0" lvl="0" marL="0" rtl="0" algn="l">
              <a:lnSpc>
                <a:spcPct val="150000"/>
              </a:lnSpc>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lnSpc>
                <a:spcPct val="150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Education </a:t>
            </a:r>
            <a:endParaRPr sz="3200">
              <a:solidFill>
                <a:schemeClr val="lt1"/>
              </a:solidFill>
              <a:latin typeface="Calibri"/>
              <a:ea typeface="Calibri"/>
              <a:cs typeface="Calibri"/>
              <a:sym typeface="Calibri"/>
            </a:endParaRPr>
          </a:p>
          <a:p>
            <a:pPr indent="-431800" lvl="1" marL="914400" rtl="0" algn="l">
              <a:lnSpc>
                <a:spcPct val="150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B.S. Computer Science (2027)</a:t>
            </a:r>
            <a:endParaRPr sz="3200">
              <a:solidFill>
                <a:schemeClr val="lt1"/>
              </a:solidFill>
              <a:latin typeface="Calibri"/>
              <a:ea typeface="Calibri"/>
              <a:cs typeface="Calibri"/>
              <a:sym typeface="Calibri"/>
            </a:endParaRPr>
          </a:p>
          <a:p>
            <a:pPr indent="-431800" lvl="1" marL="914400" rtl="0" algn="l">
              <a:lnSpc>
                <a:spcPct val="150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M.S. Cybersecurity (2028)</a:t>
            </a:r>
            <a:endParaRPr sz="3200">
              <a:solidFill>
                <a:schemeClr val="lt1"/>
              </a:solidFill>
              <a:latin typeface="Calibri"/>
              <a:ea typeface="Calibri"/>
              <a:cs typeface="Calibri"/>
              <a:sym typeface="Calibri"/>
            </a:endParaRPr>
          </a:p>
          <a:p>
            <a:pPr indent="-431800" lvl="1" marL="914400" rtl="0" algn="l">
              <a:lnSpc>
                <a:spcPct val="150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US Army - Cyber Warfare Officer (2029)</a:t>
            </a:r>
            <a:endParaRPr sz="3200">
              <a:solidFill>
                <a:schemeClr val="lt1"/>
              </a:solidFill>
              <a:latin typeface="Calibri"/>
              <a:ea typeface="Calibri"/>
              <a:cs typeface="Calibri"/>
              <a:sym typeface="Calibri"/>
            </a:endParaRPr>
          </a:p>
          <a:p>
            <a:pPr indent="0" lvl="0" marL="0" rtl="0" algn="l">
              <a:lnSpc>
                <a:spcPct val="150000"/>
              </a:lnSpc>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lnSpc>
                <a:spcPct val="150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My experience with cybercrime </a:t>
            </a:r>
            <a:endParaRPr sz="3200">
              <a:solidFill>
                <a:schemeClr val="lt1"/>
              </a:solidFill>
              <a:latin typeface="Calibri"/>
              <a:ea typeface="Calibri"/>
              <a:cs typeface="Calibri"/>
              <a:sym typeface="Calibri"/>
            </a:endParaRPr>
          </a:p>
        </p:txBody>
      </p:sp>
      <p:grpSp>
        <p:nvGrpSpPr>
          <p:cNvPr id="104" name="Google Shape;104;p14"/>
          <p:cNvGrpSpPr/>
          <p:nvPr/>
        </p:nvGrpSpPr>
        <p:grpSpPr>
          <a:xfrm>
            <a:off x="3" y="8941096"/>
            <a:ext cx="3498292" cy="1345904"/>
            <a:chOff x="9355875" y="3095472"/>
            <a:chExt cx="7344723" cy="2109898"/>
          </a:xfrm>
        </p:grpSpPr>
        <p:grpSp>
          <p:nvGrpSpPr>
            <p:cNvPr id="105" name="Google Shape;105;p14"/>
            <p:cNvGrpSpPr/>
            <p:nvPr/>
          </p:nvGrpSpPr>
          <p:grpSpPr>
            <a:xfrm>
              <a:off x="9355875" y="3095472"/>
              <a:ext cx="7344723" cy="2109898"/>
              <a:chOff x="3" y="-76198"/>
              <a:chExt cx="1934400" cy="555690"/>
            </a:xfrm>
          </p:grpSpPr>
          <p:sp>
            <p:nvSpPr>
              <p:cNvPr id="106" name="Google Shape;106;p14"/>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107" name="Google Shape;107;p14"/>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108" name="Google Shape;108;p14"/>
            <p:cNvGrpSpPr/>
            <p:nvPr/>
          </p:nvGrpSpPr>
          <p:grpSpPr>
            <a:xfrm>
              <a:off x="9846862" y="3934727"/>
              <a:ext cx="6362325" cy="981398"/>
              <a:chOff x="0" y="-238723"/>
              <a:chExt cx="8483100" cy="1308531"/>
            </a:xfrm>
          </p:grpSpPr>
          <p:sp>
            <p:nvSpPr>
              <p:cNvPr id="109" name="Google Shape;109;p14"/>
              <p:cNvSpPr txBox="1"/>
              <p:nvPr/>
            </p:nvSpPr>
            <p:spPr>
              <a:xfrm>
                <a:off x="0" y="-238723"/>
                <a:ext cx="8483100" cy="6564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Introduction</a:t>
                </a:r>
                <a:endParaRPr sz="1735"/>
              </a:p>
            </p:txBody>
          </p:sp>
          <p:sp>
            <p:nvSpPr>
              <p:cNvPr id="110" name="Google Shape;110;p14"/>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sp>
        <p:nvSpPr>
          <p:cNvPr id="111" name="Google Shape;111;p14"/>
          <p:cNvSpPr txBox="1"/>
          <p:nvPr/>
        </p:nvSpPr>
        <p:spPr>
          <a:xfrm>
            <a:off x="3937000" y="9201850"/>
            <a:ext cx="4542600" cy="82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lt1"/>
                </a:solidFill>
                <a:latin typeface="Calibri"/>
                <a:ea typeface="Calibri"/>
                <a:cs typeface="Calibri"/>
                <a:sym typeface="Calibri"/>
              </a:rPr>
              <a:t>bmelling@charlotte.edu</a:t>
            </a:r>
            <a:endParaRPr sz="3200">
              <a:solidFill>
                <a:schemeClr val="lt1"/>
              </a:solidFill>
              <a:latin typeface="Calibri"/>
              <a:ea typeface="Calibri"/>
              <a:cs typeface="Calibri"/>
              <a:sym typeface="Calibri"/>
            </a:endParaRPr>
          </a:p>
        </p:txBody>
      </p:sp>
      <p:sp>
        <p:nvSpPr>
          <p:cNvPr id="112" name="Google Shape;112;p14"/>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33330">
              <a:srgbClr val="29464A"/>
            </a:gs>
            <a:gs pos="66670">
              <a:srgbClr val="6D8080"/>
            </a:gs>
            <a:gs pos="100000">
              <a:srgbClr val="B9C8B6"/>
            </a:gs>
          </a:gsLst>
          <a:lin ang="5400012" scaled="0"/>
        </a:gradFill>
      </p:bgPr>
    </p:bg>
    <p:spTree>
      <p:nvGrpSpPr>
        <p:cNvPr id="116" name="Shape 116"/>
        <p:cNvGrpSpPr/>
        <p:nvPr/>
      </p:nvGrpSpPr>
      <p:grpSpPr>
        <a:xfrm>
          <a:off x="0" y="0"/>
          <a:ext cx="0" cy="0"/>
          <a:chOff x="0" y="0"/>
          <a:chExt cx="0" cy="0"/>
        </a:xfrm>
      </p:grpSpPr>
      <p:sp>
        <p:nvSpPr>
          <p:cNvPr id="117" name="Google Shape;117;p15"/>
          <p:cNvSpPr txBox="1"/>
          <p:nvPr/>
        </p:nvSpPr>
        <p:spPr>
          <a:xfrm>
            <a:off x="1587787" y="1304162"/>
            <a:ext cx="15112500" cy="1000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6500" u="none" cap="none" strike="noStrike">
                <a:solidFill>
                  <a:srgbClr val="FFFFFF"/>
                </a:solidFill>
                <a:latin typeface="Arial"/>
                <a:ea typeface="Arial"/>
                <a:cs typeface="Arial"/>
                <a:sym typeface="Arial"/>
              </a:rPr>
              <a:t>Outline</a:t>
            </a:r>
            <a:endParaRPr/>
          </a:p>
        </p:txBody>
      </p:sp>
      <p:grpSp>
        <p:nvGrpSpPr>
          <p:cNvPr id="118" name="Google Shape;118;p15"/>
          <p:cNvGrpSpPr/>
          <p:nvPr/>
        </p:nvGrpSpPr>
        <p:grpSpPr>
          <a:xfrm>
            <a:off x="331673" y="2285959"/>
            <a:ext cx="5943350" cy="2286074"/>
            <a:chOff x="9355875" y="3095472"/>
            <a:chExt cx="7344723" cy="2109898"/>
          </a:xfrm>
        </p:grpSpPr>
        <p:grpSp>
          <p:nvGrpSpPr>
            <p:cNvPr id="119" name="Google Shape;119;p15"/>
            <p:cNvGrpSpPr/>
            <p:nvPr/>
          </p:nvGrpSpPr>
          <p:grpSpPr>
            <a:xfrm>
              <a:off x="9355875" y="3095472"/>
              <a:ext cx="7344723" cy="2109898"/>
              <a:chOff x="3" y="-76198"/>
              <a:chExt cx="1934400" cy="555690"/>
            </a:xfrm>
          </p:grpSpPr>
          <p:sp>
            <p:nvSpPr>
              <p:cNvPr id="120" name="Google Shape;120;p15"/>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8500">
                <a:solidFill>
                  <a:srgbClr val="9EB49F">
                    <a:alpha val="29800"/>
                  </a:srgbClr>
                </a:solidFill>
                <a:prstDash val="solid"/>
                <a:miter lim="8000"/>
                <a:headEnd len="sm" w="sm" type="none"/>
                <a:tailEnd len="sm" w="sm" type="none"/>
              </a:ln>
            </p:spPr>
            <p:txBody>
              <a:bodyPr anchorCtr="0" anchor="ctr" bIns="81475" lIns="81475" spcFirstLastPara="1" rIns="81475" wrap="square" tIns="81475">
                <a:noAutofit/>
              </a:bodyPr>
              <a:lstStyle/>
              <a:p>
                <a:pPr indent="0" lvl="0" marL="0" rtl="0" algn="l">
                  <a:spcBef>
                    <a:spcPts val="0"/>
                  </a:spcBef>
                  <a:spcAft>
                    <a:spcPts val="0"/>
                  </a:spcAft>
                  <a:buNone/>
                </a:pPr>
                <a:r>
                  <a:t/>
                </a:r>
                <a:endParaRPr sz="1248"/>
              </a:p>
            </p:txBody>
          </p:sp>
          <p:sp>
            <p:nvSpPr>
              <p:cNvPr id="121" name="Google Shape;121;p15"/>
              <p:cNvSpPr txBox="1"/>
              <p:nvPr/>
            </p:nvSpPr>
            <p:spPr>
              <a:xfrm>
                <a:off x="3" y="-76198"/>
                <a:ext cx="1934400" cy="479400"/>
              </a:xfrm>
              <a:prstGeom prst="rect">
                <a:avLst/>
              </a:prstGeom>
              <a:noFill/>
              <a:ln>
                <a:noFill/>
              </a:ln>
            </p:spPr>
            <p:txBody>
              <a:bodyPr anchorCtr="0" anchor="ctr" bIns="45300" lIns="45300" spcFirstLastPara="1" rIns="45300" wrap="square" tIns="45300">
                <a:noAutofit/>
              </a:bodyPr>
              <a:lstStyle/>
              <a:p>
                <a:pPr indent="0" lvl="0" marL="0" marR="0" rtl="0" algn="ctr">
                  <a:lnSpc>
                    <a:spcPct val="248833"/>
                  </a:lnSpc>
                  <a:spcBef>
                    <a:spcPts val="0"/>
                  </a:spcBef>
                  <a:spcAft>
                    <a:spcPts val="0"/>
                  </a:spcAft>
                  <a:buNone/>
                </a:pPr>
                <a:r>
                  <a:t/>
                </a:r>
                <a:endParaRPr b="0" i="0" sz="1605" u="none" cap="none" strike="noStrike">
                  <a:solidFill>
                    <a:schemeClr val="dk1"/>
                  </a:solidFill>
                  <a:latin typeface="Calibri"/>
                  <a:ea typeface="Calibri"/>
                  <a:cs typeface="Calibri"/>
                  <a:sym typeface="Calibri"/>
                </a:endParaRPr>
              </a:p>
            </p:txBody>
          </p:sp>
        </p:grpSp>
        <p:grpSp>
          <p:nvGrpSpPr>
            <p:cNvPr id="122" name="Google Shape;122;p15"/>
            <p:cNvGrpSpPr/>
            <p:nvPr/>
          </p:nvGrpSpPr>
          <p:grpSpPr>
            <a:xfrm>
              <a:off x="9846862" y="4056619"/>
              <a:ext cx="6362325" cy="859506"/>
              <a:chOff x="0" y="-76200"/>
              <a:chExt cx="8483100" cy="1146008"/>
            </a:xfrm>
          </p:grpSpPr>
          <p:sp>
            <p:nvSpPr>
              <p:cNvPr id="123" name="Google Shape;123;p15"/>
              <p:cNvSpPr txBox="1"/>
              <p:nvPr/>
            </p:nvSpPr>
            <p:spPr>
              <a:xfrm>
                <a:off x="0" y="-76200"/>
                <a:ext cx="8483100" cy="6564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852">
                    <a:solidFill>
                      <a:srgbClr val="FFFFFF"/>
                    </a:solidFill>
                    <a:latin typeface="Work Sans"/>
                    <a:ea typeface="Work Sans"/>
                    <a:cs typeface="Work Sans"/>
                    <a:sym typeface="Work Sans"/>
                  </a:rPr>
                  <a:t>Introduction</a:t>
                </a:r>
                <a:endParaRPr sz="1248"/>
              </a:p>
            </p:txBody>
          </p:sp>
          <p:sp>
            <p:nvSpPr>
              <p:cNvPr id="124" name="Google Shape;124;p15"/>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1248"/>
              </a:p>
            </p:txBody>
          </p:sp>
        </p:grpSp>
      </p:grpSp>
      <p:grpSp>
        <p:nvGrpSpPr>
          <p:cNvPr id="125" name="Google Shape;125;p15"/>
          <p:cNvGrpSpPr/>
          <p:nvPr/>
        </p:nvGrpSpPr>
        <p:grpSpPr>
          <a:xfrm>
            <a:off x="11442175" y="7298012"/>
            <a:ext cx="5943350" cy="2285879"/>
            <a:chOff x="9355865" y="6037021"/>
            <a:chExt cx="7344723" cy="2708708"/>
          </a:xfrm>
        </p:grpSpPr>
        <p:grpSp>
          <p:nvGrpSpPr>
            <p:cNvPr id="126" name="Google Shape;126;p15"/>
            <p:cNvGrpSpPr/>
            <p:nvPr/>
          </p:nvGrpSpPr>
          <p:grpSpPr>
            <a:xfrm>
              <a:off x="9355865" y="6037021"/>
              <a:ext cx="7344723" cy="2708708"/>
              <a:chOff x="0" y="-76200"/>
              <a:chExt cx="1934400" cy="713400"/>
            </a:xfrm>
          </p:grpSpPr>
          <p:sp>
            <p:nvSpPr>
              <p:cNvPr id="127" name="Google Shape;127;p15"/>
              <p:cNvSpPr/>
              <p:nvPr/>
            </p:nvSpPr>
            <p:spPr>
              <a:xfrm>
                <a:off x="0" y="0"/>
                <a:ext cx="1934314" cy="637195"/>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7425">
                <a:solidFill>
                  <a:srgbClr val="9EB49F">
                    <a:alpha val="29800"/>
                  </a:srgbClr>
                </a:solidFill>
                <a:prstDash val="solid"/>
                <a:miter lim="8000"/>
                <a:headEnd len="sm" w="sm" type="none"/>
                <a:tailEnd len="sm" w="sm" type="none"/>
              </a:ln>
            </p:spPr>
            <p:txBody>
              <a:bodyPr anchorCtr="0" anchor="ctr" bIns="71225" lIns="71225" spcFirstLastPara="1" rIns="71225" wrap="square" tIns="71225">
                <a:noAutofit/>
              </a:bodyPr>
              <a:lstStyle/>
              <a:p>
                <a:pPr indent="0" lvl="0" marL="0" rtl="0" algn="l">
                  <a:spcBef>
                    <a:spcPts val="0"/>
                  </a:spcBef>
                  <a:spcAft>
                    <a:spcPts val="0"/>
                  </a:spcAft>
                  <a:buNone/>
                </a:pPr>
                <a:r>
                  <a:t/>
                </a:r>
                <a:endParaRPr/>
              </a:p>
            </p:txBody>
          </p:sp>
          <p:sp>
            <p:nvSpPr>
              <p:cNvPr id="128" name="Google Shape;128;p15"/>
              <p:cNvSpPr txBox="1"/>
              <p:nvPr/>
            </p:nvSpPr>
            <p:spPr>
              <a:xfrm>
                <a:off x="0" y="-76200"/>
                <a:ext cx="1934400" cy="713400"/>
              </a:xfrm>
              <a:prstGeom prst="rect">
                <a:avLst/>
              </a:prstGeom>
              <a:noFill/>
              <a:ln>
                <a:noFill/>
              </a:ln>
            </p:spPr>
            <p:txBody>
              <a:bodyPr anchorCtr="0" anchor="ctr" bIns="39575" lIns="39575" spcFirstLastPara="1" rIns="39575" wrap="square" tIns="39575">
                <a:noAutofit/>
              </a:bodyPr>
              <a:lstStyle/>
              <a:p>
                <a:pPr indent="0" lvl="0" marL="0" marR="0" rtl="0" algn="ctr">
                  <a:lnSpc>
                    <a:spcPct val="248833"/>
                  </a:lnSpc>
                  <a:spcBef>
                    <a:spcPts val="0"/>
                  </a:spcBef>
                  <a:spcAft>
                    <a:spcPts val="0"/>
                  </a:spcAft>
                  <a:buNone/>
                </a:pPr>
                <a:r>
                  <a:t/>
                </a:r>
                <a:endParaRPr b="0" i="0" sz="1402" u="none" cap="none" strike="noStrike">
                  <a:solidFill>
                    <a:schemeClr val="dk1"/>
                  </a:solidFill>
                  <a:latin typeface="Calibri"/>
                  <a:ea typeface="Calibri"/>
                  <a:cs typeface="Calibri"/>
                  <a:sym typeface="Calibri"/>
                </a:endParaRPr>
              </a:p>
            </p:txBody>
          </p:sp>
        </p:grpSp>
        <p:grpSp>
          <p:nvGrpSpPr>
            <p:cNvPr id="129" name="Google Shape;129;p15"/>
            <p:cNvGrpSpPr/>
            <p:nvPr/>
          </p:nvGrpSpPr>
          <p:grpSpPr>
            <a:xfrm>
              <a:off x="9846862" y="7181774"/>
              <a:ext cx="6362325" cy="675906"/>
              <a:chOff x="0" y="168600"/>
              <a:chExt cx="8483100" cy="901208"/>
            </a:xfrm>
          </p:grpSpPr>
          <p:sp>
            <p:nvSpPr>
              <p:cNvPr id="130" name="Google Shape;130;p15"/>
              <p:cNvSpPr txBox="1"/>
              <p:nvPr/>
            </p:nvSpPr>
            <p:spPr>
              <a:xfrm>
                <a:off x="0" y="168600"/>
                <a:ext cx="8483100" cy="7509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850">
                    <a:solidFill>
                      <a:srgbClr val="FFFFFF"/>
                    </a:solidFill>
                    <a:latin typeface="Work Sans"/>
                    <a:ea typeface="Work Sans"/>
                    <a:cs typeface="Work Sans"/>
                    <a:sym typeface="Work Sans"/>
                  </a:rPr>
                  <a:t>Conclusion</a:t>
                </a:r>
                <a:endParaRPr sz="2850"/>
              </a:p>
            </p:txBody>
          </p:sp>
          <p:sp>
            <p:nvSpPr>
              <p:cNvPr id="131" name="Google Shape;131;p15"/>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1091"/>
              </a:p>
            </p:txBody>
          </p:sp>
        </p:grpSp>
      </p:grpSp>
      <p:grpSp>
        <p:nvGrpSpPr>
          <p:cNvPr id="132" name="Google Shape;132;p15"/>
          <p:cNvGrpSpPr/>
          <p:nvPr/>
        </p:nvGrpSpPr>
        <p:grpSpPr>
          <a:xfrm>
            <a:off x="5978725" y="4792079"/>
            <a:ext cx="5943350" cy="2285879"/>
            <a:chOff x="1587787" y="6037021"/>
            <a:chExt cx="7344723" cy="2708708"/>
          </a:xfrm>
        </p:grpSpPr>
        <p:grpSp>
          <p:nvGrpSpPr>
            <p:cNvPr id="133" name="Google Shape;133;p15"/>
            <p:cNvGrpSpPr/>
            <p:nvPr/>
          </p:nvGrpSpPr>
          <p:grpSpPr>
            <a:xfrm>
              <a:off x="1587787" y="6037021"/>
              <a:ext cx="7344723" cy="2708708"/>
              <a:chOff x="0" y="-76200"/>
              <a:chExt cx="1934400" cy="713400"/>
            </a:xfrm>
          </p:grpSpPr>
          <p:sp>
            <p:nvSpPr>
              <p:cNvPr id="134" name="Google Shape;134;p15"/>
              <p:cNvSpPr/>
              <p:nvPr/>
            </p:nvSpPr>
            <p:spPr>
              <a:xfrm>
                <a:off x="0" y="0"/>
                <a:ext cx="1934314" cy="637195"/>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7625">
                <a:solidFill>
                  <a:srgbClr val="9EB49F">
                    <a:alpha val="29800"/>
                  </a:srgbClr>
                </a:solidFill>
                <a:prstDash val="solid"/>
                <a:miter lim="8000"/>
                <a:headEnd len="sm" w="sm" type="none"/>
                <a:tailEnd len="sm" w="sm" type="none"/>
              </a:ln>
            </p:spPr>
            <p:txBody>
              <a:bodyPr anchorCtr="0" anchor="ctr" bIns="73150" lIns="73150" spcFirstLastPara="1" rIns="73150" wrap="square" tIns="73150">
                <a:noAutofit/>
              </a:bodyPr>
              <a:lstStyle/>
              <a:p>
                <a:pPr indent="0" lvl="0" marL="0" rtl="0" algn="l">
                  <a:spcBef>
                    <a:spcPts val="0"/>
                  </a:spcBef>
                  <a:spcAft>
                    <a:spcPts val="0"/>
                  </a:spcAft>
                  <a:buNone/>
                </a:pPr>
                <a:r>
                  <a:t/>
                </a:r>
                <a:endParaRPr/>
              </a:p>
            </p:txBody>
          </p:sp>
          <p:sp>
            <p:nvSpPr>
              <p:cNvPr id="135" name="Google Shape;135;p15"/>
              <p:cNvSpPr txBox="1"/>
              <p:nvPr/>
            </p:nvSpPr>
            <p:spPr>
              <a:xfrm>
                <a:off x="0" y="-76200"/>
                <a:ext cx="1934400" cy="713400"/>
              </a:xfrm>
              <a:prstGeom prst="rect">
                <a:avLst/>
              </a:prstGeom>
              <a:noFill/>
              <a:ln>
                <a:noFill/>
              </a:ln>
            </p:spPr>
            <p:txBody>
              <a:bodyPr anchorCtr="0" anchor="ctr" bIns="40650" lIns="40650" spcFirstLastPara="1" rIns="40650" wrap="square" tIns="40650">
                <a:noAutofit/>
              </a:bodyPr>
              <a:lstStyle/>
              <a:p>
                <a:pPr indent="0" lvl="0" marL="0" marR="0" rtl="0" algn="l">
                  <a:lnSpc>
                    <a:spcPct val="248833"/>
                  </a:lnSpc>
                  <a:spcBef>
                    <a:spcPts val="0"/>
                  </a:spcBef>
                  <a:spcAft>
                    <a:spcPts val="0"/>
                  </a:spcAft>
                  <a:buNone/>
                </a:pPr>
                <a:r>
                  <a:t/>
                </a:r>
                <a:endParaRPr b="0" i="0" sz="1440" u="none" cap="none" strike="noStrike">
                  <a:solidFill>
                    <a:schemeClr val="dk1"/>
                  </a:solidFill>
                  <a:latin typeface="Calibri"/>
                  <a:ea typeface="Calibri"/>
                  <a:cs typeface="Calibri"/>
                  <a:sym typeface="Calibri"/>
                </a:endParaRPr>
              </a:p>
            </p:txBody>
          </p:sp>
        </p:grpSp>
        <p:sp>
          <p:nvSpPr>
            <p:cNvPr id="136" name="Google Shape;136;p15"/>
            <p:cNvSpPr txBox="1"/>
            <p:nvPr/>
          </p:nvSpPr>
          <p:spPr>
            <a:xfrm>
              <a:off x="2078937" y="7181774"/>
              <a:ext cx="6362400" cy="5484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850">
                  <a:solidFill>
                    <a:srgbClr val="FFFFFF"/>
                  </a:solidFill>
                  <a:latin typeface="Work Sans"/>
                  <a:ea typeface="Work Sans"/>
                  <a:cs typeface="Work Sans"/>
                  <a:sym typeface="Work Sans"/>
                </a:rPr>
                <a:t>Research</a:t>
              </a:r>
              <a:endParaRPr sz="2850"/>
            </a:p>
          </p:txBody>
        </p:sp>
      </p:grpSp>
      <p:sp>
        <p:nvSpPr>
          <p:cNvPr id="137" name="Google Shape;137;p15"/>
          <p:cNvSpPr/>
          <p:nvPr/>
        </p:nvSpPr>
        <p:spPr>
          <a:xfrm rot="5400000">
            <a:off x="7573125" y="3119050"/>
            <a:ext cx="1261500" cy="12180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8" name="Google Shape;138;p15"/>
          <p:cNvSpPr/>
          <p:nvPr/>
        </p:nvSpPr>
        <p:spPr>
          <a:xfrm rot="5400000">
            <a:off x="13172725" y="5932275"/>
            <a:ext cx="1261500" cy="12180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9" name="Google Shape;139;p15"/>
          <p:cNvSpPr/>
          <p:nvPr/>
        </p:nvSpPr>
        <p:spPr>
          <a:xfrm flipH="1" rot="10800000">
            <a:off x="3701975" y="5420075"/>
            <a:ext cx="1261500" cy="12180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0" name="Google Shape;140;p15"/>
          <p:cNvSpPr/>
          <p:nvPr/>
        </p:nvSpPr>
        <p:spPr>
          <a:xfrm flipH="1" rot="10800000">
            <a:off x="9696950" y="7831938"/>
            <a:ext cx="1261500" cy="12180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1" name="Google Shape;141;p15"/>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6" scaled="0"/>
        </a:gradFill>
      </p:bgPr>
    </p:bg>
    <p:spTree>
      <p:nvGrpSpPr>
        <p:cNvPr id="145" name="Shape 145"/>
        <p:cNvGrpSpPr/>
        <p:nvPr/>
      </p:nvGrpSpPr>
      <p:grpSpPr>
        <a:xfrm>
          <a:off x="0" y="0"/>
          <a:ext cx="0" cy="0"/>
          <a:chOff x="0" y="0"/>
          <a:chExt cx="0" cy="0"/>
        </a:xfrm>
      </p:grpSpPr>
      <p:sp>
        <p:nvSpPr>
          <p:cNvPr id="146" name="Google Shape;146;p16"/>
          <p:cNvSpPr txBox="1"/>
          <p:nvPr/>
        </p:nvSpPr>
        <p:spPr>
          <a:xfrm>
            <a:off x="658975" y="811400"/>
            <a:ext cx="9968700" cy="1000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500" u="none" cap="none" strike="noStrike">
                <a:solidFill>
                  <a:srgbClr val="FFFFFF"/>
                </a:solidFill>
                <a:latin typeface="Arial"/>
                <a:ea typeface="Arial"/>
                <a:cs typeface="Arial"/>
                <a:sym typeface="Arial"/>
              </a:rPr>
              <a:t>W</a:t>
            </a:r>
            <a:r>
              <a:rPr b="1" lang="en-US" sz="6500">
                <a:solidFill>
                  <a:srgbClr val="FFFFFF"/>
                </a:solidFill>
              </a:rPr>
              <a:t>hat is smishing</a:t>
            </a:r>
            <a:r>
              <a:rPr b="1" i="0" lang="en-US" sz="6500" u="none" cap="none" strike="noStrike">
                <a:solidFill>
                  <a:srgbClr val="FFFFFF"/>
                </a:solidFill>
                <a:latin typeface="Arial"/>
                <a:ea typeface="Arial"/>
                <a:cs typeface="Arial"/>
                <a:sym typeface="Arial"/>
              </a:rPr>
              <a:t>?</a:t>
            </a:r>
            <a:endParaRPr/>
          </a:p>
        </p:txBody>
      </p:sp>
      <p:grpSp>
        <p:nvGrpSpPr>
          <p:cNvPr id="147" name="Google Shape;147;p16"/>
          <p:cNvGrpSpPr/>
          <p:nvPr/>
        </p:nvGrpSpPr>
        <p:grpSpPr>
          <a:xfrm>
            <a:off x="3" y="8941096"/>
            <a:ext cx="3498292" cy="1345904"/>
            <a:chOff x="9355875" y="3095472"/>
            <a:chExt cx="7344723" cy="2109898"/>
          </a:xfrm>
        </p:grpSpPr>
        <p:grpSp>
          <p:nvGrpSpPr>
            <p:cNvPr id="148" name="Google Shape;148;p16"/>
            <p:cNvGrpSpPr/>
            <p:nvPr/>
          </p:nvGrpSpPr>
          <p:grpSpPr>
            <a:xfrm>
              <a:off x="9355875" y="3095472"/>
              <a:ext cx="7344723" cy="2109898"/>
              <a:chOff x="3" y="-76198"/>
              <a:chExt cx="1934400" cy="555690"/>
            </a:xfrm>
          </p:grpSpPr>
          <p:sp>
            <p:nvSpPr>
              <p:cNvPr id="149" name="Google Shape;149;p16"/>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150" name="Google Shape;150;p16"/>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151" name="Google Shape;151;p16"/>
            <p:cNvGrpSpPr/>
            <p:nvPr/>
          </p:nvGrpSpPr>
          <p:grpSpPr>
            <a:xfrm>
              <a:off x="9846862" y="3934727"/>
              <a:ext cx="6362325" cy="981398"/>
              <a:chOff x="0" y="-238723"/>
              <a:chExt cx="8483100" cy="1308531"/>
            </a:xfrm>
          </p:grpSpPr>
          <p:sp>
            <p:nvSpPr>
              <p:cNvPr id="152" name="Google Shape;152;p16"/>
              <p:cNvSpPr txBox="1"/>
              <p:nvPr/>
            </p:nvSpPr>
            <p:spPr>
              <a:xfrm>
                <a:off x="0" y="-238723"/>
                <a:ext cx="8483100" cy="6564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Introduction</a:t>
                </a:r>
                <a:endParaRPr sz="1735"/>
              </a:p>
            </p:txBody>
          </p:sp>
          <p:sp>
            <p:nvSpPr>
              <p:cNvPr id="153" name="Google Shape;153;p16"/>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sp>
        <p:nvSpPr>
          <p:cNvPr id="154" name="Google Shape;154;p16"/>
          <p:cNvSpPr txBox="1"/>
          <p:nvPr/>
        </p:nvSpPr>
        <p:spPr>
          <a:xfrm>
            <a:off x="658975" y="3429000"/>
            <a:ext cx="16442100" cy="25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000">
                <a:solidFill>
                  <a:schemeClr val="lt1"/>
                </a:solidFill>
                <a:latin typeface="Calibri"/>
                <a:ea typeface="Calibri"/>
                <a:cs typeface="Calibri"/>
                <a:sym typeface="Calibri"/>
              </a:rPr>
              <a:t>“… a type of </a:t>
            </a:r>
            <a:r>
              <a:rPr b="1" lang="en-US" sz="5500">
                <a:solidFill>
                  <a:schemeClr val="lt1"/>
                </a:solidFill>
                <a:latin typeface="Calibri"/>
                <a:ea typeface="Calibri"/>
                <a:cs typeface="Calibri"/>
                <a:sym typeface="Calibri"/>
              </a:rPr>
              <a:t>social engineering attack</a:t>
            </a:r>
            <a:r>
              <a:rPr lang="en-US" sz="4000">
                <a:solidFill>
                  <a:schemeClr val="lt1"/>
                </a:solidFill>
                <a:latin typeface="Calibri"/>
                <a:ea typeface="Calibri"/>
                <a:cs typeface="Calibri"/>
                <a:sym typeface="Calibri"/>
              </a:rPr>
              <a:t> … </a:t>
            </a:r>
            <a:r>
              <a:rPr b="1" lang="en-US" sz="5500">
                <a:solidFill>
                  <a:schemeClr val="lt1"/>
                </a:solidFill>
                <a:latin typeface="Calibri"/>
                <a:ea typeface="Calibri"/>
                <a:cs typeface="Calibri"/>
                <a:sym typeface="Calibri"/>
              </a:rPr>
              <a:t>fake text messages</a:t>
            </a:r>
            <a:r>
              <a:rPr lang="en-US" sz="4000">
                <a:solidFill>
                  <a:schemeClr val="lt1"/>
                </a:solidFill>
                <a:latin typeface="Calibri"/>
                <a:ea typeface="Calibri"/>
                <a:cs typeface="Calibri"/>
                <a:sym typeface="Calibri"/>
              </a:rPr>
              <a:t> are created … to </a:t>
            </a:r>
            <a:r>
              <a:rPr b="1" lang="en-US" sz="5500">
                <a:solidFill>
                  <a:schemeClr val="lt1"/>
                </a:solidFill>
                <a:latin typeface="Calibri"/>
                <a:ea typeface="Calibri"/>
                <a:cs typeface="Calibri"/>
                <a:sym typeface="Calibri"/>
              </a:rPr>
              <a:t>obtain</a:t>
            </a:r>
            <a:r>
              <a:rPr lang="en-US" sz="5500">
                <a:solidFill>
                  <a:schemeClr val="lt1"/>
                </a:solidFill>
                <a:latin typeface="Calibri"/>
                <a:ea typeface="Calibri"/>
                <a:cs typeface="Calibri"/>
                <a:sym typeface="Calibri"/>
              </a:rPr>
              <a:t> </a:t>
            </a:r>
            <a:r>
              <a:rPr lang="en-US" sz="4000">
                <a:solidFill>
                  <a:schemeClr val="lt1"/>
                </a:solidFill>
                <a:latin typeface="Calibri"/>
                <a:ea typeface="Calibri"/>
                <a:cs typeface="Calibri"/>
                <a:sym typeface="Calibri"/>
              </a:rPr>
              <a:t>user </a:t>
            </a:r>
            <a:r>
              <a:rPr b="1" lang="en-US" sz="5500">
                <a:solidFill>
                  <a:schemeClr val="lt1"/>
                </a:solidFill>
                <a:latin typeface="Calibri"/>
                <a:ea typeface="Calibri"/>
                <a:cs typeface="Calibri"/>
                <a:sym typeface="Calibri"/>
              </a:rPr>
              <a:t>credentials</a:t>
            </a:r>
            <a:r>
              <a:rPr lang="en-US" sz="4000">
                <a:solidFill>
                  <a:schemeClr val="lt1"/>
                </a:solidFill>
                <a:latin typeface="Calibri"/>
                <a:ea typeface="Calibri"/>
                <a:cs typeface="Calibri"/>
                <a:sym typeface="Calibri"/>
              </a:rPr>
              <a:t>, install malware … click on a URL that redirects them to a phishing website, or call the provided number …”</a:t>
            </a:r>
            <a:endParaRPr sz="4000">
              <a:solidFill>
                <a:schemeClr val="lt1"/>
              </a:solidFill>
              <a:latin typeface="Calibri"/>
              <a:ea typeface="Calibri"/>
              <a:cs typeface="Calibri"/>
              <a:sym typeface="Calibri"/>
            </a:endParaRPr>
          </a:p>
        </p:txBody>
      </p:sp>
      <p:sp>
        <p:nvSpPr>
          <p:cNvPr id="155" name="Google Shape;155;p16"/>
          <p:cNvSpPr txBox="1"/>
          <p:nvPr/>
        </p:nvSpPr>
        <p:spPr>
          <a:xfrm>
            <a:off x="4143325" y="8686800"/>
            <a:ext cx="10608900" cy="868200"/>
          </a:xfrm>
          <a:prstGeom prst="rect">
            <a:avLst/>
          </a:prstGeom>
          <a:noFill/>
          <a:ln>
            <a:noFill/>
          </a:ln>
        </p:spPr>
        <p:txBody>
          <a:bodyPr anchorCtr="0" anchor="t" bIns="91425" lIns="91425" spcFirstLastPara="1" rIns="91425" wrap="square" tIns="91425">
            <a:spAutoFit/>
          </a:bodyPr>
          <a:lstStyle/>
          <a:p>
            <a:pPr indent="0" lvl="0" marL="215900" marR="50800" rtl="0" algn="l">
              <a:lnSpc>
                <a:spcPct val="135000"/>
              </a:lnSpc>
              <a:spcBef>
                <a:spcPts val="0"/>
              </a:spcBef>
              <a:spcAft>
                <a:spcPts val="0"/>
              </a:spcAft>
              <a:buNone/>
            </a:pPr>
            <a:r>
              <a:rPr lang="en-US" sz="1200">
                <a:solidFill>
                  <a:srgbClr val="FFF2CC"/>
                </a:solidFill>
              </a:rPr>
              <a:t>Md Lutfor Rahman, Daniel Timko, Hamid Wali, and Ajaya Neupane. 2023. Users Really Do Respond To Smishing. In </a:t>
            </a:r>
            <a:r>
              <a:rPr i="1" lang="en-US" sz="1200">
                <a:solidFill>
                  <a:srgbClr val="FFF2CC"/>
                </a:solidFill>
              </a:rPr>
              <a:t>Proceedings of the Thirteenth ACM Conference on Data and Application Security and Privacy</a:t>
            </a:r>
            <a:r>
              <a:rPr lang="en-US" sz="1200">
                <a:solidFill>
                  <a:srgbClr val="FFF2CC"/>
                </a:solidFill>
              </a:rPr>
              <a:t> (</a:t>
            </a:r>
            <a:r>
              <a:rPr i="1" lang="en-US" sz="1200">
                <a:solidFill>
                  <a:srgbClr val="FFF2CC"/>
                </a:solidFill>
              </a:rPr>
              <a:t>CODASPY ’23</a:t>
            </a:r>
            <a:r>
              <a:rPr lang="en-US" sz="1200">
                <a:solidFill>
                  <a:srgbClr val="FFF2CC"/>
                </a:solidFill>
              </a:rPr>
              <a:t>), April 24, 2023. Association for Computing Machinery, New York, NY, USA, 49–60.</a:t>
            </a:r>
            <a:r>
              <a:rPr lang="en-US" sz="1200">
                <a:solidFill>
                  <a:srgbClr val="FFF2CC"/>
                </a:solidFill>
                <a:uFill>
                  <a:noFill/>
                </a:uFill>
                <a:hlinkClick r:id="rId3">
                  <a:extLst>
                    <a:ext uri="{A12FA001-AC4F-418D-AE19-62706E023703}">
                      <ahyp:hlinkClr val="tx"/>
                    </a:ext>
                  </a:extLst>
                </a:hlinkClick>
              </a:rPr>
              <a:t> </a:t>
            </a:r>
            <a:r>
              <a:rPr lang="en-US" sz="1200" u="sng">
                <a:solidFill>
                  <a:srgbClr val="FFF2CC"/>
                </a:solidFill>
                <a:hlinkClick r:id="rId4">
                  <a:extLst>
                    <a:ext uri="{A12FA001-AC4F-418D-AE19-62706E023703}">
                      <ahyp:hlinkClr val="tx"/>
                    </a:ext>
                  </a:extLst>
                </a:hlinkClick>
              </a:rPr>
              <a:t>https://doi.org/10.1145/3577923.3583640</a:t>
            </a:r>
            <a:endParaRPr sz="1200" u="sng">
              <a:solidFill>
                <a:srgbClr val="FFF2CC"/>
              </a:solidFill>
            </a:endParaRPr>
          </a:p>
        </p:txBody>
      </p:sp>
      <p:sp>
        <p:nvSpPr>
          <p:cNvPr id="156" name="Google Shape;156;p16"/>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6" scaled="0"/>
        </a:gradFill>
      </p:bgPr>
    </p:bg>
    <p:spTree>
      <p:nvGrpSpPr>
        <p:cNvPr id="160" name="Shape 160"/>
        <p:cNvGrpSpPr/>
        <p:nvPr/>
      </p:nvGrpSpPr>
      <p:grpSpPr>
        <a:xfrm>
          <a:off x="0" y="0"/>
          <a:ext cx="0" cy="0"/>
          <a:chOff x="0" y="0"/>
          <a:chExt cx="0" cy="0"/>
        </a:xfrm>
      </p:grpSpPr>
      <p:sp>
        <p:nvSpPr>
          <p:cNvPr id="161" name="Google Shape;161;p17"/>
          <p:cNvSpPr txBox="1"/>
          <p:nvPr/>
        </p:nvSpPr>
        <p:spPr>
          <a:xfrm>
            <a:off x="658975" y="811400"/>
            <a:ext cx="9968700" cy="1000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500" u="none" cap="none" strike="noStrike">
                <a:solidFill>
                  <a:srgbClr val="FFFFFF"/>
                </a:solidFill>
                <a:latin typeface="Arial"/>
                <a:ea typeface="Arial"/>
                <a:cs typeface="Arial"/>
                <a:sym typeface="Arial"/>
              </a:rPr>
              <a:t>W</a:t>
            </a:r>
            <a:r>
              <a:rPr b="1" lang="en-US" sz="6500">
                <a:solidFill>
                  <a:srgbClr val="FFFFFF"/>
                </a:solidFill>
              </a:rPr>
              <a:t>hat is smishing</a:t>
            </a:r>
            <a:r>
              <a:rPr b="1" i="0" lang="en-US" sz="6500" u="none" cap="none" strike="noStrike">
                <a:solidFill>
                  <a:srgbClr val="FFFFFF"/>
                </a:solidFill>
                <a:latin typeface="Arial"/>
                <a:ea typeface="Arial"/>
                <a:cs typeface="Arial"/>
                <a:sym typeface="Arial"/>
              </a:rPr>
              <a:t>?</a:t>
            </a:r>
            <a:endParaRPr/>
          </a:p>
        </p:txBody>
      </p:sp>
      <p:grpSp>
        <p:nvGrpSpPr>
          <p:cNvPr id="162" name="Google Shape;162;p17"/>
          <p:cNvGrpSpPr/>
          <p:nvPr/>
        </p:nvGrpSpPr>
        <p:grpSpPr>
          <a:xfrm>
            <a:off x="3" y="8941096"/>
            <a:ext cx="3498292" cy="1345904"/>
            <a:chOff x="9355875" y="3095472"/>
            <a:chExt cx="7344723" cy="2109898"/>
          </a:xfrm>
        </p:grpSpPr>
        <p:grpSp>
          <p:nvGrpSpPr>
            <p:cNvPr id="163" name="Google Shape;163;p17"/>
            <p:cNvGrpSpPr/>
            <p:nvPr/>
          </p:nvGrpSpPr>
          <p:grpSpPr>
            <a:xfrm>
              <a:off x="9355875" y="3095472"/>
              <a:ext cx="7344723" cy="2109898"/>
              <a:chOff x="3" y="-76198"/>
              <a:chExt cx="1934400" cy="555690"/>
            </a:xfrm>
          </p:grpSpPr>
          <p:sp>
            <p:nvSpPr>
              <p:cNvPr id="164" name="Google Shape;164;p17"/>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165" name="Google Shape;165;p17"/>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166" name="Google Shape;166;p17"/>
            <p:cNvGrpSpPr/>
            <p:nvPr/>
          </p:nvGrpSpPr>
          <p:grpSpPr>
            <a:xfrm>
              <a:off x="9846862" y="3934727"/>
              <a:ext cx="6362325" cy="981398"/>
              <a:chOff x="0" y="-238723"/>
              <a:chExt cx="8483100" cy="1308531"/>
            </a:xfrm>
          </p:grpSpPr>
          <p:sp>
            <p:nvSpPr>
              <p:cNvPr id="167" name="Google Shape;167;p17"/>
              <p:cNvSpPr txBox="1"/>
              <p:nvPr/>
            </p:nvSpPr>
            <p:spPr>
              <a:xfrm>
                <a:off x="0" y="-238723"/>
                <a:ext cx="8483100" cy="6564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Introduction</a:t>
                </a:r>
                <a:endParaRPr sz="1735"/>
              </a:p>
            </p:txBody>
          </p:sp>
          <p:sp>
            <p:nvSpPr>
              <p:cNvPr id="168" name="Google Shape;168;p17"/>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pic>
        <p:nvPicPr>
          <p:cNvPr id="169" name="Google Shape;169;p17"/>
          <p:cNvPicPr preferRelativeResize="0"/>
          <p:nvPr/>
        </p:nvPicPr>
        <p:blipFill>
          <a:blip r:embed="rId3">
            <a:alphaModFix/>
          </a:blip>
          <a:stretch>
            <a:fillRect/>
          </a:stretch>
        </p:blipFill>
        <p:spPr>
          <a:xfrm>
            <a:off x="2501138" y="1811900"/>
            <a:ext cx="13285725" cy="7171725"/>
          </a:xfrm>
          <a:prstGeom prst="rect">
            <a:avLst/>
          </a:prstGeom>
          <a:noFill/>
          <a:ln>
            <a:noFill/>
          </a:ln>
        </p:spPr>
      </p:pic>
      <p:sp>
        <p:nvSpPr>
          <p:cNvPr id="170" name="Google Shape;170;p17"/>
          <p:cNvSpPr txBox="1"/>
          <p:nvPr/>
        </p:nvSpPr>
        <p:spPr>
          <a:xfrm>
            <a:off x="4475175" y="9249875"/>
            <a:ext cx="10848600" cy="868200"/>
          </a:xfrm>
          <a:prstGeom prst="rect">
            <a:avLst/>
          </a:prstGeom>
          <a:noFill/>
          <a:ln>
            <a:noFill/>
          </a:ln>
        </p:spPr>
        <p:txBody>
          <a:bodyPr anchorCtr="0" anchor="t" bIns="91425" lIns="91425" spcFirstLastPara="1" rIns="91425" wrap="square" tIns="91425">
            <a:spAutoFit/>
          </a:bodyPr>
          <a:lstStyle/>
          <a:p>
            <a:pPr indent="0" lvl="0" marL="0" marR="76200" rtl="0" algn="r">
              <a:lnSpc>
                <a:spcPct val="135000"/>
              </a:lnSpc>
              <a:spcBef>
                <a:spcPts val="0"/>
              </a:spcBef>
              <a:spcAft>
                <a:spcPts val="0"/>
              </a:spcAft>
              <a:buNone/>
            </a:pPr>
            <a:r>
              <a:t/>
            </a:r>
            <a:endParaRPr sz="1200">
              <a:solidFill>
                <a:srgbClr val="FFF2CC"/>
              </a:solidFill>
            </a:endParaRPr>
          </a:p>
          <a:p>
            <a:pPr indent="0" lvl="0" marL="215900" marR="50800" rtl="0" algn="l">
              <a:lnSpc>
                <a:spcPct val="135000"/>
              </a:lnSpc>
              <a:spcBef>
                <a:spcPts val="0"/>
              </a:spcBef>
              <a:spcAft>
                <a:spcPts val="0"/>
              </a:spcAft>
              <a:buNone/>
            </a:pPr>
            <a:r>
              <a:rPr lang="en-US" sz="1200">
                <a:solidFill>
                  <a:srgbClr val="FFF2CC"/>
                </a:solidFill>
              </a:rPr>
              <a:t>Image retrieved from: Ryu Saeki, Leo Kitayama, Jun Koga, Makoto Shimizu, and Kazumasa Oida. 2022. Smishing Strategy Dynamics and Evolving Botnet Activities in Japan. </a:t>
            </a:r>
            <a:r>
              <a:rPr i="1" lang="en-US" sz="1200">
                <a:solidFill>
                  <a:srgbClr val="FFF2CC"/>
                </a:solidFill>
              </a:rPr>
              <a:t>IEEE Access</a:t>
            </a:r>
            <a:r>
              <a:rPr lang="en-US" sz="1200">
                <a:solidFill>
                  <a:srgbClr val="FFF2CC"/>
                </a:solidFill>
              </a:rPr>
              <a:t> 10, (2022), 114869–114884.</a:t>
            </a:r>
            <a:r>
              <a:rPr lang="en-US" sz="1200">
                <a:solidFill>
                  <a:srgbClr val="FFF2CC"/>
                </a:solidFill>
                <a:uFill>
                  <a:noFill/>
                </a:uFill>
                <a:hlinkClick r:id="rId4">
                  <a:extLst>
                    <a:ext uri="{A12FA001-AC4F-418D-AE19-62706E023703}">
                      <ahyp:hlinkClr val="tx"/>
                    </a:ext>
                  </a:extLst>
                </a:hlinkClick>
              </a:rPr>
              <a:t> </a:t>
            </a:r>
            <a:r>
              <a:rPr lang="en-US" sz="1200" u="sng">
                <a:solidFill>
                  <a:srgbClr val="FFF2CC"/>
                </a:solidFill>
                <a:hlinkClick r:id="rId5">
                  <a:extLst>
                    <a:ext uri="{A12FA001-AC4F-418D-AE19-62706E023703}">
                      <ahyp:hlinkClr val="tx"/>
                    </a:ext>
                  </a:extLst>
                </a:hlinkClick>
              </a:rPr>
              <a:t>https://doi.org/10.1109/ACCESS.2022.3217795</a:t>
            </a:r>
            <a:endParaRPr sz="1200" u="sng">
              <a:solidFill>
                <a:srgbClr val="FFF2CC"/>
              </a:solidFill>
            </a:endParaRPr>
          </a:p>
        </p:txBody>
      </p:sp>
      <p:sp>
        <p:nvSpPr>
          <p:cNvPr id="171" name="Google Shape;171;p17"/>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0" scaled="0"/>
        </a:gradFill>
      </p:bgPr>
    </p:bg>
    <p:spTree>
      <p:nvGrpSpPr>
        <p:cNvPr id="175" name="Shape 175"/>
        <p:cNvGrpSpPr/>
        <p:nvPr/>
      </p:nvGrpSpPr>
      <p:grpSpPr>
        <a:xfrm>
          <a:off x="0" y="0"/>
          <a:ext cx="0" cy="0"/>
          <a:chOff x="0" y="0"/>
          <a:chExt cx="0" cy="0"/>
        </a:xfrm>
      </p:grpSpPr>
      <p:sp>
        <p:nvSpPr>
          <p:cNvPr id="176" name="Google Shape;176;p18"/>
          <p:cNvSpPr txBox="1"/>
          <p:nvPr/>
        </p:nvSpPr>
        <p:spPr>
          <a:xfrm>
            <a:off x="658975" y="811399"/>
            <a:ext cx="12235200" cy="1000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6500" u="none" cap="none" strike="noStrike">
                <a:solidFill>
                  <a:srgbClr val="FFFFFF"/>
                </a:solidFill>
                <a:latin typeface="Arial"/>
                <a:ea typeface="Arial"/>
                <a:cs typeface="Arial"/>
                <a:sym typeface="Arial"/>
              </a:rPr>
              <a:t>Would you click it?</a:t>
            </a:r>
            <a:endParaRPr/>
          </a:p>
        </p:txBody>
      </p:sp>
      <p:pic>
        <p:nvPicPr>
          <p:cNvPr id="177" name="Google Shape;177;p18"/>
          <p:cNvPicPr preferRelativeResize="0"/>
          <p:nvPr/>
        </p:nvPicPr>
        <p:blipFill>
          <a:blip r:embed="rId3">
            <a:alphaModFix/>
          </a:blip>
          <a:stretch>
            <a:fillRect/>
          </a:stretch>
        </p:blipFill>
        <p:spPr>
          <a:xfrm>
            <a:off x="891850" y="1964299"/>
            <a:ext cx="5457825" cy="7019925"/>
          </a:xfrm>
          <a:prstGeom prst="rect">
            <a:avLst/>
          </a:prstGeom>
          <a:noFill/>
          <a:ln>
            <a:noFill/>
          </a:ln>
        </p:spPr>
      </p:pic>
      <p:pic>
        <p:nvPicPr>
          <p:cNvPr id="178" name="Google Shape;178;p18"/>
          <p:cNvPicPr preferRelativeResize="0"/>
          <p:nvPr/>
        </p:nvPicPr>
        <p:blipFill>
          <a:blip r:embed="rId4">
            <a:alphaModFix/>
          </a:blip>
          <a:stretch>
            <a:fillRect/>
          </a:stretch>
        </p:blipFill>
        <p:spPr>
          <a:xfrm>
            <a:off x="7660763" y="2073025"/>
            <a:ext cx="4227818" cy="6802450"/>
          </a:xfrm>
          <a:prstGeom prst="rect">
            <a:avLst/>
          </a:prstGeom>
          <a:noFill/>
          <a:ln>
            <a:noFill/>
          </a:ln>
        </p:spPr>
      </p:pic>
      <p:pic>
        <p:nvPicPr>
          <p:cNvPr id="179" name="Google Shape;179;p18"/>
          <p:cNvPicPr preferRelativeResize="0"/>
          <p:nvPr/>
        </p:nvPicPr>
        <p:blipFill>
          <a:blip r:embed="rId5">
            <a:alphaModFix/>
          </a:blip>
          <a:stretch>
            <a:fillRect/>
          </a:stretch>
        </p:blipFill>
        <p:spPr>
          <a:xfrm>
            <a:off x="12894177" y="1988505"/>
            <a:ext cx="4949047" cy="7019925"/>
          </a:xfrm>
          <a:prstGeom prst="rect">
            <a:avLst/>
          </a:prstGeom>
          <a:noFill/>
          <a:ln>
            <a:noFill/>
          </a:ln>
        </p:spPr>
      </p:pic>
      <p:grpSp>
        <p:nvGrpSpPr>
          <p:cNvPr id="180" name="Google Shape;180;p18"/>
          <p:cNvGrpSpPr/>
          <p:nvPr/>
        </p:nvGrpSpPr>
        <p:grpSpPr>
          <a:xfrm>
            <a:off x="3" y="8941096"/>
            <a:ext cx="3498292" cy="1345904"/>
            <a:chOff x="9355875" y="3095472"/>
            <a:chExt cx="7344723" cy="2109898"/>
          </a:xfrm>
        </p:grpSpPr>
        <p:grpSp>
          <p:nvGrpSpPr>
            <p:cNvPr id="181" name="Google Shape;181;p18"/>
            <p:cNvGrpSpPr/>
            <p:nvPr/>
          </p:nvGrpSpPr>
          <p:grpSpPr>
            <a:xfrm>
              <a:off x="9355875" y="3095472"/>
              <a:ext cx="7344723" cy="2109898"/>
              <a:chOff x="3" y="-76198"/>
              <a:chExt cx="1934400" cy="555690"/>
            </a:xfrm>
          </p:grpSpPr>
          <p:sp>
            <p:nvSpPr>
              <p:cNvPr id="182" name="Google Shape;182;p18"/>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183" name="Google Shape;183;p18"/>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184" name="Google Shape;184;p18"/>
            <p:cNvGrpSpPr/>
            <p:nvPr/>
          </p:nvGrpSpPr>
          <p:grpSpPr>
            <a:xfrm>
              <a:off x="9846862" y="3934727"/>
              <a:ext cx="6362325" cy="981398"/>
              <a:chOff x="0" y="-238723"/>
              <a:chExt cx="8483100" cy="1308531"/>
            </a:xfrm>
          </p:grpSpPr>
          <p:sp>
            <p:nvSpPr>
              <p:cNvPr id="185" name="Google Shape;185;p18"/>
              <p:cNvSpPr txBox="1"/>
              <p:nvPr/>
            </p:nvSpPr>
            <p:spPr>
              <a:xfrm>
                <a:off x="0" y="-238723"/>
                <a:ext cx="8483100" cy="6564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Introduction</a:t>
                </a:r>
                <a:endParaRPr sz="1735"/>
              </a:p>
            </p:txBody>
          </p:sp>
          <p:sp>
            <p:nvSpPr>
              <p:cNvPr id="186" name="Google Shape;186;p18"/>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sp>
        <p:nvSpPr>
          <p:cNvPr id="187" name="Google Shape;187;p18"/>
          <p:cNvSpPr txBox="1"/>
          <p:nvPr/>
        </p:nvSpPr>
        <p:spPr>
          <a:xfrm>
            <a:off x="4689225" y="8984225"/>
            <a:ext cx="126804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FFF2CC"/>
                </a:solidFill>
                <a:latin typeface="Roboto"/>
                <a:ea typeface="Roboto"/>
                <a:cs typeface="Roboto"/>
                <a:sym typeface="Roboto"/>
              </a:rPr>
              <a:t>@article{timko2024smishing,</a:t>
            </a:r>
            <a:endParaRPr sz="1100">
              <a:solidFill>
                <a:srgbClr val="FFF2CC"/>
              </a:solidFill>
              <a:latin typeface="Roboto"/>
              <a:ea typeface="Roboto"/>
              <a:cs typeface="Roboto"/>
              <a:sym typeface="Roboto"/>
            </a:endParaRPr>
          </a:p>
          <a:p>
            <a:pPr indent="0" lvl="0" marL="0" rtl="0" algn="l">
              <a:spcBef>
                <a:spcPts val="0"/>
              </a:spcBef>
              <a:spcAft>
                <a:spcPts val="0"/>
              </a:spcAft>
              <a:buNone/>
            </a:pPr>
            <a:r>
              <a:rPr lang="en-US" sz="1100">
                <a:solidFill>
                  <a:srgbClr val="FFF2CC"/>
                </a:solidFill>
                <a:latin typeface="Roboto"/>
                <a:ea typeface="Roboto"/>
                <a:cs typeface="Roboto"/>
                <a:sym typeface="Roboto"/>
              </a:rPr>
              <a:t>title={Smishing Dataset I: Phishing SMS Dataset from Smishtank.com},</a:t>
            </a:r>
            <a:endParaRPr sz="1100">
              <a:solidFill>
                <a:srgbClr val="FFF2CC"/>
              </a:solidFill>
              <a:latin typeface="Roboto"/>
              <a:ea typeface="Roboto"/>
              <a:cs typeface="Roboto"/>
              <a:sym typeface="Roboto"/>
            </a:endParaRPr>
          </a:p>
          <a:p>
            <a:pPr indent="0" lvl="0" marL="0" rtl="0" algn="l">
              <a:spcBef>
                <a:spcPts val="0"/>
              </a:spcBef>
              <a:spcAft>
                <a:spcPts val="0"/>
              </a:spcAft>
              <a:buNone/>
            </a:pPr>
            <a:r>
              <a:rPr lang="en-US" sz="1100">
                <a:solidFill>
                  <a:srgbClr val="FFF2CC"/>
                </a:solidFill>
                <a:latin typeface="Roboto"/>
                <a:ea typeface="Roboto"/>
                <a:cs typeface="Roboto"/>
                <a:sym typeface="Roboto"/>
              </a:rPr>
              <a:t>author={Timko, Daniel and Rahman, Muhammad Lutfor},</a:t>
            </a:r>
            <a:endParaRPr sz="1100">
              <a:solidFill>
                <a:srgbClr val="FFF2CC"/>
              </a:solidFill>
              <a:latin typeface="Roboto"/>
              <a:ea typeface="Roboto"/>
              <a:cs typeface="Roboto"/>
              <a:sym typeface="Roboto"/>
            </a:endParaRPr>
          </a:p>
          <a:p>
            <a:pPr indent="0" lvl="0" marL="0" rtl="0" algn="l">
              <a:spcBef>
                <a:spcPts val="0"/>
              </a:spcBef>
              <a:spcAft>
                <a:spcPts val="0"/>
              </a:spcAft>
              <a:buNone/>
            </a:pPr>
            <a:r>
              <a:rPr lang="en-US" sz="1100">
                <a:solidFill>
                  <a:srgbClr val="FFF2CC"/>
                </a:solidFill>
                <a:latin typeface="Roboto"/>
                <a:ea typeface="Roboto"/>
                <a:cs typeface="Roboto"/>
                <a:sym typeface="Roboto"/>
              </a:rPr>
              <a:t>booktitle={Proceedings of the Fourteenth ACM Conference on Data and Application Security and Privacy},</a:t>
            </a:r>
            <a:endParaRPr sz="1100">
              <a:solidFill>
                <a:srgbClr val="FFF2CC"/>
              </a:solidFill>
              <a:latin typeface="Roboto"/>
              <a:ea typeface="Roboto"/>
              <a:cs typeface="Roboto"/>
              <a:sym typeface="Roboto"/>
            </a:endParaRPr>
          </a:p>
          <a:p>
            <a:pPr indent="0" lvl="0" marL="0" rtl="0" algn="l">
              <a:spcBef>
                <a:spcPts val="0"/>
              </a:spcBef>
              <a:spcAft>
                <a:spcPts val="0"/>
              </a:spcAft>
              <a:buNone/>
            </a:pPr>
            <a:r>
              <a:rPr lang="en-US" sz="1100">
                <a:solidFill>
                  <a:srgbClr val="FFF2CC"/>
                </a:solidFill>
                <a:latin typeface="Roboto"/>
                <a:ea typeface="Roboto"/>
                <a:cs typeface="Roboto"/>
                <a:sym typeface="Roboto"/>
              </a:rPr>
              <a:t>pages={289--294},</a:t>
            </a:r>
            <a:endParaRPr sz="1100">
              <a:solidFill>
                <a:srgbClr val="FFF2CC"/>
              </a:solidFill>
              <a:latin typeface="Roboto"/>
              <a:ea typeface="Roboto"/>
              <a:cs typeface="Roboto"/>
              <a:sym typeface="Roboto"/>
            </a:endParaRPr>
          </a:p>
          <a:p>
            <a:pPr indent="0" lvl="0" marL="0" rtl="0" algn="l">
              <a:spcBef>
                <a:spcPts val="0"/>
              </a:spcBef>
              <a:spcAft>
                <a:spcPts val="0"/>
              </a:spcAft>
              <a:buNone/>
            </a:pPr>
            <a:r>
              <a:rPr lang="en-US" sz="1100">
                <a:solidFill>
                  <a:srgbClr val="FFF2CC"/>
                </a:solidFill>
                <a:latin typeface="Roboto"/>
                <a:ea typeface="Roboto"/>
                <a:cs typeface="Roboto"/>
                <a:sym typeface="Roboto"/>
              </a:rPr>
              <a:t>year={2024}</a:t>
            </a:r>
            <a:endParaRPr sz="1100">
              <a:solidFill>
                <a:srgbClr val="FFF2CC"/>
              </a:solidFill>
              <a:latin typeface="Roboto"/>
              <a:ea typeface="Roboto"/>
              <a:cs typeface="Roboto"/>
              <a:sym typeface="Roboto"/>
            </a:endParaRPr>
          </a:p>
          <a:p>
            <a:pPr indent="0" lvl="0" marL="0" rtl="0" algn="l">
              <a:spcBef>
                <a:spcPts val="0"/>
              </a:spcBef>
              <a:spcAft>
                <a:spcPts val="0"/>
              </a:spcAft>
              <a:buNone/>
            </a:pPr>
            <a:r>
              <a:rPr lang="en-US" sz="1100">
                <a:solidFill>
                  <a:srgbClr val="FFF2CC"/>
                </a:solidFill>
                <a:latin typeface="Roboto"/>
                <a:ea typeface="Roboto"/>
                <a:cs typeface="Roboto"/>
                <a:sym typeface="Roboto"/>
              </a:rPr>
              <a:t>}</a:t>
            </a:r>
            <a:endParaRPr>
              <a:solidFill>
                <a:srgbClr val="FFF2CC"/>
              </a:solidFill>
            </a:endParaRPr>
          </a:p>
        </p:txBody>
      </p:sp>
      <p:sp>
        <p:nvSpPr>
          <p:cNvPr id="188" name="Google Shape;188;p18"/>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6" scaled="0"/>
        </a:gradFill>
      </p:bgPr>
    </p:bg>
    <p:spTree>
      <p:nvGrpSpPr>
        <p:cNvPr id="192" name="Shape 192"/>
        <p:cNvGrpSpPr/>
        <p:nvPr/>
      </p:nvGrpSpPr>
      <p:grpSpPr>
        <a:xfrm>
          <a:off x="0" y="0"/>
          <a:ext cx="0" cy="0"/>
          <a:chOff x="0" y="0"/>
          <a:chExt cx="0" cy="0"/>
        </a:xfrm>
      </p:grpSpPr>
      <p:grpSp>
        <p:nvGrpSpPr>
          <p:cNvPr id="193" name="Google Shape;193;p19"/>
          <p:cNvGrpSpPr/>
          <p:nvPr/>
        </p:nvGrpSpPr>
        <p:grpSpPr>
          <a:xfrm>
            <a:off x="3" y="8941096"/>
            <a:ext cx="3498292" cy="1345904"/>
            <a:chOff x="9355875" y="3095472"/>
            <a:chExt cx="7344723" cy="2109898"/>
          </a:xfrm>
        </p:grpSpPr>
        <p:grpSp>
          <p:nvGrpSpPr>
            <p:cNvPr id="194" name="Google Shape;194;p19"/>
            <p:cNvGrpSpPr/>
            <p:nvPr/>
          </p:nvGrpSpPr>
          <p:grpSpPr>
            <a:xfrm>
              <a:off x="9355875" y="3095472"/>
              <a:ext cx="7344723" cy="2109898"/>
              <a:chOff x="3" y="-76198"/>
              <a:chExt cx="1934400" cy="555690"/>
            </a:xfrm>
          </p:grpSpPr>
          <p:sp>
            <p:nvSpPr>
              <p:cNvPr id="195" name="Google Shape;195;p19"/>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196" name="Google Shape;196;p19"/>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197" name="Google Shape;197;p19"/>
            <p:cNvGrpSpPr/>
            <p:nvPr/>
          </p:nvGrpSpPr>
          <p:grpSpPr>
            <a:xfrm>
              <a:off x="9846862" y="3934727"/>
              <a:ext cx="6362325" cy="981398"/>
              <a:chOff x="0" y="-238723"/>
              <a:chExt cx="8483100" cy="1308531"/>
            </a:xfrm>
          </p:grpSpPr>
          <p:sp>
            <p:nvSpPr>
              <p:cNvPr id="198" name="Google Shape;198;p19"/>
              <p:cNvSpPr txBox="1"/>
              <p:nvPr/>
            </p:nvSpPr>
            <p:spPr>
              <a:xfrm>
                <a:off x="0" y="-238723"/>
                <a:ext cx="8483100" cy="6564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Introduction</a:t>
                </a:r>
                <a:endParaRPr sz="1735"/>
              </a:p>
            </p:txBody>
          </p:sp>
          <p:sp>
            <p:nvSpPr>
              <p:cNvPr id="199" name="Google Shape;199;p19"/>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sp>
        <p:nvSpPr>
          <p:cNvPr id="200" name="Google Shape;200;p19"/>
          <p:cNvSpPr txBox="1"/>
          <p:nvPr/>
        </p:nvSpPr>
        <p:spPr>
          <a:xfrm>
            <a:off x="1587787" y="1304162"/>
            <a:ext cx="15112500" cy="1000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6500">
                <a:solidFill>
                  <a:srgbClr val="FFFFFF"/>
                </a:solidFill>
              </a:rPr>
              <a:t>Key Takeaways</a:t>
            </a:r>
            <a:endParaRPr/>
          </a:p>
        </p:txBody>
      </p:sp>
      <p:sp>
        <p:nvSpPr>
          <p:cNvPr id="201" name="Google Shape;201;p19"/>
          <p:cNvSpPr txBox="1"/>
          <p:nvPr/>
        </p:nvSpPr>
        <p:spPr>
          <a:xfrm>
            <a:off x="635050" y="2531525"/>
            <a:ext cx="16746300" cy="6067800"/>
          </a:xfrm>
          <a:prstGeom prst="rect">
            <a:avLst/>
          </a:prstGeom>
          <a:noFill/>
          <a:ln>
            <a:noFill/>
          </a:ln>
        </p:spPr>
        <p:txBody>
          <a:bodyPr anchorCtr="0" anchor="t" bIns="91425" lIns="91425" spcFirstLastPara="1" rIns="91425" wrap="square" tIns="91425">
            <a:noAutofit/>
          </a:bodyPr>
          <a:lstStyle/>
          <a:p>
            <a:pPr indent="-450850" lvl="0" marL="457200" rtl="0" algn="l">
              <a:spcBef>
                <a:spcPts val="0"/>
              </a:spcBef>
              <a:spcAft>
                <a:spcPts val="0"/>
              </a:spcAft>
              <a:buClr>
                <a:schemeClr val="lt1"/>
              </a:buClr>
              <a:buSzPts val="3500"/>
              <a:buFont typeface="Calibri"/>
              <a:buChar char="●"/>
            </a:pPr>
            <a:r>
              <a:rPr lang="en-US" sz="3500">
                <a:solidFill>
                  <a:schemeClr val="lt1"/>
                </a:solidFill>
                <a:latin typeface="Calibri"/>
                <a:ea typeface="Calibri"/>
                <a:cs typeface="Calibri"/>
                <a:sym typeface="Calibri"/>
              </a:rPr>
              <a:t>Major issue</a:t>
            </a:r>
            <a:endParaRPr sz="3500">
              <a:solidFill>
                <a:schemeClr val="lt1"/>
              </a:solidFill>
              <a:latin typeface="Calibri"/>
              <a:ea typeface="Calibri"/>
              <a:cs typeface="Calibri"/>
              <a:sym typeface="Calibri"/>
            </a:endParaRPr>
          </a:p>
          <a:p>
            <a:pPr indent="-450850" lvl="2" marL="1371600" rtl="0" algn="l">
              <a:spcBef>
                <a:spcPts val="0"/>
              </a:spcBef>
              <a:spcAft>
                <a:spcPts val="0"/>
              </a:spcAft>
              <a:buClr>
                <a:schemeClr val="lt1"/>
              </a:buClr>
              <a:buSzPts val="3500"/>
              <a:buFont typeface="Calibri"/>
              <a:buChar char="■"/>
            </a:pPr>
            <a:r>
              <a:rPr lang="en-US" sz="3500">
                <a:solidFill>
                  <a:schemeClr val="lt1"/>
                </a:solidFill>
                <a:latin typeface="Calibri"/>
                <a:ea typeface="Calibri"/>
                <a:cs typeface="Calibri"/>
                <a:sym typeface="Calibri"/>
              </a:rPr>
              <a:t>$470 million lost in 2024 (FTC)</a:t>
            </a:r>
            <a:endParaRPr sz="3500">
              <a:solidFill>
                <a:schemeClr val="lt1"/>
              </a:solidFill>
              <a:latin typeface="Calibri"/>
              <a:ea typeface="Calibri"/>
              <a:cs typeface="Calibri"/>
              <a:sym typeface="Calibri"/>
            </a:endParaRPr>
          </a:p>
          <a:p>
            <a:pPr indent="0" lvl="0" marL="0" rtl="0" algn="l">
              <a:spcBef>
                <a:spcPts val="0"/>
              </a:spcBef>
              <a:spcAft>
                <a:spcPts val="0"/>
              </a:spcAft>
              <a:buNone/>
            </a:pPr>
            <a:r>
              <a:t/>
            </a:r>
            <a:endParaRPr sz="3500">
              <a:solidFill>
                <a:schemeClr val="lt1"/>
              </a:solidFill>
              <a:latin typeface="Calibri"/>
              <a:ea typeface="Calibri"/>
              <a:cs typeface="Calibri"/>
              <a:sym typeface="Calibri"/>
            </a:endParaRPr>
          </a:p>
          <a:p>
            <a:pPr indent="-450850" lvl="0" marL="457200" rtl="0" algn="l">
              <a:spcBef>
                <a:spcPts val="0"/>
              </a:spcBef>
              <a:spcAft>
                <a:spcPts val="0"/>
              </a:spcAft>
              <a:buClr>
                <a:schemeClr val="lt1"/>
              </a:buClr>
              <a:buSzPts val="3500"/>
              <a:buFont typeface="Calibri"/>
              <a:buChar char="●"/>
            </a:pPr>
            <a:r>
              <a:rPr lang="en-US" sz="3500">
                <a:solidFill>
                  <a:schemeClr val="lt1"/>
                </a:solidFill>
                <a:latin typeface="Calibri"/>
                <a:ea typeface="Calibri"/>
                <a:cs typeface="Calibri"/>
                <a:sym typeface="Calibri"/>
              </a:rPr>
              <a:t>Smishing is not random, its coordinated and structured</a:t>
            </a:r>
            <a:endParaRPr sz="3500">
              <a:solidFill>
                <a:schemeClr val="lt1"/>
              </a:solidFill>
              <a:latin typeface="Calibri"/>
              <a:ea typeface="Calibri"/>
              <a:cs typeface="Calibri"/>
              <a:sym typeface="Calibri"/>
            </a:endParaRPr>
          </a:p>
          <a:p>
            <a:pPr indent="-431800" lvl="2" marL="13716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Professional-like in practice</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457200" lvl="0" marL="457200" rtl="0" algn="l">
              <a:spcBef>
                <a:spcPts val="0"/>
              </a:spcBef>
              <a:spcAft>
                <a:spcPts val="0"/>
              </a:spcAft>
              <a:buClr>
                <a:schemeClr val="lt1"/>
              </a:buClr>
              <a:buSzPts val="3600"/>
              <a:buFont typeface="Calibri"/>
              <a:buChar char="●"/>
            </a:pPr>
            <a:r>
              <a:rPr lang="en-US" sz="3600">
                <a:solidFill>
                  <a:schemeClr val="lt1"/>
                </a:solidFill>
                <a:latin typeface="Calibri"/>
                <a:ea typeface="Calibri"/>
                <a:cs typeface="Calibri"/>
                <a:sym typeface="Calibri"/>
              </a:rPr>
              <a:t>Human Psychology drives smishing success</a:t>
            </a:r>
            <a:endParaRPr sz="3600">
              <a:solidFill>
                <a:schemeClr val="lt1"/>
              </a:solidFill>
              <a:latin typeface="Calibri"/>
              <a:ea typeface="Calibri"/>
              <a:cs typeface="Calibri"/>
              <a:sym typeface="Calibri"/>
            </a:endParaRPr>
          </a:p>
          <a:p>
            <a:pPr indent="-431800" lvl="2" marL="13716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Authority </a:t>
            </a:r>
            <a:endParaRPr sz="3200">
              <a:solidFill>
                <a:schemeClr val="lt1"/>
              </a:solidFill>
              <a:latin typeface="Calibri"/>
              <a:ea typeface="Calibri"/>
              <a:cs typeface="Calibri"/>
              <a:sym typeface="Calibri"/>
            </a:endParaRPr>
          </a:p>
          <a:p>
            <a:pPr indent="-431800" lvl="2" marL="13716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Emotion</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p:txBody>
      </p:sp>
      <p:sp>
        <p:nvSpPr>
          <p:cNvPr id="202" name="Google Shape;202;p19"/>
          <p:cNvSpPr txBox="1"/>
          <p:nvPr/>
        </p:nvSpPr>
        <p:spPr>
          <a:xfrm>
            <a:off x="4835750" y="8826200"/>
            <a:ext cx="9481200" cy="861900"/>
          </a:xfrm>
          <a:prstGeom prst="rect">
            <a:avLst/>
          </a:prstGeom>
          <a:noFill/>
          <a:ln>
            <a:noFill/>
          </a:ln>
        </p:spPr>
        <p:txBody>
          <a:bodyPr anchorCtr="0" anchor="t" bIns="91425" lIns="91425" spcFirstLastPara="1" rIns="91425" wrap="square" tIns="91425">
            <a:spAutoFit/>
          </a:bodyPr>
          <a:lstStyle/>
          <a:p>
            <a:pPr indent="-247650" lvl="0" marL="0" rtl="0" algn="l">
              <a:spcBef>
                <a:spcPts val="0"/>
              </a:spcBef>
              <a:spcAft>
                <a:spcPts val="0"/>
              </a:spcAft>
              <a:buNone/>
            </a:pPr>
            <a:r>
              <a:rPr lang="en-US" sz="1100">
                <a:solidFill>
                  <a:srgbClr val="FFF2CC"/>
                </a:solidFill>
              </a:rPr>
              <a:t>	</a:t>
            </a:r>
            <a:r>
              <a:rPr lang="en-US" sz="1100">
                <a:solidFill>
                  <a:srgbClr val="FFF2CC"/>
                </a:solidFill>
                <a:uFill>
                  <a:noFill/>
                </a:uFill>
                <a:hlinkClick r:id="rId3">
                  <a:extLst>
                    <a:ext uri="{A12FA001-AC4F-418D-AE19-62706E023703}">
                      <ahyp:hlinkClr val="tx"/>
                    </a:ext>
                  </a:extLst>
                </a:hlinkClick>
              </a:rPr>
              <a:t>2025. New FTC Data Show Top Text Message Scams of 2024; Overall Losses to Text Scams Hit $470 Million. </a:t>
            </a:r>
            <a:r>
              <a:rPr i="1" lang="en-US" sz="1100">
                <a:solidFill>
                  <a:srgbClr val="FFF2CC"/>
                </a:solidFill>
                <a:uFill>
                  <a:noFill/>
                </a:uFill>
                <a:hlinkClick r:id="rId4">
                  <a:extLst>
                    <a:ext uri="{A12FA001-AC4F-418D-AE19-62706E023703}">
                      <ahyp:hlinkClr val="tx"/>
                    </a:ext>
                  </a:extLst>
                </a:hlinkClick>
              </a:rPr>
              <a:t>Federal Trade Commission</a:t>
            </a:r>
            <a:r>
              <a:rPr lang="en-US" sz="1100">
                <a:solidFill>
                  <a:srgbClr val="FFF2CC"/>
                </a:solidFill>
                <a:uFill>
                  <a:noFill/>
                </a:uFill>
                <a:hlinkClick r:id="rId5">
                  <a:extLst>
                    <a:ext uri="{A12FA001-AC4F-418D-AE19-62706E023703}">
                      <ahyp:hlinkClr val="tx"/>
                    </a:ext>
                  </a:extLst>
                </a:hlinkClick>
              </a:rPr>
              <a:t>. Retrieved March 24, 2026 from https://www.ftc.gov/news-events/news/press-releases/2025/04/new-ftc-data-show-top-text-message-scams-2024-overall-losses-text-scams-hit-470-million </a:t>
            </a:r>
            <a:endParaRPr>
              <a:solidFill>
                <a:srgbClr val="FFF2CC"/>
              </a:solidFill>
            </a:endParaRPr>
          </a:p>
        </p:txBody>
      </p:sp>
      <p:sp>
        <p:nvSpPr>
          <p:cNvPr id="203" name="Google Shape;203;p19"/>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6" scaled="0"/>
        </a:gradFill>
      </p:bgPr>
    </p:bg>
    <p:spTree>
      <p:nvGrpSpPr>
        <p:cNvPr id="207" name="Shape 207"/>
        <p:cNvGrpSpPr/>
        <p:nvPr/>
      </p:nvGrpSpPr>
      <p:grpSpPr>
        <a:xfrm>
          <a:off x="0" y="0"/>
          <a:ext cx="0" cy="0"/>
          <a:chOff x="0" y="0"/>
          <a:chExt cx="0" cy="0"/>
        </a:xfrm>
      </p:grpSpPr>
      <p:grpSp>
        <p:nvGrpSpPr>
          <p:cNvPr id="208" name="Google Shape;208;p20"/>
          <p:cNvGrpSpPr/>
          <p:nvPr/>
        </p:nvGrpSpPr>
        <p:grpSpPr>
          <a:xfrm>
            <a:off x="3" y="8941096"/>
            <a:ext cx="3498292" cy="1345904"/>
            <a:chOff x="9355875" y="3095472"/>
            <a:chExt cx="7344723" cy="2109898"/>
          </a:xfrm>
        </p:grpSpPr>
        <p:grpSp>
          <p:nvGrpSpPr>
            <p:cNvPr id="209" name="Google Shape;209;p20"/>
            <p:cNvGrpSpPr/>
            <p:nvPr/>
          </p:nvGrpSpPr>
          <p:grpSpPr>
            <a:xfrm>
              <a:off x="9355875" y="3095472"/>
              <a:ext cx="7344723" cy="2109898"/>
              <a:chOff x="3" y="-76198"/>
              <a:chExt cx="1934400" cy="555690"/>
            </a:xfrm>
          </p:grpSpPr>
          <p:sp>
            <p:nvSpPr>
              <p:cNvPr id="210" name="Google Shape;210;p20"/>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211" name="Google Shape;211;p20"/>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212" name="Google Shape;212;p20"/>
            <p:cNvGrpSpPr/>
            <p:nvPr/>
          </p:nvGrpSpPr>
          <p:grpSpPr>
            <a:xfrm>
              <a:off x="9846841" y="3934710"/>
              <a:ext cx="6362346" cy="981415"/>
              <a:chOff x="-28" y="-238745"/>
              <a:chExt cx="8483128" cy="1308553"/>
            </a:xfrm>
          </p:grpSpPr>
          <p:sp>
            <p:nvSpPr>
              <p:cNvPr id="213" name="Google Shape;213;p20"/>
              <p:cNvSpPr txBox="1"/>
              <p:nvPr/>
            </p:nvSpPr>
            <p:spPr>
              <a:xfrm>
                <a:off x="-28" y="-238745"/>
                <a:ext cx="8483100" cy="10212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Research</a:t>
                </a:r>
                <a:endParaRPr sz="1735"/>
              </a:p>
            </p:txBody>
          </p:sp>
          <p:sp>
            <p:nvSpPr>
              <p:cNvPr id="214" name="Google Shape;214;p20"/>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sp>
        <p:nvSpPr>
          <p:cNvPr id="215" name="Google Shape;215;p20"/>
          <p:cNvSpPr txBox="1"/>
          <p:nvPr/>
        </p:nvSpPr>
        <p:spPr>
          <a:xfrm>
            <a:off x="1587787" y="1304162"/>
            <a:ext cx="15112500" cy="1000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6500">
                <a:solidFill>
                  <a:srgbClr val="FFFFFF"/>
                </a:solidFill>
              </a:rPr>
              <a:t>Research Questions</a:t>
            </a:r>
            <a:endParaRPr/>
          </a:p>
        </p:txBody>
      </p:sp>
      <p:sp>
        <p:nvSpPr>
          <p:cNvPr id="216" name="Google Shape;216;p20"/>
          <p:cNvSpPr txBox="1"/>
          <p:nvPr/>
        </p:nvSpPr>
        <p:spPr>
          <a:xfrm>
            <a:off x="635050" y="2531525"/>
            <a:ext cx="16746300" cy="70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lt1"/>
                </a:solidFill>
                <a:latin typeface="Calibri"/>
                <a:ea typeface="Calibri"/>
                <a:cs typeface="Calibri"/>
                <a:sym typeface="Calibri"/>
              </a:rPr>
              <a:t>RQ1: What are the psychological and demographic factors that influence a user’s susceptibility to smishing attacks?</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0" lvl="0" marL="0" rtl="0" algn="l">
              <a:spcBef>
                <a:spcPts val="0"/>
              </a:spcBef>
              <a:spcAft>
                <a:spcPts val="0"/>
              </a:spcAft>
              <a:buNone/>
            </a:pPr>
            <a:r>
              <a:rPr lang="en-US" sz="3200">
                <a:solidFill>
                  <a:schemeClr val="lt1"/>
                </a:solidFill>
                <a:latin typeface="Calibri"/>
                <a:ea typeface="Calibri"/>
                <a:cs typeface="Calibri"/>
                <a:sym typeface="Calibri"/>
              </a:rPr>
              <a:t>RQ2: How effective are </a:t>
            </a:r>
            <a:r>
              <a:rPr lang="en-US" sz="3200">
                <a:solidFill>
                  <a:schemeClr val="lt1"/>
                </a:solidFill>
                <a:latin typeface="Calibri"/>
                <a:ea typeface="Calibri"/>
                <a:cs typeface="Calibri"/>
                <a:sym typeface="Calibri"/>
              </a:rPr>
              <a:t>technical</a:t>
            </a:r>
            <a:r>
              <a:rPr lang="en-US" sz="3200">
                <a:solidFill>
                  <a:schemeClr val="lt1"/>
                </a:solidFill>
                <a:latin typeface="Calibri"/>
                <a:ea typeface="Calibri"/>
                <a:cs typeface="Calibri"/>
                <a:sym typeface="Calibri"/>
              </a:rPr>
              <a:t> solutions in mitigating smishing?</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0" lvl="0" marL="0" rtl="0" algn="l">
              <a:spcBef>
                <a:spcPts val="0"/>
              </a:spcBef>
              <a:spcAft>
                <a:spcPts val="0"/>
              </a:spcAft>
              <a:buNone/>
            </a:pPr>
            <a:r>
              <a:rPr lang="en-US" sz="3200">
                <a:solidFill>
                  <a:schemeClr val="lt1"/>
                </a:solidFill>
                <a:latin typeface="Calibri"/>
                <a:ea typeface="Calibri"/>
                <a:cs typeface="Calibri"/>
                <a:sym typeface="Calibri"/>
              </a:rPr>
              <a:t>RQ3: What gaps exist in current smishing defenses? What interdisciplinary strategies are needed to address the smishing issue?</a:t>
            </a:r>
            <a:endParaRPr sz="3200">
              <a:solidFill>
                <a:schemeClr val="lt1"/>
              </a:solidFill>
              <a:latin typeface="Calibri"/>
              <a:ea typeface="Calibri"/>
              <a:cs typeface="Calibri"/>
              <a:sym typeface="Calibri"/>
            </a:endParaRPr>
          </a:p>
        </p:txBody>
      </p:sp>
      <p:sp>
        <p:nvSpPr>
          <p:cNvPr id="217" name="Google Shape;217;p20"/>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6" scaled="0"/>
        </a:gradFill>
      </p:bgPr>
    </p:bg>
    <p:spTree>
      <p:nvGrpSpPr>
        <p:cNvPr id="221" name="Shape 221"/>
        <p:cNvGrpSpPr/>
        <p:nvPr/>
      </p:nvGrpSpPr>
      <p:grpSpPr>
        <a:xfrm>
          <a:off x="0" y="0"/>
          <a:ext cx="0" cy="0"/>
          <a:chOff x="0" y="0"/>
          <a:chExt cx="0" cy="0"/>
        </a:xfrm>
      </p:grpSpPr>
      <p:sp>
        <p:nvSpPr>
          <p:cNvPr id="222" name="Google Shape;222;p21"/>
          <p:cNvSpPr txBox="1"/>
          <p:nvPr/>
        </p:nvSpPr>
        <p:spPr>
          <a:xfrm>
            <a:off x="1587787" y="1304162"/>
            <a:ext cx="15112500" cy="1000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6500">
                <a:solidFill>
                  <a:srgbClr val="FFFFFF"/>
                </a:solidFill>
              </a:rPr>
              <a:t>Methodology</a:t>
            </a:r>
            <a:endParaRPr/>
          </a:p>
        </p:txBody>
      </p:sp>
      <p:sp>
        <p:nvSpPr>
          <p:cNvPr id="223" name="Google Shape;223;p21"/>
          <p:cNvSpPr txBox="1"/>
          <p:nvPr/>
        </p:nvSpPr>
        <p:spPr>
          <a:xfrm>
            <a:off x="635050" y="2531525"/>
            <a:ext cx="16746300" cy="7002900"/>
          </a:xfrm>
          <a:prstGeom prst="rect">
            <a:avLst/>
          </a:prstGeom>
          <a:noFill/>
          <a:ln>
            <a:noFill/>
          </a:ln>
        </p:spPr>
        <p:txBody>
          <a:bodyPr anchorCtr="0" anchor="t" bIns="91425" lIns="91425" spcFirstLastPara="1" rIns="91425" wrap="square" tIns="91425">
            <a:noAutofit/>
          </a:bodyPr>
          <a:lstStyle/>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Systematic approach</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Google scholar + “SMiShing”</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Zotero</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Google Drive</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Sheets (22 total sources)</a:t>
            </a:r>
            <a:endParaRPr sz="3200">
              <a:solidFill>
                <a:schemeClr val="lt1"/>
              </a:solidFill>
              <a:latin typeface="Calibri"/>
              <a:ea typeface="Calibri"/>
              <a:cs typeface="Calibri"/>
              <a:sym typeface="Calibri"/>
            </a:endParaRPr>
          </a:p>
        </p:txBody>
      </p:sp>
      <p:pic>
        <p:nvPicPr>
          <p:cNvPr id="224" name="Google Shape;224;p21"/>
          <p:cNvPicPr preferRelativeResize="0"/>
          <p:nvPr/>
        </p:nvPicPr>
        <p:blipFill rotWithShape="1">
          <a:blip r:embed="rId3">
            <a:alphaModFix/>
          </a:blip>
          <a:srcRect b="32897" l="0" r="0" t="20803"/>
          <a:stretch/>
        </p:blipFill>
        <p:spPr>
          <a:xfrm>
            <a:off x="7222725" y="3281575"/>
            <a:ext cx="10036499" cy="4646525"/>
          </a:xfrm>
          <a:prstGeom prst="rect">
            <a:avLst/>
          </a:prstGeom>
          <a:noFill/>
          <a:ln>
            <a:noFill/>
          </a:ln>
        </p:spPr>
      </p:pic>
      <p:grpSp>
        <p:nvGrpSpPr>
          <p:cNvPr id="225" name="Google Shape;225;p21"/>
          <p:cNvGrpSpPr/>
          <p:nvPr/>
        </p:nvGrpSpPr>
        <p:grpSpPr>
          <a:xfrm>
            <a:off x="3" y="8941096"/>
            <a:ext cx="3498292" cy="1345904"/>
            <a:chOff x="9355875" y="3095472"/>
            <a:chExt cx="7344723" cy="2109898"/>
          </a:xfrm>
        </p:grpSpPr>
        <p:grpSp>
          <p:nvGrpSpPr>
            <p:cNvPr id="226" name="Google Shape;226;p21"/>
            <p:cNvGrpSpPr/>
            <p:nvPr/>
          </p:nvGrpSpPr>
          <p:grpSpPr>
            <a:xfrm>
              <a:off x="9355875" y="3095472"/>
              <a:ext cx="7344723" cy="2109898"/>
              <a:chOff x="3" y="-76198"/>
              <a:chExt cx="1934400" cy="555690"/>
            </a:xfrm>
          </p:grpSpPr>
          <p:sp>
            <p:nvSpPr>
              <p:cNvPr id="227" name="Google Shape;227;p21"/>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228" name="Google Shape;228;p21"/>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229" name="Google Shape;229;p21"/>
            <p:cNvGrpSpPr/>
            <p:nvPr/>
          </p:nvGrpSpPr>
          <p:grpSpPr>
            <a:xfrm>
              <a:off x="9846841" y="3934710"/>
              <a:ext cx="6362346" cy="981415"/>
              <a:chOff x="-28" y="-238745"/>
              <a:chExt cx="8483128" cy="1308553"/>
            </a:xfrm>
          </p:grpSpPr>
          <p:sp>
            <p:nvSpPr>
              <p:cNvPr id="230" name="Google Shape;230;p21"/>
              <p:cNvSpPr txBox="1"/>
              <p:nvPr/>
            </p:nvSpPr>
            <p:spPr>
              <a:xfrm>
                <a:off x="-28" y="-238745"/>
                <a:ext cx="8483100" cy="10212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Research</a:t>
                </a:r>
                <a:endParaRPr sz="1735"/>
              </a:p>
            </p:txBody>
          </p:sp>
          <p:sp>
            <p:nvSpPr>
              <p:cNvPr id="231" name="Google Shape;231;p21"/>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sp>
        <p:nvSpPr>
          <p:cNvPr id="232" name="Google Shape;232;p21"/>
          <p:cNvSpPr txBox="1"/>
          <p:nvPr/>
        </p:nvSpPr>
        <p:spPr>
          <a:xfrm>
            <a:off x="4401050" y="9329625"/>
            <a:ext cx="11674200" cy="6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FFF2CC"/>
                </a:solidFill>
              </a:rPr>
              <a:t>Courtesy</a:t>
            </a:r>
            <a:r>
              <a:rPr lang="en-US" sz="1200">
                <a:solidFill>
                  <a:srgbClr val="FFF2CC"/>
                </a:solidFill>
              </a:rPr>
              <a:t> of Gemini AI “Create a diagram of google scholar, then zotero, then google drive, and finally google sheets.”</a:t>
            </a:r>
            <a:endParaRPr sz="1200">
              <a:solidFill>
                <a:srgbClr val="FFF2CC"/>
              </a:solidFill>
            </a:endParaRPr>
          </a:p>
        </p:txBody>
      </p:sp>
      <p:sp>
        <p:nvSpPr>
          <p:cNvPr id="233" name="Google Shape;233;p21"/>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6" scaled="0"/>
        </a:gradFill>
      </p:bgPr>
    </p:bg>
    <p:spTree>
      <p:nvGrpSpPr>
        <p:cNvPr id="237" name="Shape 237"/>
        <p:cNvGrpSpPr/>
        <p:nvPr/>
      </p:nvGrpSpPr>
      <p:grpSpPr>
        <a:xfrm>
          <a:off x="0" y="0"/>
          <a:ext cx="0" cy="0"/>
          <a:chOff x="0" y="0"/>
          <a:chExt cx="0" cy="0"/>
        </a:xfrm>
      </p:grpSpPr>
      <p:sp>
        <p:nvSpPr>
          <p:cNvPr id="238" name="Google Shape;238;p22"/>
          <p:cNvSpPr txBox="1"/>
          <p:nvPr/>
        </p:nvSpPr>
        <p:spPr>
          <a:xfrm>
            <a:off x="1530987" y="766212"/>
            <a:ext cx="15112500" cy="2662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4500">
                <a:solidFill>
                  <a:srgbClr val="FFFFFF"/>
                </a:solidFill>
              </a:rPr>
              <a:t>RQ1: </a:t>
            </a:r>
            <a:r>
              <a:rPr lang="en-US" sz="4500">
                <a:solidFill>
                  <a:schemeClr val="lt1"/>
                </a:solidFill>
                <a:latin typeface="Calibri"/>
                <a:ea typeface="Calibri"/>
                <a:cs typeface="Calibri"/>
                <a:sym typeface="Calibri"/>
              </a:rPr>
              <a:t>psychological and demographic factors that influence susceptibility to smishing attacks</a:t>
            </a:r>
            <a:endParaRPr sz="4500">
              <a:solidFill>
                <a:schemeClr val="lt1"/>
              </a:solidFill>
              <a:latin typeface="Calibri"/>
              <a:ea typeface="Calibri"/>
              <a:cs typeface="Calibri"/>
              <a:sym typeface="Calibri"/>
            </a:endParaRPr>
          </a:p>
          <a:p>
            <a:pPr indent="0" lvl="0" marL="0" marR="0" rtl="0" algn="ctr">
              <a:lnSpc>
                <a:spcPct val="120000"/>
              </a:lnSpc>
              <a:spcBef>
                <a:spcPts val="0"/>
              </a:spcBef>
              <a:spcAft>
                <a:spcPts val="0"/>
              </a:spcAft>
              <a:buNone/>
            </a:pPr>
            <a:r>
              <a:t/>
            </a:r>
            <a:endParaRPr sz="6500">
              <a:solidFill>
                <a:srgbClr val="FFFFFF"/>
              </a:solidFill>
            </a:endParaRPr>
          </a:p>
        </p:txBody>
      </p:sp>
      <p:grpSp>
        <p:nvGrpSpPr>
          <p:cNvPr id="239" name="Google Shape;239;p22"/>
          <p:cNvGrpSpPr/>
          <p:nvPr/>
        </p:nvGrpSpPr>
        <p:grpSpPr>
          <a:xfrm>
            <a:off x="3" y="8941096"/>
            <a:ext cx="3498292" cy="1345904"/>
            <a:chOff x="9355875" y="3095472"/>
            <a:chExt cx="7344723" cy="2109898"/>
          </a:xfrm>
        </p:grpSpPr>
        <p:grpSp>
          <p:nvGrpSpPr>
            <p:cNvPr id="240" name="Google Shape;240;p22"/>
            <p:cNvGrpSpPr/>
            <p:nvPr/>
          </p:nvGrpSpPr>
          <p:grpSpPr>
            <a:xfrm>
              <a:off x="9355875" y="3095472"/>
              <a:ext cx="7344723" cy="2109898"/>
              <a:chOff x="3" y="-76198"/>
              <a:chExt cx="1934400" cy="555690"/>
            </a:xfrm>
          </p:grpSpPr>
          <p:sp>
            <p:nvSpPr>
              <p:cNvPr id="241" name="Google Shape;241;p22"/>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242" name="Google Shape;242;p22"/>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243" name="Google Shape;243;p22"/>
            <p:cNvGrpSpPr/>
            <p:nvPr/>
          </p:nvGrpSpPr>
          <p:grpSpPr>
            <a:xfrm>
              <a:off x="9846841" y="3934710"/>
              <a:ext cx="6362346" cy="981415"/>
              <a:chOff x="-28" y="-238745"/>
              <a:chExt cx="8483128" cy="1308553"/>
            </a:xfrm>
          </p:grpSpPr>
          <p:sp>
            <p:nvSpPr>
              <p:cNvPr id="244" name="Google Shape;244;p22"/>
              <p:cNvSpPr txBox="1"/>
              <p:nvPr/>
            </p:nvSpPr>
            <p:spPr>
              <a:xfrm>
                <a:off x="-28" y="-238745"/>
                <a:ext cx="8483100" cy="10212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Research</a:t>
                </a:r>
                <a:endParaRPr sz="1735"/>
              </a:p>
            </p:txBody>
          </p:sp>
          <p:sp>
            <p:nvSpPr>
              <p:cNvPr id="245" name="Google Shape;245;p22"/>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sp>
        <p:nvSpPr>
          <p:cNvPr id="246" name="Google Shape;246;p22"/>
          <p:cNvSpPr txBox="1"/>
          <p:nvPr/>
        </p:nvSpPr>
        <p:spPr>
          <a:xfrm>
            <a:off x="5022575" y="9055300"/>
            <a:ext cx="10608900" cy="1117500"/>
          </a:xfrm>
          <a:prstGeom prst="rect">
            <a:avLst/>
          </a:prstGeom>
          <a:noFill/>
          <a:ln>
            <a:noFill/>
          </a:ln>
        </p:spPr>
        <p:txBody>
          <a:bodyPr anchorCtr="0" anchor="t" bIns="91425" lIns="91425" spcFirstLastPara="1" rIns="91425" wrap="square" tIns="91425">
            <a:spAutoFit/>
          </a:bodyPr>
          <a:lstStyle/>
          <a:p>
            <a:pPr indent="0" lvl="0" marL="0" marR="76200" rtl="0" algn="l">
              <a:lnSpc>
                <a:spcPct val="135000"/>
              </a:lnSpc>
              <a:spcBef>
                <a:spcPts val="0"/>
              </a:spcBef>
              <a:spcAft>
                <a:spcPts val="0"/>
              </a:spcAft>
              <a:buNone/>
            </a:pPr>
            <a:r>
              <a:rPr lang="en-US" sz="1200">
                <a:solidFill>
                  <a:srgbClr val="FFF2CC"/>
                </a:solidFill>
              </a:rPr>
              <a:t>Charts were created by the author (Brian Mellinger)</a:t>
            </a:r>
            <a:endParaRPr sz="1200">
              <a:solidFill>
                <a:srgbClr val="FFF2CC"/>
              </a:solidFill>
            </a:endParaRPr>
          </a:p>
          <a:p>
            <a:pPr indent="0" lvl="0" marL="215900" marR="50800" rtl="0" algn="l">
              <a:lnSpc>
                <a:spcPct val="135000"/>
              </a:lnSpc>
              <a:spcBef>
                <a:spcPts val="0"/>
              </a:spcBef>
              <a:spcAft>
                <a:spcPts val="0"/>
              </a:spcAft>
              <a:buNone/>
            </a:pPr>
            <a:r>
              <a:rPr lang="en-US" sz="1200">
                <a:solidFill>
                  <a:srgbClr val="FFF2CC"/>
                </a:solidFill>
              </a:rPr>
              <a:t>Data from: Md Lutfor Rahman, Daniel Timko, Hamid Wali, and Ajaya Neupane. 2023. Users Really Do Respond To Smishing. In </a:t>
            </a:r>
            <a:r>
              <a:rPr i="1" lang="en-US" sz="1200">
                <a:solidFill>
                  <a:srgbClr val="FFF2CC"/>
                </a:solidFill>
              </a:rPr>
              <a:t>Proceedings of the Thirteenth ACM Conference on Data and Application Security and Privacy</a:t>
            </a:r>
            <a:r>
              <a:rPr lang="en-US" sz="1200">
                <a:solidFill>
                  <a:srgbClr val="FFF2CC"/>
                </a:solidFill>
              </a:rPr>
              <a:t> (</a:t>
            </a:r>
            <a:r>
              <a:rPr i="1" lang="en-US" sz="1200">
                <a:solidFill>
                  <a:srgbClr val="FFF2CC"/>
                </a:solidFill>
              </a:rPr>
              <a:t>CODASPY ’23</a:t>
            </a:r>
            <a:r>
              <a:rPr lang="en-US" sz="1200">
                <a:solidFill>
                  <a:srgbClr val="FFF2CC"/>
                </a:solidFill>
              </a:rPr>
              <a:t>), April 24, 2023. Association for Computing Machinery, New York, NY, USA, 49–60.</a:t>
            </a:r>
            <a:r>
              <a:rPr lang="en-US" sz="1200">
                <a:solidFill>
                  <a:srgbClr val="FFF2CC"/>
                </a:solidFill>
                <a:uFill>
                  <a:noFill/>
                </a:uFill>
                <a:hlinkClick r:id="rId3">
                  <a:extLst>
                    <a:ext uri="{A12FA001-AC4F-418D-AE19-62706E023703}">
                      <ahyp:hlinkClr val="tx"/>
                    </a:ext>
                  </a:extLst>
                </a:hlinkClick>
              </a:rPr>
              <a:t> </a:t>
            </a:r>
            <a:r>
              <a:rPr lang="en-US" sz="1200" u="sng">
                <a:solidFill>
                  <a:srgbClr val="FFF2CC"/>
                </a:solidFill>
                <a:hlinkClick r:id="rId4">
                  <a:extLst>
                    <a:ext uri="{A12FA001-AC4F-418D-AE19-62706E023703}">
                      <ahyp:hlinkClr val="tx"/>
                    </a:ext>
                  </a:extLst>
                </a:hlinkClick>
              </a:rPr>
              <a:t>https://doi.org/10.1145/3577923.3583640</a:t>
            </a:r>
            <a:endParaRPr sz="1200" u="sng">
              <a:solidFill>
                <a:srgbClr val="FFF2CC"/>
              </a:solidFill>
            </a:endParaRPr>
          </a:p>
        </p:txBody>
      </p:sp>
      <p:pic>
        <p:nvPicPr>
          <p:cNvPr id="247" name="Google Shape;247;p22"/>
          <p:cNvPicPr preferRelativeResize="0"/>
          <p:nvPr/>
        </p:nvPicPr>
        <p:blipFill>
          <a:blip r:embed="rId5">
            <a:alphaModFix/>
          </a:blip>
          <a:stretch>
            <a:fillRect/>
          </a:stretch>
        </p:blipFill>
        <p:spPr>
          <a:xfrm>
            <a:off x="152400" y="2891700"/>
            <a:ext cx="8473825" cy="5897000"/>
          </a:xfrm>
          <a:prstGeom prst="rect">
            <a:avLst/>
          </a:prstGeom>
          <a:noFill/>
          <a:ln>
            <a:noFill/>
          </a:ln>
        </p:spPr>
      </p:pic>
      <p:pic>
        <p:nvPicPr>
          <p:cNvPr id="248" name="Google Shape;248;p22"/>
          <p:cNvPicPr preferRelativeResize="0"/>
          <p:nvPr/>
        </p:nvPicPr>
        <p:blipFill>
          <a:blip r:embed="rId6">
            <a:alphaModFix/>
          </a:blip>
          <a:stretch>
            <a:fillRect/>
          </a:stretch>
        </p:blipFill>
        <p:spPr>
          <a:xfrm>
            <a:off x="9101975" y="2891699"/>
            <a:ext cx="8863824" cy="5897000"/>
          </a:xfrm>
          <a:prstGeom prst="rect">
            <a:avLst/>
          </a:prstGeom>
          <a:noFill/>
          <a:ln>
            <a:noFill/>
          </a:ln>
        </p:spPr>
      </p:pic>
      <p:sp>
        <p:nvSpPr>
          <p:cNvPr id="249" name="Google Shape;249;p22"/>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6" scaled="0"/>
        </a:gradFill>
      </p:bgPr>
    </p:bg>
    <p:spTree>
      <p:nvGrpSpPr>
        <p:cNvPr id="253" name="Shape 253"/>
        <p:cNvGrpSpPr/>
        <p:nvPr/>
      </p:nvGrpSpPr>
      <p:grpSpPr>
        <a:xfrm>
          <a:off x="0" y="0"/>
          <a:ext cx="0" cy="0"/>
          <a:chOff x="0" y="0"/>
          <a:chExt cx="0" cy="0"/>
        </a:xfrm>
      </p:grpSpPr>
      <p:sp>
        <p:nvSpPr>
          <p:cNvPr id="254" name="Google Shape;254;p23"/>
          <p:cNvSpPr txBox="1"/>
          <p:nvPr/>
        </p:nvSpPr>
        <p:spPr>
          <a:xfrm>
            <a:off x="1587762" y="427337"/>
            <a:ext cx="15112500" cy="2662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4500">
                <a:solidFill>
                  <a:srgbClr val="FFFFFF"/>
                </a:solidFill>
              </a:rPr>
              <a:t>RQ1: </a:t>
            </a:r>
            <a:r>
              <a:rPr lang="en-US" sz="4500">
                <a:solidFill>
                  <a:schemeClr val="lt1"/>
                </a:solidFill>
                <a:latin typeface="Calibri"/>
                <a:ea typeface="Calibri"/>
                <a:cs typeface="Calibri"/>
                <a:sym typeface="Calibri"/>
              </a:rPr>
              <a:t>psychological and demographic factors that influence susceptibility to smishing attacks</a:t>
            </a:r>
            <a:endParaRPr sz="4500">
              <a:solidFill>
                <a:schemeClr val="lt1"/>
              </a:solidFill>
              <a:latin typeface="Calibri"/>
              <a:ea typeface="Calibri"/>
              <a:cs typeface="Calibri"/>
              <a:sym typeface="Calibri"/>
            </a:endParaRPr>
          </a:p>
          <a:p>
            <a:pPr indent="0" lvl="0" marL="0" marR="0" rtl="0" algn="ctr">
              <a:lnSpc>
                <a:spcPct val="120000"/>
              </a:lnSpc>
              <a:spcBef>
                <a:spcPts val="0"/>
              </a:spcBef>
              <a:spcAft>
                <a:spcPts val="0"/>
              </a:spcAft>
              <a:buNone/>
            </a:pPr>
            <a:r>
              <a:t/>
            </a:r>
            <a:endParaRPr sz="6500">
              <a:solidFill>
                <a:srgbClr val="FFFFFF"/>
              </a:solidFill>
            </a:endParaRPr>
          </a:p>
        </p:txBody>
      </p:sp>
      <p:sp>
        <p:nvSpPr>
          <p:cNvPr id="255" name="Google Shape;255;p23"/>
          <p:cNvSpPr txBox="1"/>
          <p:nvPr/>
        </p:nvSpPr>
        <p:spPr>
          <a:xfrm>
            <a:off x="635050" y="2319475"/>
            <a:ext cx="7551600" cy="2662800"/>
          </a:xfrm>
          <a:prstGeom prst="rect">
            <a:avLst/>
          </a:prstGeom>
          <a:noFill/>
          <a:ln>
            <a:noFill/>
          </a:ln>
        </p:spPr>
        <p:txBody>
          <a:bodyPr anchorCtr="0" anchor="t" bIns="91425" lIns="91425" spcFirstLastPara="1" rIns="91425" wrap="square" tIns="91425">
            <a:noAutofit/>
          </a:bodyPr>
          <a:lstStyle/>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Authority Impersonation</a:t>
            </a:r>
            <a:r>
              <a:rPr baseline="30000" lang="en-US" sz="3200">
                <a:solidFill>
                  <a:schemeClr val="lt1"/>
                </a:solidFill>
                <a:latin typeface="Calibri"/>
                <a:ea typeface="Calibri"/>
                <a:cs typeface="Calibri"/>
                <a:sym typeface="Calibri"/>
              </a:rPr>
              <a:t>1</a:t>
            </a:r>
            <a:endParaRPr baseline="30000" sz="3200">
              <a:solidFill>
                <a:schemeClr val="lt1"/>
              </a:solidFill>
              <a:latin typeface="Calibri"/>
              <a:ea typeface="Calibri"/>
              <a:cs typeface="Calibri"/>
              <a:sym typeface="Calibri"/>
            </a:endParaRPr>
          </a:p>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Fear, urgency, greed</a:t>
            </a:r>
            <a:r>
              <a:rPr baseline="30000" lang="en-US" sz="3200">
                <a:solidFill>
                  <a:schemeClr val="lt1"/>
                </a:solidFill>
                <a:latin typeface="Calibri"/>
                <a:ea typeface="Calibri"/>
                <a:cs typeface="Calibri"/>
                <a:sym typeface="Calibri"/>
              </a:rPr>
              <a:t>2</a:t>
            </a:r>
            <a:endParaRPr baseline="30000" sz="3200">
              <a:solidFill>
                <a:schemeClr val="lt1"/>
              </a:solidFill>
              <a:latin typeface="Calibri"/>
              <a:ea typeface="Calibri"/>
              <a:cs typeface="Calibri"/>
              <a:sym typeface="Calibri"/>
            </a:endParaRPr>
          </a:p>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African-American, Mexican-American</a:t>
            </a:r>
            <a:r>
              <a:rPr baseline="30000" lang="en-US" sz="3200">
                <a:solidFill>
                  <a:schemeClr val="lt1"/>
                </a:solidFill>
                <a:latin typeface="Calibri"/>
                <a:ea typeface="Calibri"/>
                <a:cs typeface="Calibri"/>
                <a:sym typeface="Calibri"/>
              </a:rPr>
              <a:t>3</a:t>
            </a:r>
            <a:endParaRPr baseline="30000" sz="3200">
              <a:solidFill>
                <a:schemeClr val="lt1"/>
              </a:solidFill>
              <a:latin typeface="Calibri"/>
              <a:ea typeface="Calibri"/>
              <a:cs typeface="Calibri"/>
              <a:sym typeface="Calibri"/>
            </a:endParaRPr>
          </a:p>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Men</a:t>
            </a:r>
            <a:r>
              <a:rPr baseline="30000" lang="en-US" sz="3200">
                <a:solidFill>
                  <a:schemeClr val="lt1"/>
                </a:solidFill>
                <a:latin typeface="Calibri"/>
                <a:ea typeface="Calibri"/>
                <a:cs typeface="Calibri"/>
                <a:sym typeface="Calibri"/>
              </a:rPr>
              <a:t>4</a:t>
            </a:r>
            <a:endParaRPr baseline="30000" sz="3200">
              <a:solidFill>
                <a:schemeClr val="lt1"/>
              </a:solidFill>
              <a:latin typeface="Calibri"/>
              <a:ea typeface="Calibri"/>
              <a:cs typeface="Calibri"/>
              <a:sym typeface="Calibri"/>
            </a:endParaRPr>
          </a:p>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Users without </a:t>
            </a:r>
            <a:r>
              <a:rPr lang="en-US" sz="3200">
                <a:solidFill>
                  <a:schemeClr val="lt1"/>
                </a:solidFill>
                <a:latin typeface="Calibri"/>
                <a:ea typeface="Calibri"/>
                <a:cs typeface="Calibri"/>
                <a:sym typeface="Calibri"/>
              </a:rPr>
              <a:t>cybersecurity</a:t>
            </a:r>
            <a:r>
              <a:rPr lang="en-US" sz="3200">
                <a:solidFill>
                  <a:schemeClr val="lt1"/>
                </a:solidFill>
                <a:latin typeface="Calibri"/>
                <a:ea typeface="Calibri"/>
                <a:cs typeface="Calibri"/>
                <a:sym typeface="Calibri"/>
              </a:rPr>
              <a:t> training</a:t>
            </a:r>
            <a:r>
              <a:rPr baseline="30000" lang="en-US" sz="3200">
                <a:solidFill>
                  <a:schemeClr val="lt1"/>
                </a:solidFill>
                <a:latin typeface="Calibri"/>
                <a:ea typeface="Calibri"/>
                <a:cs typeface="Calibri"/>
                <a:sym typeface="Calibri"/>
              </a:rPr>
              <a:t>1</a:t>
            </a:r>
            <a:endParaRPr baseline="30000" sz="3200">
              <a:solidFill>
                <a:schemeClr val="lt1"/>
              </a:solidFill>
              <a:latin typeface="Calibri"/>
              <a:ea typeface="Calibri"/>
              <a:cs typeface="Calibri"/>
              <a:sym typeface="Calibri"/>
            </a:endParaRPr>
          </a:p>
        </p:txBody>
      </p:sp>
      <p:grpSp>
        <p:nvGrpSpPr>
          <p:cNvPr id="256" name="Google Shape;256;p23"/>
          <p:cNvGrpSpPr/>
          <p:nvPr/>
        </p:nvGrpSpPr>
        <p:grpSpPr>
          <a:xfrm>
            <a:off x="3" y="8941096"/>
            <a:ext cx="3498292" cy="1345904"/>
            <a:chOff x="9355875" y="3095472"/>
            <a:chExt cx="7344723" cy="2109898"/>
          </a:xfrm>
        </p:grpSpPr>
        <p:grpSp>
          <p:nvGrpSpPr>
            <p:cNvPr id="257" name="Google Shape;257;p23"/>
            <p:cNvGrpSpPr/>
            <p:nvPr/>
          </p:nvGrpSpPr>
          <p:grpSpPr>
            <a:xfrm>
              <a:off x="9355875" y="3095472"/>
              <a:ext cx="7344723" cy="2109898"/>
              <a:chOff x="3" y="-76198"/>
              <a:chExt cx="1934400" cy="555690"/>
            </a:xfrm>
          </p:grpSpPr>
          <p:sp>
            <p:nvSpPr>
              <p:cNvPr id="258" name="Google Shape;258;p23"/>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259" name="Google Shape;259;p23"/>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260" name="Google Shape;260;p23"/>
            <p:cNvGrpSpPr/>
            <p:nvPr/>
          </p:nvGrpSpPr>
          <p:grpSpPr>
            <a:xfrm>
              <a:off x="9846841" y="3934710"/>
              <a:ext cx="6362346" cy="981415"/>
              <a:chOff x="-28" y="-238745"/>
              <a:chExt cx="8483128" cy="1308553"/>
            </a:xfrm>
          </p:grpSpPr>
          <p:sp>
            <p:nvSpPr>
              <p:cNvPr id="261" name="Google Shape;261;p23"/>
              <p:cNvSpPr txBox="1"/>
              <p:nvPr/>
            </p:nvSpPr>
            <p:spPr>
              <a:xfrm>
                <a:off x="-28" y="-238745"/>
                <a:ext cx="8483100" cy="10212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Research</a:t>
                </a:r>
                <a:endParaRPr sz="1735"/>
              </a:p>
            </p:txBody>
          </p:sp>
          <p:sp>
            <p:nvSpPr>
              <p:cNvPr id="262" name="Google Shape;262;p23"/>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sp>
        <p:nvSpPr>
          <p:cNvPr id="263" name="Google Shape;263;p23"/>
          <p:cNvSpPr txBox="1"/>
          <p:nvPr/>
        </p:nvSpPr>
        <p:spPr>
          <a:xfrm>
            <a:off x="498300" y="5128850"/>
            <a:ext cx="7551600" cy="4608600"/>
          </a:xfrm>
          <a:prstGeom prst="rect">
            <a:avLst/>
          </a:prstGeom>
          <a:noFill/>
          <a:ln>
            <a:noFill/>
          </a:ln>
        </p:spPr>
        <p:txBody>
          <a:bodyPr anchorCtr="0" anchor="t" bIns="91425" lIns="91425" spcFirstLastPara="1" rIns="91425" wrap="square" tIns="91425">
            <a:spAutoFit/>
          </a:bodyPr>
          <a:lstStyle/>
          <a:p>
            <a:pPr indent="0" lvl="0" marL="0" marR="76200" rtl="0" algn="r">
              <a:lnSpc>
                <a:spcPct val="135000"/>
              </a:lnSpc>
              <a:spcBef>
                <a:spcPts val="0"/>
              </a:spcBef>
              <a:spcAft>
                <a:spcPts val="0"/>
              </a:spcAft>
              <a:buNone/>
            </a:pPr>
            <a:r>
              <a:rPr lang="en-US" sz="1200">
                <a:solidFill>
                  <a:srgbClr val="FFF2CC"/>
                </a:solidFill>
              </a:rPr>
              <a:t>[1]</a:t>
            </a:r>
            <a:endParaRPr sz="1200">
              <a:solidFill>
                <a:srgbClr val="FFF2CC"/>
              </a:solidFill>
            </a:endParaRPr>
          </a:p>
          <a:p>
            <a:pPr indent="0" lvl="0" marL="215900" marR="50800" rtl="0" algn="l">
              <a:lnSpc>
                <a:spcPct val="135000"/>
              </a:lnSpc>
              <a:spcBef>
                <a:spcPts val="0"/>
              </a:spcBef>
              <a:spcAft>
                <a:spcPts val="0"/>
              </a:spcAft>
              <a:buNone/>
            </a:pPr>
            <a:r>
              <a:rPr lang="en-US" sz="1200">
                <a:solidFill>
                  <a:srgbClr val="FFF2CC"/>
                </a:solidFill>
              </a:rPr>
              <a:t>Sarah Tabassum, Cori Faklaris, and Heather Richter Lipford. What Drives SMiShing Susceptibility? A U.S. Interview Study of How and Why Mobile Phone Users Judge Text Messages to be Real or Fake.</a:t>
            </a:r>
            <a:endParaRPr sz="1200">
              <a:solidFill>
                <a:srgbClr val="FFF2CC"/>
              </a:solidFill>
            </a:endParaRPr>
          </a:p>
          <a:p>
            <a:pPr indent="0" lvl="0" marL="0" marR="76200" rtl="0" algn="r">
              <a:lnSpc>
                <a:spcPct val="135000"/>
              </a:lnSpc>
              <a:spcBef>
                <a:spcPts val="0"/>
              </a:spcBef>
              <a:spcAft>
                <a:spcPts val="0"/>
              </a:spcAft>
              <a:buNone/>
            </a:pPr>
            <a:r>
              <a:rPr lang="en-US" sz="1200">
                <a:solidFill>
                  <a:srgbClr val="FFF2CC"/>
                </a:solidFill>
              </a:rPr>
              <a:t>[2]</a:t>
            </a:r>
            <a:endParaRPr sz="1200">
              <a:solidFill>
                <a:srgbClr val="FFF2CC"/>
              </a:solidFill>
            </a:endParaRPr>
          </a:p>
          <a:p>
            <a:pPr indent="0" lvl="0" marL="215900" marR="50800" rtl="0" algn="l">
              <a:lnSpc>
                <a:spcPct val="135000"/>
              </a:lnSpc>
              <a:spcBef>
                <a:spcPts val="0"/>
              </a:spcBef>
              <a:spcAft>
                <a:spcPts val="0"/>
              </a:spcAft>
              <a:buNone/>
            </a:pPr>
            <a:r>
              <a:rPr lang="en-US" sz="1200">
                <a:solidFill>
                  <a:srgbClr val="FFF2CC"/>
                </a:solidFill>
              </a:rPr>
              <a:t>Md Lutfor Rahman, Daniel Timko, Hamid Wali, and Ajaya Neupane. 2023. Users Really Do Respond To Smishing. In </a:t>
            </a:r>
            <a:r>
              <a:rPr i="1" lang="en-US" sz="1200">
                <a:solidFill>
                  <a:srgbClr val="FFF2CC"/>
                </a:solidFill>
              </a:rPr>
              <a:t>Proceedings of the Thirteenth ACM Conference on Data and Application Security and Privacy</a:t>
            </a:r>
            <a:r>
              <a:rPr lang="en-US" sz="1200">
                <a:solidFill>
                  <a:srgbClr val="FFF2CC"/>
                </a:solidFill>
              </a:rPr>
              <a:t> (</a:t>
            </a:r>
            <a:r>
              <a:rPr i="1" lang="en-US" sz="1200">
                <a:solidFill>
                  <a:srgbClr val="FFF2CC"/>
                </a:solidFill>
              </a:rPr>
              <a:t>CODASPY ’23</a:t>
            </a:r>
            <a:r>
              <a:rPr lang="en-US" sz="1200">
                <a:solidFill>
                  <a:srgbClr val="FFF2CC"/>
                </a:solidFill>
              </a:rPr>
              <a:t>), April 24, 2023. Association for Computing Machinery, New York, NY, USA, 49–60.</a:t>
            </a:r>
            <a:r>
              <a:rPr lang="en-US" sz="1200">
                <a:solidFill>
                  <a:srgbClr val="FFF2CC"/>
                </a:solidFill>
                <a:uFill>
                  <a:noFill/>
                </a:uFill>
                <a:hlinkClick r:id="rId3">
                  <a:extLst>
                    <a:ext uri="{A12FA001-AC4F-418D-AE19-62706E023703}">
                      <ahyp:hlinkClr val="tx"/>
                    </a:ext>
                  </a:extLst>
                </a:hlinkClick>
              </a:rPr>
              <a:t> </a:t>
            </a:r>
            <a:r>
              <a:rPr lang="en-US" sz="1200" u="sng">
                <a:solidFill>
                  <a:srgbClr val="FFF2CC"/>
                </a:solidFill>
                <a:hlinkClick r:id="rId4">
                  <a:extLst>
                    <a:ext uri="{A12FA001-AC4F-418D-AE19-62706E023703}">
                      <ahyp:hlinkClr val="tx"/>
                    </a:ext>
                  </a:extLst>
                </a:hlinkClick>
              </a:rPr>
              <a:t>https://doi.org/10.1145/3577923.3583640</a:t>
            </a:r>
            <a:endParaRPr sz="1200">
              <a:solidFill>
                <a:srgbClr val="FFF2CC"/>
              </a:solidFill>
            </a:endParaRPr>
          </a:p>
          <a:p>
            <a:pPr indent="0" lvl="0" marL="0" marR="76200" rtl="0" algn="r">
              <a:lnSpc>
                <a:spcPct val="135000"/>
              </a:lnSpc>
              <a:spcBef>
                <a:spcPts val="0"/>
              </a:spcBef>
              <a:spcAft>
                <a:spcPts val="0"/>
              </a:spcAft>
              <a:buNone/>
            </a:pPr>
            <a:r>
              <a:rPr lang="en-US" sz="1200">
                <a:solidFill>
                  <a:srgbClr val="FFF2CC"/>
                </a:solidFill>
              </a:rPr>
              <a:t>[3]</a:t>
            </a:r>
            <a:endParaRPr sz="1200">
              <a:solidFill>
                <a:srgbClr val="FFF2CC"/>
              </a:solidFill>
            </a:endParaRPr>
          </a:p>
          <a:p>
            <a:pPr indent="0" lvl="0" marL="215900" marR="50800" rtl="0" algn="l">
              <a:lnSpc>
                <a:spcPct val="135000"/>
              </a:lnSpc>
              <a:spcBef>
                <a:spcPts val="0"/>
              </a:spcBef>
              <a:spcAft>
                <a:spcPts val="0"/>
              </a:spcAft>
              <a:buNone/>
            </a:pPr>
            <a:r>
              <a:rPr lang="en-US" sz="1200">
                <a:solidFill>
                  <a:srgbClr val="FFF2CC"/>
                </a:solidFill>
              </a:rPr>
              <a:t>Aaron Zimba, Katongo Phiri, Chimanga Kashale, and Mwiza Phiri. 2025. Unveiling deception: a socio-economic analysis of smishing attacks on mobile money transaction users. </a:t>
            </a:r>
            <a:r>
              <a:rPr i="1" lang="en-US" sz="1200">
                <a:solidFill>
                  <a:srgbClr val="FFF2CC"/>
                </a:solidFill>
              </a:rPr>
              <a:t>Humanit Soc Sci Commun</a:t>
            </a:r>
            <a:r>
              <a:rPr lang="en-US" sz="1200">
                <a:solidFill>
                  <a:srgbClr val="FFF2CC"/>
                </a:solidFill>
              </a:rPr>
              <a:t> 12, 1 (December 2025), 1880.</a:t>
            </a:r>
            <a:r>
              <a:rPr lang="en-US" sz="1200">
                <a:solidFill>
                  <a:srgbClr val="FFF2CC"/>
                </a:solidFill>
                <a:uFill>
                  <a:noFill/>
                </a:uFill>
                <a:hlinkClick r:id="rId5">
                  <a:extLst>
                    <a:ext uri="{A12FA001-AC4F-418D-AE19-62706E023703}">
                      <ahyp:hlinkClr val="tx"/>
                    </a:ext>
                  </a:extLst>
                </a:hlinkClick>
              </a:rPr>
              <a:t> </a:t>
            </a:r>
            <a:r>
              <a:rPr lang="en-US" sz="1200" u="sng">
                <a:solidFill>
                  <a:srgbClr val="FFF2CC"/>
                </a:solidFill>
                <a:hlinkClick r:id="rId6">
                  <a:extLst>
                    <a:ext uri="{A12FA001-AC4F-418D-AE19-62706E023703}">
                      <ahyp:hlinkClr val="tx"/>
                    </a:ext>
                  </a:extLst>
                </a:hlinkClick>
              </a:rPr>
              <a:t>https://doi.org/10.1057/s41599-025-06141-8</a:t>
            </a:r>
            <a:endParaRPr sz="1200">
              <a:solidFill>
                <a:srgbClr val="FFF2CC"/>
              </a:solidFill>
            </a:endParaRPr>
          </a:p>
          <a:p>
            <a:pPr indent="0" lvl="0" marL="0" marR="76200" rtl="0" algn="r">
              <a:lnSpc>
                <a:spcPct val="135000"/>
              </a:lnSpc>
              <a:spcBef>
                <a:spcPts val="0"/>
              </a:spcBef>
              <a:spcAft>
                <a:spcPts val="0"/>
              </a:spcAft>
              <a:buNone/>
            </a:pPr>
            <a:r>
              <a:rPr lang="en-US" sz="1200">
                <a:solidFill>
                  <a:srgbClr val="FFF2CC"/>
                </a:solidFill>
              </a:rPr>
              <a:t>[4]</a:t>
            </a:r>
            <a:endParaRPr sz="1200">
              <a:solidFill>
                <a:srgbClr val="FFF2CC"/>
              </a:solidFill>
            </a:endParaRPr>
          </a:p>
          <a:p>
            <a:pPr indent="0" lvl="0" marL="215900" marR="50800" rtl="0" algn="l">
              <a:lnSpc>
                <a:spcPct val="135000"/>
              </a:lnSpc>
              <a:spcBef>
                <a:spcPts val="0"/>
              </a:spcBef>
              <a:spcAft>
                <a:spcPts val="0"/>
              </a:spcAft>
              <a:buNone/>
            </a:pPr>
            <a:r>
              <a:rPr lang="en-US" sz="1200">
                <a:solidFill>
                  <a:srgbClr val="FFF2CC"/>
                </a:solidFill>
              </a:rPr>
              <a:t>Ezer Osei Yeboah-Boateng and Priscilla Mateko Amanor. 2014. Phishing, SMiShing &amp; Vishing: An Assessment of Threats against Mobile Devices. 5, 4 (2014).</a:t>
            </a:r>
            <a:endParaRPr sz="1200">
              <a:solidFill>
                <a:srgbClr val="FFF2CC"/>
              </a:solidFill>
            </a:endParaRPr>
          </a:p>
          <a:p>
            <a:pPr indent="0" lvl="0" marL="0" marR="50800" rtl="0" algn="l">
              <a:lnSpc>
                <a:spcPct val="135000"/>
              </a:lnSpc>
              <a:spcBef>
                <a:spcPts val="0"/>
              </a:spcBef>
              <a:spcAft>
                <a:spcPts val="0"/>
              </a:spcAft>
              <a:buNone/>
            </a:pPr>
            <a:r>
              <a:t/>
            </a:r>
            <a:endParaRPr sz="1200" u="sng">
              <a:solidFill>
                <a:srgbClr val="FFF2CC"/>
              </a:solidFill>
            </a:endParaRPr>
          </a:p>
          <a:p>
            <a:pPr indent="0" lvl="0" marL="215900" marR="50800" rtl="0" algn="l">
              <a:lnSpc>
                <a:spcPct val="135000"/>
              </a:lnSpc>
              <a:spcBef>
                <a:spcPts val="0"/>
              </a:spcBef>
              <a:spcAft>
                <a:spcPts val="0"/>
              </a:spcAft>
              <a:buNone/>
            </a:pPr>
            <a:r>
              <a:t/>
            </a:r>
            <a:endParaRPr sz="1200">
              <a:solidFill>
                <a:srgbClr val="FFF2CC"/>
              </a:solidFill>
            </a:endParaRPr>
          </a:p>
          <a:p>
            <a:pPr indent="0" lvl="0" marL="215900" marR="50800" rtl="0" algn="l">
              <a:lnSpc>
                <a:spcPct val="135000"/>
              </a:lnSpc>
              <a:spcBef>
                <a:spcPts val="0"/>
              </a:spcBef>
              <a:spcAft>
                <a:spcPts val="0"/>
              </a:spcAft>
              <a:buNone/>
            </a:pPr>
            <a:r>
              <a:t/>
            </a:r>
            <a:endParaRPr sz="1200">
              <a:solidFill>
                <a:srgbClr val="FFF2CC"/>
              </a:solidFill>
            </a:endParaRPr>
          </a:p>
        </p:txBody>
      </p:sp>
      <p:pic>
        <p:nvPicPr>
          <p:cNvPr id="264" name="Google Shape;264;p23"/>
          <p:cNvPicPr preferRelativeResize="0"/>
          <p:nvPr/>
        </p:nvPicPr>
        <p:blipFill>
          <a:blip r:embed="rId7">
            <a:alphaModFix/>
          </a:blip>
          <a:stretch>
            <a:fillRect/>
          </a:stretch>
        </p:blipFill>
        <p:spPr>
          <a:xfrm>
            <a:off x="8049900" y="2418150"/>
            <a:ext cx="10101351" cy="6522950"/>
          </a:xfrm>
          <a:prstGeom prst="rect">
            <a:avLst/>
          </a:prstGeom>
          <a:noFill/>
          <a:ln>
            <a:noFill/>
          </a:ln>
        </p:spPr>
      </p:pic>
      <p:sp>
        <p:nvSpPr>
          <p:cNvPr id="265" name="Google Shape;265;p23"/>
          <p:cNvSpPr txBox="1"/>
          <p:nvPr/>
        </p:nvSpPr>
        <p:spPr>
          <a:xfrm>
            <a:off x="9529875" y="4164525"/>
            <a:ext cx="928200" cy="50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Calibri"/>
                <a:ea typeface="Calibri"/>
                <a:cs typeface="Calibri"/>
                <a:sym typeface="Calibri"/>
              </a:rPr>
              <a:t>n = 23</a:t>
            </a:r>
            <a:endParaRPr sz="1600">
              <a:solidFill>
                <a:schemeClr val="dk1"/>
              </a:solidFill>
              <a:latin typeface="Calibri"/>
              <a:ea typeface="Calibri"/>
              <a:cs typeface="Calibri"/>
              <a:sym typeface="Calibri"/>
            </a:endParaRPr>
          </a:p>
        </p:txBody>
      </p:sp>
      <p:sp>
        <p:nvSpPr>
          <p:cNvPr id="266" name="Google Shape;266;p23"/>
          <p:cNvSpPr txBox="1"/>
          <p:nvPr/>
        </p:nvSpPr>
        <p:spPr>
          <a:xfrm>
            <a:off x="9529865" y="5245002"/>
            <a:ext cx="928200" cy="50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Calibri"/>
                <a:ea typeface="Calibri"/>
                <a:cs typeface="Calibri"/>
                <a:sym typeface="Calibri"/>
              </a:rPr>
              <a:t>n = 28</a:t>
            </a:r>
            <a:endParaRPr sz="1600">
              <a:solidFill>
                <a:schemeClr val="dk1"/>
              </a:solidFill>
              <a:latin typeface="Calibri"/>
              <a:ea typeface="Calibri"/>
              <a:cs typeface="Calibri"/>
              <a:sym typeface="Calibri"/>
            </a:endParaRPr>
          </a:p>
        </p:txBody>
      </p:sp>
      <p:sp>
        <p:nvSpPr>
          <p:cNvPr id="267" name="Google Shape;267;p23"/>
          <p:cNvSpPr txBox="1"/>
          <p:nvPr/>
        </p:nvSpPr>
        <p:spPr>
          <a:xfrm>
            <a:off x="9560150" y="6446721"/>
            <a:ext cx="928200" cy="50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Calibri"/>
                <a:ea typeface="Calibri"/>
                <a:cs typeface="Calibri"/>
                <a:sym typeface="Calibri"/>
              </a:rPr>
              <a:t>n = 46</a:t>
            </a:r>
            <a:endParaRPr sz="1600">
              <a:solidFill>
                <a:schemeClr val="dk1"/>
              </a:solidFill>
              <a:latin typeface="Calibri"/>
              <a:ea typeface="Calibri"/>
              <a:cs typeface="Calibri"/>
              <a:sym typeface="Calibri"/>
            </a:endParaRPr>
          </a:p>
        </p:txBody>
      </p:sp>
      <p:sp>
        <p:nvSpPr>
          <p:cNvPr id="268" name="Google Shape;268;p23"/>
          <p:cNvSpPr txBox="1"/>
          <p:nvPr/>
        </p:nvSpPr>
        <p:spPr>
          <a:xfrm>
            <a:off x="9554070" y="7527424"/>
            <a:ext cx="928200" cy="50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Calibri"/>
                <a:ea typeface="Calibri"/>
                <a:cs typeface="Calibri"/>
                <a:sym typeface="Calibri"/>
              </a:rPr>
              <a:t>n = 128</a:t>
            </a:r>
            <a:endParaRPr sz="1600">
              <a:solidFill>
                <a:schemeClr val="dk1"/>
              </a:solidFill>
              <a:latin typeface="Calibri"/>
              <a:ea typeface="Calibri"/>
              <a:cs typeface="Calibri"/>
              <a:sym typeface="Calibri"/>
            </a:endParaRPr>
          </a:p>
        </p:txBody>
      </p:sp>
      <p:sp>
        <p:nvSpPr>
          <p:cNvPr id="269" name="Google Shape;269;p23"/>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
        <p:nvSpPr>
          <p:cNvPr id="270" name="Google Shape;270;p23"/>
          <p:cNvSpPr txBox="1"/>
          <p:nvPr/>
        </p:nvSpPr>
        <p:spPr>
          <a:xfrm>
            <a:off x="8387025" y="9055300"/>
            <a:ext cx="9117900" cy="1117500"/>
          </a:xfrm>
          <a:prstGeom prst="rect">
            <a:avLst/>
          </a:prstGeom>
          <a:noFill/>
          <a:ln>
            <a:noFill/>
          </a:ln>
        </p:spPr>
        <p:txBody>
          <a:bodyPr anchorCtr="0" anchor="t" bIns="91425" lIns="91425" spcFirstLastPara="1" rIns="91425" wrap="square" tIns="91425">
            <a:spAutoFit/>
          </a:bodyPr>
          <a:lstStyle/>
          <a:p>
            <a:pPr indent="0" lvl="0" marL="0" marR="76200" rtl="0" algn="l">
              <a:lnSpc>
                <a:spcPct val="135000"/>
              </a:lnSpc>
              <a:spcBef>
                <a:spcPts val="0"/>
              </a:spcBef>
              <a:spcAft>
                <a:spcPts val="0"/>
              </a:spcAft>
              <a:buNone/>
            </a:pPr>
            <a:r>
              <a:rPr lang="en-US" sz="1200">
                <a:solidFill>
                  <a:srgbClr val="FFF2CC"/>
                </a:solidFill>
              </a:rPr>
              <a:t>Chart created by the author (Brian Mellinger)</a:t>
            </a:r>
            <a:endParaRPr sz="1200">
              <a:solidFill>
                <a:srgbClr val="FFF2CC"/>
              </a:solidFill>
            </a:endParaRPr>
          </a:p>
          <a:p>
            <a:pPr indent="0" lvl="0" marL="215900" marR="50800" rtl="0" algn="l">
              <a:lnSpc>
                <a:spcPct val="135000"/>
              </a:lnSpc>
              <a:spcBef>
                <a:spcPts val="0"/>
              </a:spcBef>
              <a:spcAft>
                <a:spcPts val="0"/>
              </a:spcAft>
              <a:buNone/>
            </a:pPr>
            <a:r>
              <a:rPr lang="en-US" sz="1200">
                <a:solidFill>
                  <a:srgbClr val="FFF2CC"/>
                </a:solidFill>
              </a:rPr>
              <a:t>Data from: Md Lutfor Rahman, Daniel Timko, Hamid Wali, and Ajaya Neupane. 2023. Users Really Do Respond To Smishing. In </a:t>
            </a:r>
            <a:r>
              <a:rPr i="1" lang="en-US" sz="1200">
                <a:solidFill>
                  <a:srgbClr val="FFF2CC"/>
                </a:solidFill>
              </a:rPr>
              <a:t>Proceedings of the Thirteenth ACM Conference on Data and Application Security and Privacy</a:t>
            </a:r>
            <a:r>
              <a:rPr lang="en-US" sz="1200">
                <a:solidFill>
                  <a:srgbClr val="FFF2CC"/>
                </a:solidFill>
              </a:rPr>
              <a:t> (</a:t>
            </a:r>
            <a:r>
              <a:rPr i="1" lang="en-US" sz="1200">
                <a:solidFill>
                  <a:srgbClr val="FFF2CC"/>
                </a:solidFill>
              </a:rPr>
              <a:t>CODASPY ’23</a:t>
            </a:r>
            <a:r>
              <a:rPr lang="en-US" sz="1200">
                <a:solidFill>
                  <a:srgbClr val="FFF2CC"/>
                </a:solidFill>
              </a:rPr>
              <a:t>), April 24, 2023. Association for Computing Machinery, New York, NY, USA, 49–60.</a:t>
            </a:r>
            <a:r>
              <a:rPr lang="en-US" sz="1200">
                <a:solidFill>
                  <a:srgbClr val="FFF2CC"/>
                </a:solidFill>
                <a:uFill>
                  <a:noFill/>
                </a:uFill>
                <a:hlinkClick r:id="rId8">
                  <a:extLst>
                    <a:ext uri="{A12FA001-AC4F-418D-AE19-62706E023703}">
                      <ahyp:hlinkClr val="tx"/>
                    </a:ext>
                  </a:extLst>
                </a:hlinkClick>
              </a:rPr>
              <a:t> </a:t>
            </a:r>
            <a:r>
              <a:rPr lang="en-US" sz="1200" u="sng">
                <a:solidFill>
                  <a:srgbClr val="FFF2CC"/>
                </a:solidFill>
                <a:hlinkClick r:id="rId9">
                  <a:extLst>
                    <a:ext uri="{A12FA001-AC4F-418D-AE19-62706E023703}">
                      <ahyp:hlinkClr val="tx"/>
                    </a:ext>
                  </a:extLst>
                </a:hlinkClick>
              </a:rPr>
              <a:t>https://doi.org/10.1145/3577923.3583640</a:t>
            </a:r>
            <a:endParaRPr sz="1200" u="sng">
              <a:solidFill>
                <a:srgbClr val="FFF2CC"/>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6" scaled="0"/>
        </a:gradFill>
      </p:bgPr>
    </p:bg>
    <p:spTree>
      <p:nvGrpSpPr>
        <p:cNvPr id="274" name="Shape 274"/>
        <p:cNvGrpSpPr/>
        <p:nvPr/>
      </p:nvGrpSpPr>
      <p:grpSpPr>
        <a:xfrm>
          <a:off x="0" y="0"/>
          <a:ext cx="0" cy="0"/>
          <a:chOff x="0" y="0"/>
          <a:chExt cx="0" cy="0"/>
        </a:xfrm>
      </p:grpSpPr>
      <p:sp>
        <p:nvSpPr>
          <p:cNvPr id="275" name="Google Shape;275;p24"/>
          <p:cNvSpPr txBox="1"/>
          <p:nvPr/>
        </p:nvSpPr>
        <p:spPr>
          <a:xfrm>
            <a:off x="1587787" y="1304162"/>
            <a:ext cx="15112500" cy="692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US" sz="4500">
                <a:solidFill>
                  <a:schemeClr val="lt1"/>
                </a:solidFill>
                <a:latin typeface="Calibri"/>
                <a:ea typeface="Calibri"/>
                <a:cs typeface="Calibri"/>
                <a:sym typeface="Calibri"/>
              </a:rPr>
              <a:t>RQ2: How effective is smishing mitigation?</a:t>
            </a:r>
            <a:endParaRPr sz="4500"/>
          </a:p>
        </p:txBody>
      </p:sp>
      <p:sp>
        <p:nvSpPr>
          <p:cNvPr id="276" name="Google Shape;276;p24"/>
          <p:cNvSpPr txBox="1"/>
          <p:nvPr/>
        </p:nvSpPr>
        <p:spPr>
          <a:xfrm>
            <a:off x="635050" y="2531525"/>
            <a:ext cx="16746300" cy="7002900"/>
          </a:xfrm>
          <a:prstGeom prst="rect">
            <a:avLst/>
          </a:prstGeom>
          <a:noFill/>
          <a:ln>
            <a:noFill/>
          </a:ln>
        </p:spPr>
        <p:txBody>
          <a:bodyPr anchorCtr="0" anchor="t" bIns="91425" lIns="91425" spcFirstLastPara="1" rIns="91425" wrap="square" tIns="91425">
            <a:noAutofit/>
          </a:bodyPr>
          <a:lstStyle/>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Machine Learning?</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Cybersmish (multi-analysis)</a:t>
            </a:r>
            <a:r>
              <a:rPr baseline="30000" lang="en-US" sz="3200">
                <a:solidFill>
                  <a:schemeClr val="lt1"/>
                </a:solidFill>
                <a:latin typeface="Calibri"/>
                <a:ea typeface="Calibri"/>
                <a:cs typeface="Calibri"/>
                <a:sym typeface="Calibri"/>
              </a:rPr>
              <a:t>1</a:t>
            </a:r>
            <a:r>
              <a:rPr lang="en-US" sz="3200">
                <a:solidFill>
                  <a:schemeClr val="lt1"/>
                </a:solidFill>
                <a:latin typeface="Calibri"/>
                <a:ea typeface="Calibri"/>
                <a:cs typeface="Calibri"/>
                <a:sym typeface="Calibri"/>
              </a:rPr>
              <a:t> → 95.5%</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SmiDCA (noun classifier)</a:t>
            </a:r>
            <a:r>
              <a:rPr baseline="30000" lang="en-US" sz="3200">
                <a:solidFill>
                  <a:schemeClr val="lt1"/>
                </a:solidFill>
                <a:latin typeface="Calibri"/>
                <a:ea typeface="Calibri"/>
                <a:cs typeface="Calibri"/>
                <a:sym typeface="Calibri"/>
              </a:rPr>
              <a:t>2 </a:t>
            </a:r>
            <a:r>
              <a:rPr lang="en-US" sz="3200">
                <a:solidFill>
                  <a:schemeClr val="lt1"/>
                </a:solidFill>
                <a:latin typeface="Calibri"/>
                <a:ea typeface="Calibri"/>
                <a:cs typeface="Calibri"/>
                <a:sym typeface="Calibri"/>
              </a:rPr>
              <a:t>→ 96.4%</a:t>
            </a:r>
            <a:endParaRPr baseline="30000"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Laws? (U.S.)</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TCPA</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CAN-SPAM</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TRACED act</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p:txBody>
      </p:sp>
      <p:grpSp>
        <p:nvGrpSpPr>
          <p:cNvPr id="277" name="Google Shape;277;p24"/>
          <p:cNvGrpSpPr/>
          <p:nvPr/>
        </p:nvGrpSpPr>
        <p:grpSpPr>
          <a:xfrm>
            <a:off x="3" y="8941096"/>
            <a:ext cx="3498292" cy="1345904"/>
            <a:chOff x="9355875" y="3095472"/>
            <a:chExt cx="7344723" cy="2109898"/>
          </a:xfrm>
        </p:grpSpPr>
        <p:grpSp>
          <p:nvGrpSpPr>
            <p:cNvPr id="278" name="Google Shape;278;p24"/>
            <p:cNvGrpSpPr/>
            <p:nvPr/>
          </p:nvGrpSpPr>
          <p:grpSpPr>
            <a:xfrm>
              <a:off x="9355875" y="3095472"/>
              <a:ext cx="7344723" cy="2109898"/>
              <a:chOff x="3" y="-76198"/>
              <a:chExt cx="1934400" cy="555690"/>
            </a:xfrm>
          </p:grpSpPr>
          <p:sp>
            <p:nvSpPr>
              <p:cNvPr id="279" name="Google Shape;279;p24"/>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280" name="Google Shape;280;p24"/>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281" name="Google Shape;281;p24"/>
            <p:cNvGrpSpPr/>
            <p:nvPr/>
          </p:nvGrpSpPr>
          <p:grpSpPr>
            <a:xfrm>
              <a:off x="9846841" y="3934710"/>
              <a:ext cx="6362346" cy="981415"/>
              <a:chOff x="-28" y="-238745"/>
              <a:chExt cx="8483128" cy="1308553"/>
            </a:xfrm>
          </p:grpSpPr>
          <p:sp>
            <p:nvSpPr>
              <p:cNvPr id="282" name="Google Shape;282;p24"/>
              <p:cNvSpPr txBox="1"/>
              <p:nvPr/>
            </p:nvSpPr>
            <p:spPr>
              <a:xfrm>
                <a:off x="-28" y="-238745"/>
                <a:ext cx="8483100" cy="10212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Research</a:t>
                </a:r>
                <a:endParaRPr sz="1735"/>
              </a:p>
            </p:txBody>
          </p:sp>
          <p:sp>
            <p:nvSpPr>
              <p:cNvPr id="283" name="Google Shape;283;p24"/>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sp>
        <p:nvSpPr>
          <p:cNvPr id="284" name="Google Shape;284;p24"/>
          <p:cNvSpPr txBox="1"/>
          <p:nvPr/>
        </p:nvSpPr>
        <p:spPr>
          <a:xfrm>
            <a:off x="757125" y="6569800"/>
            <a:ext cx="8895000" cy="2182500"/>
          </a:xfrm>
          <a:prstGeom prst="rect">
            <a:avLst/>
          </a:prstGeom>
          <a:noFill/>
          <a:ln>
            <a:noFill/>
          </a:ln>
        </p:spPr>
        <p:txBody>
          <a:bodyPr anchorCtr="0" anchor="t" bIns="91425" lIns="91425" spcFirstLastPara="1" rIns="91425" wrap="square" tIns="91425">
            <a:spAutoFit/>
          </a:bodyPr>
          <a:lstStyle/>
          <a:p>
            <a:pPr indent="0" lvl="0" marL="0" marR="76200" rtl="0" algn="r">
              <a:lnSpc>
                <a:spcPct val="135000"/>
              </a:lnSpc>
              <a:spcBef>
                <a:spcPts val="0"/>
              </a:spcBef>
              <a:spcAft>
                <a:spcPts val="0"/>
              </a:spcAft>
              <a:buNone/>
            </a:pPr>
            <a:r>
              <a:rPr lang="en-US" sz="1100">
                <a:solidFill>
                  <a:srgbClr val="FFF2CC"/>
                </a:solidFill>
              </a:rPr>
              <a:t>[1]</a:t>
            </a:r>
            <a:endParaRPr sz="1100">
              <a:solidFill>
                <a:srgbClr val="FFF2CC"/>
              </a:solidFill>
            </a:endParaRPr>
          </a:p>
          <a:p>
            <a:pPr indent="0" lvl="0" marL="215900" marR="50800" rtl="0" algn="l">
              <a:lnSpc>
                <a:spcPct val="135000"/>
              </a:lnSpc>
              <a:spcBef>
                <a:spcPts val="0"/>
              </a:spcBef>
              <a:spcAft>
                <a:spcPts val="0"/>
              </a:spcAft>
              <a:buNone/>
            </a:pPr>
            <a:r>
              <a:rPr lang="en-US" sz="1100">
                <a:solidFill>
                  <a:srgbClr val="FFF2CC"/>
                </a:solidFill>
              </a:rPr>
              <a:t>W. L. T. T. N. Kumarasiri, M. K. J. C. Siriwardhana, S. A. D. S. L. Suraweera, A. N. Senarathne, and S. M. B. Harshanath. 2023. Cybersmish: A Proactive Approach for Smishing Detection and Prevention using Machine Learning. In </a:t>
            </a:r>
            <a:r>
              <a:rPr i="1" lang="en-US" sz="1100">
                <a:solidFill>
                  <a:srgbClr val="FFF2CC"/>
                </a:solidFill>
              </a:rPr>
              <a:t>2023 7th International Conference on I-SMAC (IoT in Social, Mobile, Analytics and Cloud) (I-SMAC)</a:t>
            </a:r>
            <a:r>
              <a:rPr lang="en-US" sz="1100">
                <a:solidFill>
                  <a:srgbClr val="FFF2CC"/>
                </a:solidFill>
              </a:rPr>
              <a:t>, October 2023. 210–217.</a:t>
            </a:r>
            <a:r>
              <a:rPr lang="en-US" sz="1100">
                <a:solidFill>
                  <a:srgbClr val="FFF2CC"/>
                </a:solidFill>
                <a:uFill>
                  <a:noFill/>
                </a:uFill>
                <a:hlinkClick r:id="rId3">
                  <a:extLst>
                    <a:ext uri="{A12FA001-AC4F-418D-AE19-62706E023703}">
                      <ahyp:hlinkClr val="tx"/>
                    </a:ext>
                  </a:extLst>
                </a:hlinkClick>
              </a:rPr>
              <a:t> </a:t>
            </a:r>
            <a:r>
              <a:rPr lang="en-US" sz="1100" u="sng">
                <a:solidFill>
                  <a:srgbClr val="FFF2CC"/>
                </a:solidFill>
                <a:hlinkClick r:id="rId4">
                  <a:extLst>
                    <a:ext uri="{A12FA001-AC4F-418D-AE19-62706E023703}">
                      <ahyp:hlinkClr val="tx"/>
                    </a:ext>
                  </a:extLst>
                </a:hlinkClick>
              </a:rPr>
              <a:t>https://doi.org/10.1109/I-SMAC58438.2023.10290228</a:t>
            </a:r>
            <a:endParaRPr sz="1100" u="sng">
              <a:solidFill>
                <a:srgbClr val="FFF2CC"/>
              </a:solidFill>
            </a:endParaRPr>
          </a:p>
          <a:p>
            <a:pPr indent="0" lvl="0" marL="215900" marR="50800" rtl="0" algn="l">
              <a:lnSpc>
                <a:spcPct val="135000"/>
              </a:lnSpc>
              <a:spcBef>
                <a:spcPts val="0"/>
              </a:spcBef>
              <a:spcAft>
                <a:spcPts val="0"/>
              </a:spcAft>
              <a:buNone/>
            </a:pPr>
            <a:r>
              <a:t/>
            </a:r>
            <a:endParaRPr sz="1100">
              <a:solidFill>
                <a:srgbClr val="FFF2CC"/>
              </a:solidFill>
            </a:endParaRPr>
          </a:p>
          <a:p>
            <a:pPr indent="0" lvl="0" marL="0" marR="76200" rtl="0" algn="r">
              <a:lnSpc>
                <a:spcPct val="135000"/>
              </a:lnSpc>
              <a:spcBef>
                <a:spcPts val="0"/>
              </a:spcBef>
              <a:spcAft>
                <a:spcPts val="0"/>
              </a:spcAft>
              <a:buNone/>
            </a:pPr>
            <a:r>
              <a:rPr lang="en-US" sz="1100">
                <a:solidFill>
                  <a:srgbClr val="FFF2CC"/>
                </a:solidFill>
              </a:rPr>
              <a:t>[2]</a:t>
            </a:r>
            <a:endParaRPr sz="1100">
              <a:solidFill>
                <a:srgbClr val="FFF2CC"/>
              </a:solidFill>
            </a:endParaRPr>
          </a:p>
          <a:p>
            <a:pPr indent="0" lvl="0" marL="215900" marR="50800" rtl="0" algn="l">
              <a:lnSpc>
                <a:spcPct val="135000"/>
              </a:lnSpc>
              <a:spcBef>
                <a:spcPts val="0"/>
              </a:spcBef>
              <a:spcAft>
                <a:spcPts val="0"/>
              </a:spcAft>
              <a:buNone/>
            </a:pPr>
            <a:r>
              <a:rPr lang="en-US" sz="1100">
                <a:solidFill>
                  <a:srgbClr val="FFF2CC"/>
                </a:solidFill>
              </a:rPr>
              <a:t>Gunikhan Sonowal and K S Kuppusamy. 2018. SmiDCA: An Anti-Smishing Model with Machine Learning Approach. </a:t>
            </a:r>
            <a:r>
              <a:rPr i="1" lang="en-US" sz="1100">
                <a:solidFill>
                  <a:srgbClr val="FFF2CC"/>
                </a:solidFill>
              </a:rPr>
              <a:t>Comput J</a:t>
            </a:r>
            <a:r>
              <a:rPr lang="en-US" sz="1100">
                <a:solidFill>
                  <a:srgbClr val="FFF2CC"/>
                </a:solidFill>
              </a:rPr>
              <a:t> 61, 8 (August 2018), 1143–1157.</a:t>
            </a:r>
            <a:r>
              <a:rPr lang="en-US" sz="1100">
                <a:solidFill>
                  <a:srgbClr val="FFF2CC"/>
                </a:solidFill>
                <a:uFill>
                  <a:noFill/>
                </a:uFill>
                <a:hlinkClick r:id="rId5">
                  <a:extLst>
                    <a:ext uri="{A12FA001-AC4F-418D-AE19-62706E023703}">
                      <ahyp:hlinkClr val="tx"/>
                    </a:ext>
                  </a:extLst>
                </a:hlinkClick>
              </a:rPr>
              <a:t> </a:t>
            </a:r>
            <a:r>
              <a:rPr lang="en-US" sz="1100" u="sng">
                <a:solidFill>
                  <a:srgbClr val="FFF2CC"/>
                </a:solidFill>
                <a:hlinkClick r:id="rId6">
                  <a:extLst>
                    <a:ext uri="{A12FA001-AC4F-418D-AE19-62706E023703}">
                      <ahyp:hlinkClr val="tx"/>
                    </a:ext>
                  </a:extLst>
                </a:hlinkClick>
              </a:rPr>
              <a:t>https://doi.org/10.1093/comjnl/bxy039</a:t>
            </a:r>
            <a:endParaRPr sz="1100" u="sng">
              <a:solidFill>
                <a:srgbClr val="FFF2CC"/>
              </a:solidFill>
            </a:endParaRPr>
          </a:p>
        </p:txBody>
      </p:sp>
      <p:pic>
        <p:nvPicPr>
          <p:cNvPr id="285" name="Google Shape;285;p24"/>
          <p:cNvPicPr preferRelativeResize="0"/>
          <p:nvPr/>
        </p:nvPicPr>
        <p:blipFill>
          <a:blip r:embed="rId7">
            <a:alphaModFix/>
          </a:blip>
          <a:stretch>
            <a:fillRect/>
          </a:stretch>
        </p:blipFill>
        <p:spPr>
          <a:xfrm>
            <a:off x="9880457" y="2820475"/>
            <a:ext cx="8184743" cy="4311050"/>
          </a:xfrm>
          <a:prstGeom prst="rect">
            <a:avLst/>
          </a:prstGeom>
          <a:noFill/>
          <a:ln>
            <a:noFill/>
          </a:ln>
        </p:spPr>
      </p:pic>
      <p:sp>
        <p:nvSpPr>
          <p:cNvPr id="286" name="Google Shape;286;p24"/>
          <p:cNvSpPr txBox="1"/>
          <p:nvPr/>
        </p:nvSpPr>
        <p:spPr>
          <a:xfrm>
            <a:off x="10733275" y="7672700"/>
            <a:ext cx="6990000" cy="1268400"/>
          </a:xfrm>
          <a:prstGeom prst="rect">
            <a:avLst/>
          </a:prstGeom>
          <a:noFill/>
          <a:ln>
            <a:noFill/>
          </a:ln>
        </p:spPr>
        <p:txBody>
          <a:bodyPr anchorCtr="0" anchor="t" bIns="91425" lIns="91425" spcFirstLastPara="1" rIns="91425" wrap="square" tIns="91425">
            <a:spAutoFit/>
          </a:bodyPr>
          <a:lstStyle/>
          <a:p>
            <a:pPr indent="0" lvl="0" marL="0" marR="50800" rtl="0" algn="l">
              <a:lnSpc>
                <a:spcPct val="135000"/>
              </a:lnSpc>
              <a:spcBef>
                <a:spcPts val="0"/>
              </a:spcBef>
              <a:spcAft>
                <a:spcPts val="0"/>
              </a:spcAft>
              <a:buNone/>
            </a:pPr>
            <a:r>
              <a:rPr lang="en-US" sz="1100">
                <a:solidFill>
                  <a:srgbClr val="FFF2CC"/>
                </a:solidFill>
              </a:rPr>
              <a:t>Image retrieved via: </a:t>
            </a:r>
            <a:r>
              <a:rPr lang="en-US" sz="1100">
                <a:solidFill>
                  <a:srgbClr val="FFF2CC"/>
                </a:solidFill>
              </a:rPr>
              <a:t>Seyed Mohammad Sanjari, Ashfak Md Shibli, Maraz Mia, Maanak Gupta, and Mir Mehedi Ahsan Pritom. 2025. SmishViz: Towards A Graph-based Visualization System for Monitoring and Characterizing Ongoing Smishing Threats. In </a:t>
            </a:r>
            <a:r>
              <a:rPr i="1" lang="en-US" sz="1100">
                <a:solidFill>
                  <a:srgbClr val="FFF2CC"/>
                </a:solidFill>
              </a:rPr>
              <a:t>Proceedings of the Fifteenth ACM Conference on Data and Application Security and Privacy</a:t>
            </a:r>
            <a:r>
              <a:rPr lang="en-US" sz="1100">
                <a:solidFill>
                  <a:srgbClr val="FFF2CC"/>
                </a:solidFill>
              </a:rPr>
              <a:t> (</a:t>
            </a:r>
            <a:r>
              <a:rPr i="1" lang="en-US" sz="1100">
                <a:solidFill>
                  <a:srgbClr val="FFF2CC"/>
                </a:solidFill>
              </a:rPr>
              <a:t>CODASPY ’25</a:t>
            </a:r>
            <a:r>
              <a:rPr lang="en-US" sz="1100">
                <a:solidFill>
                  <a:srgbClr val="FFF2CC"/>
                </a:solidFill>
              </a:rPr>
              <a:t>), June 04, 2025. Association for Computing Machinery, New York, NY, USA, 257–268.</a:t>
            </a:r>
            <a:r>
              <a:rPr lang="en-US" sz="1100">
                <a:solidFill>
                  <a:srgbClr val="FFF2CC"/>
                </a:solidFill>
                <a:uFill>
                  <a:noFill/>
                </a:uFill>
                <a:hlinkClick r:id="rId8">
                  <a:extLst>
                    <a:ext uri="{A12FA001-AC4F-418D-AE19-62706E023703}">
                      <ahyp:hlinkClr val="tx"/>
                    </a:ext>
                  </a:extLst>
                </a:hlinkClick>
              </a:rPr>
              <a:t> </a:t>
            </a:r>
            <a:r>
              <a:rPr lang="en-US" sz="1100" u="sng">
                <a:solidFill>
                  <a:srgbClr val="FFF2CC"/>
                </a:solidFill>
                <a:hlinkClick r:id="rId9">
                  <a:extLst>
                    <a:ext uri="{A12FA001-AC4F-418D-AE19-62706E023703}">
                      <ahyp:hlinkClr val="tx"/>
                    </a:ext>
                  </a:extLst>
                </a:hlinkClick>
              </a:rPr>
              <a:t>https://doi.org/10.1145/3714393.3726499</a:t>
            </a:r>
            <a:endParaRPr sz="1100" u="sng">
              <a:solidFill>
                <a:srgbClr val="FFF2CC"/>
              </a:solidFill>
            </a:endParaRPr>
          </a:p>
        </p:txBody>
      </p:sp>
      <p:sp>
        <p:nvSpPr>
          <p:cNvPr id="287" name="Google Shape;287;p24"/>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6" scaled="0"/>
        </a:gradFill>
      </p:bgPr>
    </p:bg>
    <p:spTree>
      <p:nvGrpSpPr>
        <p:cNvPr id="291" name="Shape 291"/>
        <p:cNvGrpSpPr/>
        <p:nvPr/>
      </p:nvGrpSpPr>
      <p:grpSpPr>
        <a:xfrm>
          <a:off x="0" y="0"/>
          <a:ext cx="0" cy="0"/>
          <a:chOff x="0" y="0"/>
          <a:chExt cx="0" cy="0"/>
        </a:xfrm>
      </p:grpSpPr>
      <p:sp>
        <p:nvSpPr>
          <p:cNvPr id="292" name="Google Shape;292;p25"/>
          <p:cNvSpPr txBox="1"/>
          <p:nvPr/>
        </p:nvSpPr>
        <p:spPr>
          <a:xfrm>
            <a:off x="1587787" y="1304162"/>
            <a:ext cx="15112500" cy="692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n-US" sz="4500">
                <a:solidFill>
                  <a:schemeClr val="lt1"/>
                </a:solidFill>
                <a:latin typeface="Calibri"/>
                <a:ea typeface="Calibri"/>
                <a:cs typeface="Calibri"/>
                <a:sym typeface="Calibri"/>
              </a:rPr>
              <a:t>RQ3</a:t>
            </a:r>
            <a:r>
              <a:rPr lang="en-US" sz="4500">
                <a:solidFill>
                  <a:schemeClr val="lt1"/>
                </a:solidFill>
                <a:latin typeface="Calibri"/>
                <a:ea typeface="Calibri"/>
                <a:cs typeface="Calibri"/>
                <a:sym typeface="Calibri"/>
              </a:rPr>
              <a:t>: What gaps exist in current smishing defenses?</a:t>
            </a:r>
            <a:endParaRPr sz="4500"/>
          </a:p>
        </p:txBody>
      </p:sp>
      <p:sp>
        <p:nvSpPr>
          <p:cNvPr id="293" name="Google Shape;293;p25"/>
          <p:cNvSpPr txBox="1"/>
          <p:nvPr/>
        </p:nvSpPr>
        <p:spPr>
          <a:xfrm>
            <a:off x="635050" y="2433825"/>
            <a:ext cx="16746300" cy="6507300"/>
          </a:xfrm>
          <a:prstGeom prst="rect">
            <a:avLst/>
          </a:prstGeom>
          <a:noFill/>
          <a:ln>
            <a:noFill/>
          </a:ln>
        </p:spPr>
        <p:txBody>
          <a:bodyPr anchorCtr="0" anchor="t" bIns="91425" lIns="91425" spcFirstLastPara="1" rIns="91425" wrap="square" tIns="91425">
            <a:noAutofit/>
          </a:bodyPr>
          <a:lstStyle/>
          <a:p>
            <a:pPr indent="-431800" lvl="0" marL="457200" rtl="0" algn="l">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Lack of laws specific to smishing</a:t>
            </a:r>
            <a:endParaRPr sz="3200">
              <a:solidFill>
                <a:schemeClr val="lt1"/>
              </a:solidFill>
              <a:latin typeface="Calibri"/>
              <a:ea typeface="Calibri"/>
              <a:cs typeface="Calibri"/>
              <a:sym typeface="Calibri"/>
            </a:endParaRPr>
          </a:p>
          <a:p>
            <a:pPr indent="0" lvl="0" marL="0" rtl="0" algn="l">
              <a:lnSpc>
                <a:spcPct val="115000"/>
              </a:lnSpc>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The machine learning issue</a:t>
            </a:r>
            <a:endParaRPr sz="3200">
              <a:solidFill>
                <a:schemeClr val="lt1"/>
              </a:solidFill>
              <a:latin typeface="Calibri"/>
              <a:ea typeface="Calibri"/>
              <a:cs typeface="Calibri"/>
              <a:sym typeface="Calibri"/>
            </a:endParaRPr>
          </a:p>
          <a:p>
            <a:pPr indent="0" lvl="0" marL="0" rtl="0" algn="l">
              <a:lnSpc>
                <a:spcPct val="115000"/>
              </a:lnSpc>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Lack of psychological research</a:t>
            </a:r>
            <a:endParaRPr sz="3200">
              <a:solidFill>
                <a:schemeClr val="lt1"/>
              </a:solidFill>
              <a:latin typeface="Calibri"/>
              <a:ea typeface="Calibri"/>
              <a:cs typeface="Calibri"/>
              <a:sym typeface="Calibri"/>
            </a:endParaRPr>
          </a:p>
          <a:p>
            <a:pPr indent="0" lvl="0" marL="0" rtl="0" algn="l">
              <a:lnSpc>
                <a:spcPct val="115000"/>
              </a:lnSpc>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Ecosystem level phishing defenses</a:t>
            </a:r>
            <a:endParaRPr sz="3200">
              <a:solidFill>
                <a:schemeClr val="lt1"/>
              </a:solidFill>
              <a:latin typeface="Calibri"/>
              <a:ea typeface="Calibri"/>
              <a:cs typeface="Calibri"/>
              <a:sym typeface="Calibri"/>
            </a:endParaRPr>
          </a:p>
          <a:p>
            <a:pPr indent="0" lvl="0" marL="0" rtl="0" algn="l">
              <a:lnSpc>
                <a:spcPct val="115000"/>
              </a:lnSpc>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Reporting and user support failures</a:t>
            </a:r>
            <a:endParaRPr sz="3200">
              <a:solidFill>
                <a:schemeClr val="lt1"/>
              </a:solidFill>
              <a:latin typeface="Calibri"/>
              <a:ea typeface="Calibri"/>
              <a:cs typeface="Calibri"/>
              <a:sym typeface="Calibri"/>
            </a:endParaRPr>
          </a:p>
        </p:txBody>
      </p:sp>
      <p:grpSp>
        <p:nvGrpSpPr>
          <p:cNvPr id="294" name="Google Shape;294;p25"/>
          <p:cNvGrpSpPr/>
          <p:nvPr/>
        </p:nvGrpSpPr>
        <p:grpSpPr>
          <a:xfrm>
            <a:off x="3" y="8941096"/>
            <a:ext cx="3498292" cy="1345904"/>
            <a:chOff x="9355875" y="3095472"/>
            <a:chExt cx="7344723" cy="2109898"/>
          </a:xfrm>
        </p:grpSpPr>
        <p:grpSp>
          <p:nvGrpSpPr>
            <p:cNvPr id="295" name="Google Shape;295;p25"/>
            <p:cNvGrpSpPr/>
            <p:nvPr/>
          </p:nvGrpSpPr>
          <p:grpSpPr>
            <a:xfrm>
              <a:off x="9355875" y="3095472"/>
              <a:ext cx="7344723" cy="2109898"/>
              <a:chOff x="3" y="-76198"/>
              <a:chExt cx="1934400" cy="555690"/>
            </a:xfrm>
          </p:grpSpPr>
          <p:sp>
            <p:nvSpPr>
              <p:cNvPr id="296" name="Google Shape;296;p25"/>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297" name="Google Shape;297;p25"/>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298" name="Google Shape;298;p25"/>
            <p:cNvGrpSpPr/>
            <p:nvPr/>
          </p:nvGrpSpPr>
          <p:grpSpPr>
            <a:xfrm>
              <a:off x="9846841" y="3934710"/>
              <a:ext cx="6362346" cy="981415"/>
              <a:chOff x="-28" y="-238745"/>
              <a:chExt cx="8483128" cy="1308553"/>
            </a:xfrm>
          </p:grpSpPr>
          <p:sp>
            <p:nvSpPr>
              <p:cNvPr id="299" name="Google Shape;299;p25"/>
              <p:cNvSpPr txBox="1"/>
              <p:nvPr/>
            </p:nvSpPr>
            <p:spPr>
              <a:xfrm>
                <a:off x="-28" y="-238745"/>
                <a:ext cx="8483100" cy="10212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Research</a:t>
                </a:r>
                <a:endParaRPr sz="1735"/>
              </a:p>
            </p:txBody>
          </p:sp>
          <p:sp>
            <p:nvSpPr>
              <p:cNvPr id="300" name="Google Shape;300;p25"/>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sp>
        <p:nvSpPr>
          <p:cNvPr id="301" name="Google Shape;301;p25"/>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
        <p:nvSpPr>
          <p:cNvPr id="302" name="Google Shape;302;p25"/>
          <p:cNvSpPr txBox="1"/>
          <p:nvPr/>
        </p:nvSpPr>
        <p:spPr>
          <a:xfrm>
            <a:off x="4264875" y="9255875"/>
            <a:ext cx="110130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rgbClr val="FFF2CC"/>
                </a:solidFill>
              </a:rPr>
              <a:t>Synthesized by the author’s (Brian Mellinger) working literature review “The Evolution of SMiShing: A Literature Review of Coordinated THreats, Psychological Triggers, and Multi-Domain Defense Strategies</a:t>
            </a:r>
            <a:endParaRPr sz="1100">
              <a:solidFill>
                <a:srgbClr val="FFF2CC"/>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6" scaled="0"/>
        </a:gradFill>
      </p:bgPr>
    </p:bg>
    <p:spTree>
      <p:nvGrpSpPr>
        <p:cNvPr id="306" name="Shape 306"/>
        <p:cNvGrpSpPr/>
        <p:nvPr/>
      </p:nvGrpSpPr>
      <p:grpSpPr>
        <a:xfrm>
          <a:off x="0" y="0"/>
          <a:ext cx="0" cy="0"/>
          <a:chOff x="0" y="0"/>
          <a:chExt cx="0" cy="0"/>
        </a:xfrm>
      </p:grpSpPr>
      <p:sp>
        <p:nvSpPr>
          <p:cNvPr id="307" name="Google Shape;307;p26"/>
          <p:cNvSpPr txBox="1"/>
          <p:nvPr/>
        </p:nvSpPr>
        <p:spPr>
          <a:xfrm>
            <a:off x="1587787" y="1304162"/>
            <a:ext cx="15112500" cy="692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n-US" sz="4500">
                <a:solidFill>
                  <a:schemeClr val="lt1"/>
                </a:solidFill>
                <a:latin typeface="Calibri"/>
                <a:ea typeface="Calibri"/>
                <a:cs typeface="Calibri"/>
                <a:sym typeface="Calibri"/>
              </a:rPr>
              <a:t>RQ3: What gaps exist in current smishing defenses?</a:t>
            </a:r>
            <a:endParaRPr sz="4500"/>
          </a:p>
        </p:txBody>
      </p:sp>
      <p:sp>
        <p:nvSpPr>
          <p:cNvPr id="308" name="Google Shape;308;p26"/>
          <p:cNvSpPr txBox="1"/>
          <p:nvPr/>
        </p:nvSpPr>
        <p:spPr>
          <a:xfrm>
            <a:off x="635050" y="2433825"/>
            <a:ext cx="16746300" cy="6507300"/>
          </a:xfrm>
          <a:prstGeom prst="rect">
            <a:avLst/>
          </a:prstGeom>
          <a:noFill/>
          <a:ln>
            <a:noFill/>
          </a:ln>
        </p:spPr>
        <p:txBody>
          <a:bodyPr anchorCtr="0" anchor="t" bIns="91425" lIns="91425" spcFirstLastPara="1" rIns="91425" wrap="square" tIns="91425">
            <a:noAutofit/>
          </a:bodyPr>
          <a:lstStyle/>
          <a:p>
            <a:pPr indent="-431800" lvl="0" marL="457200" rtl="0" algn="l">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Lack of laws specific to smishing</a:t>
            </a:r>
            <a:endParaRPr sz="3200">
              <a:solidFill>
                <a:schemeClr val="lt1"/>
              </a:solidFill>
              <a:latin typeface="Calibri"/>
              <a:ea typeface="Calibri"/>
              <a:cs typeface="Calibri"/>
              <a:sym typeface="Calibri"/>
            </a:endParaRPr>
          </a:p>
          <a:p>
            <a:pPr indent="0" lvl="0" marL="0" rtl="0" algn="l">
              <a:lnSpc>
                <a:spcPct val="115000"/>
              </a:lnSpc>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The machine learning issue</a:t>
            </a:r>
            <a:endParaRPr sz="3200">
              <a:solidFill>
                <a:schemeClr val="lt1"/>
              </a:solidFill>
              <a:latin typeface="Calibri"/>
              <a:ea typeface="Calibri"/>
              <a:cs typeface="Calibri"/>
              <a:sym typeface="Calibri"/>
            </a:endParaRPr>
          </a:p>
          <a:p>
            <a:pPr indent="0" lvl="0" marL="0" rtl="0" algn="l">
              <a:lnSpc>
                <a:spcPct val="115000"/>
              </a:lnSpc>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Lack of psychological research</a:t>
            </a:r>
            <a:endParaRPr sz="3200">
              <a:solidFill>
                <a:schemeClr val="lt1"/>
              </a:solidFill>
              <a:latin typeface="Calibri"/>
              <a:ea typeface="Calibri"/>
              <a:cs typeface="Calibri"/>
              <a:sym typeface="Calibri"/>
            </a:endParaRPr>
          </a:p>
          <a:p>
            <a:pPr indent="0" lvl="0" marL="0" rtl="0" algn="l">
              <a:lnSpc>
                <a:spcPct val="115000"/>
              </a:lnSpc>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Ecosystem level phishing defenses</a:t>
            </a:r>
            <a:endParaRPr sz="3200">
              <a:solidFill>
                <a:schemeClr val="lt1"/>
              </a:solidFill>
              <a:latin typeface="Calibri"/>
              <a:ea typeface="Calibri"/>
              <a:cs typeface="Calibri"/>
              <a:sym typeface="Calibri"/>
            </a:endParaRPr>
          </a:p>
          <a:p>
            <a:pPr indent="0" lvl="0" marL="0" rtl="0" algn="l">
              <a:lnSpc>
                <a:spcPct val="115000"/>
              </a:lnSpc>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lnSpc>
                <a:spcPct val="115000"/>
              </a:lnSpc>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Reporting and user support failures</a:t>
            </a:r>
            <a:endParaRPr sz="3200">
              <a:solidFill>
                <a:schemeClr val="lt1"/>
              </a:solidFill>
              <a:latin typeface="Calibri"/>
              <a:ea typeface="Calibri"/>
              <a:cs typeface="Calibri"/>
              <a:sym typeface="Calibri"/>
            </a:endParaRPr>
          </a:p>
        </p:txBody>
      </p:sp>
      <p:grpSp>
        <p:nvGrpSpPr>
          <p:cNvPr id="309" name="Google Shape;309;p26"/>
          <p:cNvGrpSpPr/>
          <p:nvPr/>
        </p:nvGrpSpPr>
        <p:grpSpPr>
          <a:xfrm>
            <a:off x="3" y="8941096"/>
            <a:ext cx="3498292" cy="1345904"/>
            <a:chOff x="9355875" y="3095472"/>
            <a:chExt cx="7344723" cy="2109898"/>
          </a:xfrm>
        </p:grpSpPr>
        <p:grpSp>
          <p:nvGrpSpPr>
            <p:cNvPr id="310" name="Google Shape;310;p26"/>
            <p:cNvGrpSpPr/>
            <p:nvPr/>
          </p:nvGrpSpPr>
          <p:grpSpPr>
            <a:xfrm>
              <a:off x="9355875" y="3095472"/>
              <a:ext cx="7344723" cy="2109898"/>
              <a:chOff x="3" y="-76198"/>
              <a:chExt cx="1934400" cy="555690"/>
            </a:xfrm>
          </p:grpSpPr>
          <p:sp>
            <p:nvSpPr>
              <p:cNvPr id="311" name="Google Shape;311;p26"/>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312" name="Google Shape;312;p26"/>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313" name="Google Shape;313;p26"/>
            <p:cNvGrpSpPr/>
            <p:nvPr/>
          </p:nvGrpSpPr>
          <p:grpSpPr>
            <a:xfrm>
              <a:off x="9846841" y="3934710"/>
              <a:ext cx="6362346" cy="981415"/>
              <a:chOff x="-28" y="-238745"/>
              <a:chExt cx="8483128" cy="1308553"/>
            </a:xfrm>
          </p:grpSpPr>
          <p:sp>
            <p:nvSpPr>
              <p:cNvPr id="314" name="Google Shape;314;p26"/>
              <p:cNvSpPr txBox="1"/>
              <p:nvPr/>
            </p:nvSpPr>
            <p:spPr>
              <a:xfrm>
                <a:off x="-28" y="-238745"/>
                <a:ext cx="8483100" cy="10212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Research</a:t>
                </a:r>
                <a:endParaRPr sz="1735"/>
              </a:p>
            </p:txBody>
          </p:sp>
          <p:sp>
            <p:nvSpPr>
              <p:cNvPr id="315" name="Google Shape;315;p26"/>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sp>
        <p:nvSpPr>
          <p:cNvPr id="316" name="Google Shape;316;p26"/>
          <p:cNvSpPr txBox="1"/>
          <p:nvPr/>
        </p:nvSpPr>
        <p:spPr>
          <a:xfrm>
            <a:off x="7209700" y="1421435"/>
            <a:ext cx="11234700" cy="569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00">
                <a:solidFill>
                  <a:schemeClr val="lt1"/>
                </a:solidFill>
                <a:latin typeface="Calibri"/>
                <a:ea typeface="Calibri"/>
                <a:cs typeface="Calibri"/>
                <a:sym typeface="Calibri"/>
              </a:rPr>
              <a:t>7726</a:t>
            </a:r>
            <a:endParaRPr b="1" sz="40000">
              <a:solidFill>
                <a:schemeClr val="lt1"/>
              </a:solidFill>
              <a:latin typeface="Calibri"/>
              <a:ea typeface="Calibri"/>
              <a:cs typeface="Calibri"/>
              <a:sym typeface="Calibri"/>
            </a:endParaRPr>
          </a:p>
        </p:txBody>
      </p:sp>
      <p:sp>
        <p:nvSpPr>
          <p:cNvPr id="317" name="Google Shape;317;p26"/>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
        <p:nvSpPr>
          <p:cNvPr id="318" name="Google Shape;318;p26"/>
          <p:cNvSpPr txBox="1"/>
          <p:nvPr/>
        </p:nvSpPr>
        <p:spPr>
          <a:xfrm>
            <a:off x="4264875" y="9255875"/>
            <a:ext cx="110130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rgbClr val="FFF2CC"/>
                </a:solidFill>
              </a:rPr>
              <a:t>Synthesized by the author’s (Brian Mellinger) working literature review “The Evolution of SMiShing: A Literature Review of Coordinated THreats, Psychological Triggers, and Multi-Domain Defense Strategies</a:t>
            </a:r>
            <a:endParaRPr sz="1100">
              <a:solidFill>
                <a:srgbClr val="FFF2CC"/>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6" scaled="0"/>
        </a:gradFill>
      </p:bgPr>
    </p:bg>
    <p:spTree>
      <p:nvGrpSpPr>
        <p:cNvPr id="322" name="Shape 322"/>
        <p:cNvGrpSpPr/>
        <p:nvPr/>
      </p:nvGrpSpPr>
      <p:grpSpPr>
        <a:xfrm>
          <a:off x="0" y="0"/>
          <a:ext cx="0" cy="0"/>
          <a:chOff x="0" y="0"/>
          <a:chExt cx="0" cy="0"/>
        </a:xfrm>
      </p:grpSpPr>
      <p:grpSp>
        <p:nvGrpSpPr>
          <p:cNvPr id="323" name="Google Shape;323;p27"/>
          <p:cNvGrpSpPr/>
          <p:nvPr/>
        </p:nvGrpSpPr>
        <p:grpSpPr>
          <a:xfrm>
            <a:off x="3" y="8941096"/>
            <a:ext cx="3498292" cy="1345904"/>
            <a:chOff x="9355875" y="3095472"/>
            <a:chExt cx="7344723" cy="2109898"/>
          </a:xfrm>
        </p:grpSpPr>
        <p:grpSp>
          <p:nvGrpSpPr>
            <p:cNvPr id="324" name="Google Shape;324;p27"/>
            <p:cNvGrpSpPr/>
            <p:nvPr/>
          </p:nvGrpSpPr>
          <p:grpSpPr>
            <a:xfrm>
              <a:off x="9355875" y="3095472"/>
              <a:ext cx="7344723" cy="2109898"/>
              <a:chOff x="3" y="-76198"/>
              <a:chExt cx="1934400" cy="555690"/>
            </a:xfrm>
          </p:grpSpPr>
          <p:sp>
            <p:nvSpPr>
              <p:cNvPr id="325" name="Google Shape;325;p27"/>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326" name="Google Shape;326;p27"/>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327" name="Google Shape;327;p27"/>
            <p:cNvGrpSpPr/>
            <p:nvPr/>
          </p:nvGrpSpPr>
          <p:grpSpPr>
            <a:xfrm>
              <a:off x="9846862" y="3934727"/>
              <a:ext cx="6362325" cy="981398"/>
              <a:chOff x="0" y="-238723"/>
              <a:chExt cx="8483100" cy="1308531"/>
            </a:xfrm>
          </p:grpSpPr>
          <p:sp>
            <p:nvSpPr>
              <p:cNvPr id="328" name="Google Shape;328;p27"/>
              <p:cNvSpPr txBox="1"/>
              <p:nvPr/>
            </p:nvSpPr>
            <p:spPr>
              <a:xfrm>
                <a:off x="0" y="-238723"/>
                <a:ext cx="8483100" cy="6564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Conclusion</a:t>
                </a:r>
                <a:endParaRPr sz="1735"/>
              </a:p>
            </p:txBody>
          </p:sp>
          <p:sp>
            <p:nvSpPr>
              <p:cNvPr id="329" name="Google Shape;329;p27"/>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sp>
        <p:nvSpPr>
          <p:cNvPr id="330" name="Google Shape;330;p27"/>
          <p:cNvSpPr txBox="1"/>
          <p:nvPr/>
        </p:nvSpPr>
        <p:spPr>
          <a:xfrm>
            <a:off x="1587787" y="1304162"/>
            <a:ext cx="15112500" cy="1000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6500">
                <a:solidFill>
                  <a:srgbClr val="FFFFFF"/>
                </a:solidFill>
              </a:rPr>
              <a:t>Discussion/Key Takeaways</a:t>
            </a:r>
            <a:endParaRPr/>
          </a:p>
        </p:txBody>
      </p:sp>
      <p:sp>
        <p:nvSpPr>
          <p:cNvPr id="331" name="Google Shape;331;p27"/>
          <p:cNvSpPr txBox="1"/>
          <p:nvPr/>
        </p:nvSpPr>
        <p:spPr>
          <a:xfrm>
            <a:off x="770850" y="2537400"/>
            <a:ext cx="16746300" cy="7002900"/>
          </a:xfrm>
          <a:prstGeom prst="rect">
            <a:avLst/>
          </a:prstGeom>
          <a:noFill/>
          <a:ln>
            <a:noFill/>
          </a:ln>
        </p:spPr>
        <p:txBody>
          <a:bodyPr anchorCtr="0" anchor="t" bIns="91425" lIns="91425" spcFirstLastPara="1" rIns="91425" wrap="square" tIns="91425">
            <a:noAutofit/>
          </a:bodyPr>
          <a:lstStyle/>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Smishing campaigns</a:t>
            </a:r>
            <a:endParaRPr sz="3200">
              <a:solidFill>
                <a:schemeClr val="lt1"/>
              </a:solidFill>
              <a:latin typeface="Calibri"/>
              <a:ea typeface="Calibri"/>
              <a:cs typeface="Calibri"/>
              <a:sym typeface="Calibri"/>
            </a:endParaRPr>
          </a:p>
          <a:p>
            <a:pPr indent="-431800" lvl="2" marL="13716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organized/professional</a:t>
            </a:r>
            <a:endParaRPr sz="3200">
              <a:solidFill>
                <a:schemeClr val="lt1"/>
              </a:solidFill>
              <a:latin typeface="Calibri"/>
              <a:ea typeface="Calibri"/>
              <a:cs typeface="Calibri"/>
              <a:sym typeface="Calibri"/>
            </a:endParaRPr>
          </a:p>
          <a:p>
            <a:pPr indent="-431800" lvl="2" marL="13716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Not opportunistic or rudimentary</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Current understanding</a:t>
            </a:r>
            <a:endParaRPr sz="3200">
              <a:solidFill>
                <a:schemeClr val="lt1"/>
              </a:solidFill>
              <a:latin typeface="Calibri"/>
              <a:ea typeface="Calibri"/>
              <a:cs typeface="Calibri"/>
              <a:sym typeface="Calibri"/>
            </a:endParaRPr>
          </a:p>
          <a:p>
            <a:pPr indent="-431800" lvl="2" marL="13716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Human behavior is the weapon</a:t>
            </a:r>
            <a:endParaRPr sz="3200">
              <a:solidFill>
                <a:schemeClr val="lt1"/>
              </a:solidFill>
              <a:latin typeface="Calibri"/>
              <a:ea typeface="Calibri"/>
              <a:cs typeface="Calibri"/>
              <a:sym typeface="Calibri"/>
            </a:endParaRPr>
          </a:p>
          <a:p>
            <a:pPr indent="-431800" lvl="2" marL="13716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Reframing the issue</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The new approach</a:t>
            </a:r>
            <a:endParaRPr sz="3200">
              <a:solidFill>
                <a:schemeClr val="lt1"/>
              </a:solidFill>
              <a:latin typeface="Calibri"/>
              <a:ea typeface="Calibri"/>
              <a:cs typeface="Calibri"/>
              <a:sym typeface="Calibri"/>
            </a:endParaRPr>
          </a:p>
          <a:p>
            <a:pPr indent="-431800" lvl="2" marL="13716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Machine learning success</a:t>
            </a:r>
            <a:endParaRPr sz="3200">
              <a:solidFill>
                <a:schemeClr val="lt1"/>
              </a:solidFill>
              <a:latin typeface="Calibri"/>
              <a:ea typeface="Calibri"/>
              <a:cs typeface="Calibri"/>
              <a:sym typeface="Calibri"/>
            </a:endParaRPr>
          </a:p>
          <a:p>
            <a:pPr indent="-431800" lvl="2" marL="13716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Limitations and environment testing</a:t>
            </a:r>
            <a:endParaRPr sz="3200">
              <a:solidFill>
                <a:schemeClr val="lt1"/>
              </a:solidFill>
              <a:latin typeface="Calibri"/>
              <a:ea typeface="Calibri"/>
              <a:cs typeface="Calibri"/>
              <a:sym typeface="Calibri"/>
            </a:endParaRPr>
          </a:p>
        </p:txBody>
      </p:sp>
      <p:pic>
        <p:nvPicPr>
          <p:cNvPr id="332" name="Google Shape;332;p27"/>
          <p:cNvPicPr preferRelativeResize="0"/>
          <p:nvPr/>
        </p:nvPicPr>
        <p:blipFill>
          <a:blip r:embed="rId3">
            <a:alphaModFix/>
          </a:blip>
          <a:stretch>
            <a:fillRect/>
          </a:stretch>
        </p:blipFill>
        <p:spPr>
          <a:xfrm>
            <a:off x="9603150" y="3429000"/>
            <a:ext cx="7380649" cy="4154249"/>
          </a:xfrm>
          <a:prstGeom prst="rect">
            <a:avLst/>
          </a:prstGeom>
          <a:noFill/>
          <a:ln>
            <a:noFill/>
          </a:ln>
        </p:spPr>
      </p:pic>
      <p:sp>
        <p:nvSpPr>
          <p:cNvPr id="333" name="Google Shape;333;p27"/>
          <p:cNvSpPr txBox="1"/>
          <p:nvPr/>
        </p:nvSpPr>
        <p:spPr>
          <a:xfrm>
            <a:off x="9964625" y="7790975"/>
            <a:ext cx="6477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FFF2CC"/>
                </a:solidFill>
              </a:rPr>
              <a:t>Image via: </a:t>
            </a:r>
            <a:r>
              <a:rPr lang="en-US">
                <a:solidFill>
                  <a:srgbClr val="FFF2CC"/>
                </a:solidFill>
              </a:rPr>
              <a:t>https://afwh12.medium.com/are-computer-science-and-psychology-substantially-connected-8a7814477bea</a:t>
            </a:r>
            <a:endParaRPr>
              <a:solidFill>
                <a:srgbClr val="FFF2CC"/>
              </a:solidFill>
            </a:endParaRPr>
          </a:p>
        </p:txBody>
      </p:sp>
      <p:sp>
        <p:nvSpPr>
          <p:cNvPr id="334" name="Google Shape;334;p27"/>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6" scaled="0"/>
        </a:gradFill>
      </p:bgPr>
    </p:bg>
    <p:spTree>
      <p:nvGrpSpPr>
        <p:cNvPr id="338" name="Shape 338"/>
        <p:cNvGrpSpPr/>
        <p:nvPr/>
      </p:nvGrpSpPr>
      <p:grpSpPr>
        <a:xfrm>
          <a:off x="0" y="0"/>
          <a:ext cx="0" cy="0"/>
          <a:chOff x="0" y="0"/>
          <a:chExt cx="0" cy="0"/>
        </a:xfrm>
      </p:grpSpPr>
      <p:sp>
        <p:nvSpPr>
          <p:cNvPr id="339" name="Google Shape;339;p28"/>
          <p:cNvSpPr txBox="1"/>
          <p:nvPr/>
        </p:nvSpPr>
        <p:spPr>
          <a:xfrm>
            <a:off x="1587787" y="1304162"/>
            <a:ext cx="15112500" cy="1000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6500">
                <a:solidFill>
                  <a:srgbClr val="FFFFFF"/>
                </a:solidFill>
              </a:rPr>
              <a:t>F</a:t>
            </a:r>
            <a:r>
              <a:rPr lang="en-US" sz="6500">
                <a:solidFill>
                  <a:srgbClr val="FFFFFF"/>
                </a:solidFill>
              </a:rPr>
              <a:t>uture Research</a:t>
            </a:r>
            <a:endParaRPr/>
          </a:p>
        </p:txBody>
      </p:sp>
      <p:sp>
        <p:nvSpPr>
          <p:cNvPr id="340" name="Google Shape;340;p28"/>
          <p:cNvSpPr txBox="1"/>
          <p:nvPr/>
        </p:nvSpPr>
        <p:spPr>
          <a:xfrm>
            <a:off x="635050" y="2531525"/>
            <a:ext cx="16746300" cy="7002900"/>
          </a:xfrm>
          <a:prstGeom prst="rect">
            <a:avLst/>
          </a:prstGeom>
          <a:noFill/>
          <a:ln>
            <a:noFill/>
          </a:ln>
        </p:spPr>
        <p:txBody>
          <a:bodyPr anchorCtr="0" anchor="t" bIns="91425" lIns="91425" spcFirstLastPara="1" rIns="91425" wrap="square" tIns="91425">
            <a:noAutofit/>
          </a:bodyPr>
          <a:lstStyle/>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Reformed understanding of smishing</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Psychological issue</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mass cybercrime enterprise</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Interdisciplinary research</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Psychology/education researchers</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Combined research</a:t>
            </a:r>
            <a:endParaRPr sz="32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lt1"/>
              </a:solidFill>
              <a:latin typeface="Calibri"/>
              <a:ea typeface="Calibri"/>
              <a:cs typeface="Calibri"/>
              <a:sym typeface="Calibri"/>
            </a:endParaRPr>
          </a:p>
          <a:p>
            <a:pPr indent="-431800" lvl="0" marL="4572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long standing studies</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collection of smishing messages</a:t>
            </a:r>
            <a:endParaRPr sz="3200">
              <a:solidFill>
                <a:schemeClr val="lt1"/>
              </a:solidFill>
              <a:latin typeface="Calibri"/>
              <a:ea typeface="Calibri"/>
              <a:cs typeface="Calibri"/>
              <a:sym typeface="Calibri"/>
            </a:endParaRPr>
          </a:p>
          <a:p>
            <a:pPr indent="-431800" lvl="1" marL="914400" rtl="0" algn="l">
              <a:spcBef>
                <a:spcPts val="0"/>
              </a:spcBef>
              <a:spcAft>
                <a:spcPts val="0"/>
              </a:spcAft>
              <a:buClr>
                <a:schemeClr val="lt1"/>
              </a:buClr>
              <a:buSzPts val="3200"/>
              <a:buFont typeface="Calibri"/>
              <a:buChar char="○"/>
            </a:pPr>
            <a:r>
              <a:rPr lang="en-US" sz="3200">
                <a:solidFill>
                  <a:schemeClr val="lt1"/>
                </a:solidFill>
                <a:latin typeface="Calibri"/>
                <a:ea typeface="Calibri"/>
                <a:cs typeface="Calibri"/>
                <a:sym typeface="Calibri"/>
              </a:rPr>
              <a:t>lasting machine learning solution</a:t>
            </a:r>
            <a:endParaRPr sz="3200">
              <a:solidFill>
                <a:schemeClr val="lt1"/>
              </a:solidFill>
              <a:latin typeface="Calibri"/>
              <a:ea typeface="Calibri"/>
              <a:cs typeface="Calibri"/>
              <a:sym typeface="Calibri"/>
            </a:endParaRPr>
          </a:p>
        </p:txBody>
      </p:sp>
      <p:grpSp>
        <p:nvGrpSpPr>
          <p:cNvPr id="341" name="Google Shape;341;p28"/>
          <p:cNvGrpSpPr/>
          <p:nvPr/>
        </p:nvGrpSpPr>
        <p:grpSpPr>
          <a:xfrm>
            <a:off x="3" y="8941096"/>
            <a:ext cx="3498292" cy="1345904"/>
            <a:chOff x="9355875" y="3095472"/>
            <a:chExt cx="7344723" cy="2109898"/>
          </a:xfrm>
        </p:grpSpPr>
        <p:grpSp>
          <p:nvGrpSpPr>
            <p:cNvPr id="342" name="Google Shape;342;p28"/>
            <p:cNvGrpSpPr/>
            <p:nvPr/>
          </p:nvGrpSpPr>
          <p:grpSpPr>
            <a:xfrm>
              <a:off x="9355875" y="3095472"/>
              <a:ext cx="7344723" cy="2109898"/>
              <a:chOff x="3" y="-76198"/>
              <a:chExt cx="1934400" cy="555690"/>
            </a:xfrm>
          </p:grpSpPr>
          <p:sp>
            <p:nvSpPr>
              <p:cNvPr id="343" name="Google Shape;343;p28"/>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344" name="Google Shape;344;p28"/>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345" name="Google Shape;345;p28"/>
            <p:cNvGrpSpPr/>
            <p:nvPr/>
          </p:nvGrpSpPr>
          <p:grpSpPr>
            <a:xfrm>
              <a:off x="9846841" y="3934710"/>
              <a:ext cx="6362346" cy="981415"/>
              <a:chOff x="-28" y="-238745"/>
              <a:chExt cx="8483128" cy="1308553"/>
            </a:xfrm>
          </p:grpSpPr>
          <p:sp>
            <p:nvSpPr>
              <p:cNvPr id="346" name="Google Shape;346;p28"/>
              <p:cNvSpPr txBox="1"/>
              <p:nvPr/>
            </p:nvSpPr>
            <p:spPr>
              <a:xfrm>
                <a:off x="-28" y="-238745"/>
                <a:ext cx="8483100" cy="10212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Conclusion</a:t>
                </a:r>
                <a:endParaRPr sz="1735"/>
              </a:p>
            </p:txBody>
          </p:sp>
          <p:sp>
            <p:nvSpPr>
              <p:cNvPr id="347" name="Google Shape;347;p28"/>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pic>
        <p:nvPicPr>
          <p:cNvPr id="348" name="Google Shape;348;p28"/>
          <p:cNvPicPr preferRelativeResize="0"/>
          <p:nvPr/>
        </p:nvPicPr>
        <p:blipFill>
          <a:blip r:embed="rId3">
            <a:alphaModFix/>
          </a:blip>
          <a:stretch>
            <a:fillRect/>
          </a:stretch>
        </p:blipFill>
        <p:spPr>
          <a:xfrm>
            <a:off x="8142100" y="3559675"/>
            <a:ext cx="9239250" cy="4095750"/>
          </a:xfrm>
          <a:prstGeom prst="rect">
            <a:avLst/>
          </a:prstGeom>
          <a:noFill/>
          <a:ln>
            <a:noFill/>
          </a:ln>
        </p:spPr>
      </p:pic>
      <p:sp>
        <p:nvSpPr>
          <p:cNvPr id="349" name="Google Shape;349;p28"/>
          <p:cNvSpPr txBox="1"/>
          <p:nvPr/>
        </p:nvSpPr>
        <p:spPr>
          <a:xfrm>
            <a:off x="9402875" y="7888650"/>
            <a:ext cx="691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FFF2CC"/>
                </a:solidFill>
              </a:rPr>
              <a:t>Image via: </a:t>
            </a:r>
            <a:r>
              <a:rPr lang="en-US">
                <a:solidFill>
                  <a:srgbClr val="FFF2CC"/>
                </a:solidFill>
              </a:rPr>
              <a:t>https://home.sophos.com/en-us/security-news/2021/smishing</a:t>
            </a:r>
            <a:endParaRPr>
              <a:solidFill>
                <a:srgbClr val="FFF2CC"/>
              </a:solidFill>
            </a:endParaRPr>
          </a:p>
        </p:txBody>
      </p:sp>
      <p:sp>
        <p:nvSpPr>
          <p:cNvPr id="350" name="Google Shape;350;p28"/>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70908"/>
            </a:gs>
            <a:gs pos="50000">
              <a:srgbClr val="29464A"/>
            </a:gs>
            <a:gs pos="100000">
              <a:srgbClr val="6D8080"/>
            </a:gs>
          </a:gsLst>
          <a:lin ang="2700006" scaled="0"/>
        </a:gradFill>
      </p:bgPr>
    </p:bg>
    <p:spTree>
      <p:nvGrpSpPr>
        <p:cNvPr id="354" name="Shape 354"/>
        <p:cNvGrpSpPr/>
        <p:nvPr/>
      </p:nvGrpSpPr>
      <p:grpSpPr>
        <a:xfrm>
          <a:off x="0" y="0"/>
          <a:ext cx="0" cy="0"/>
          <a:chOff x="0" y="0"/>
          <a:chExt cx="0" cy="0"/>
        </a:xfrm>
      </p:grpSpPr>
      <p:sp>
        <p:nvSpPr>
          <p:cNvPr id="355" name="Google Shape;355;p29"/>
          <p:cNvSpPr txBox="1"/>
          <p:nvPr/>
        </p:nvSpPr>
        <p:spPr>
          <a:xfrm>
            <a:off x="1732962" y="634212"/>
            <a:ext cx="15112500" cy="1477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9600">
                <a:solidFill>
                  <a:schemeClr val="lt1"/>
                </a:solidFill>
              </a:rPr>
              <a:t>Conclusion</a:t>
            </a:r>
            <a:endParaRPr sz="9600">
              <a:solidFill>
                <a:schemeClr val="lt1"/>
              </a:solidFill>
            </a:endParaRPr>
          </a:p>
        </p:txBody>
      </p:sp>
      <p:grpSp>
        <p:nvGrpSpPr>
          <p:cNvPr id="356" name="Google Shape;356;p29"/>
          <p:cNvGrpSpPr/>
          <p:nvPr/>
        </p:nvGrpSpPr>
        <p:grpSpPr>
          <a:xfrm>
            <a:off x="3" y="8941096"/>
            <a:ext cx="3498292" cy="1345904"/>
            <a:chOff x="9355875" y="3095472"/>
            <a:chExt cx="7344723" cy="2109898"/>
          </a:xfrm>
        </p:grpSpPr>
        <p:grpSp>
          <p:nvGrpSpPr>
            <p:cNvPr id="357" name="Google Shape;357;p29"/>
            <p:cNvGrpSpPr/>
            <p:nvPr/>
          </p:nvGrpSpPr>
          <p:grpSpPr>
            <a:xfrm>
              <a:off x="9355875" y="3095472"/>
              <a:ext cx="7344723" cy="2109898"/>
              <a:chOff x="3" y="-76198"/>
              <a:chExt cx="1934400" cy="555690"/>
            </a:xfrm>
          </p:grpSpPr>
          <p:sp>
            <p:nvSpPr>
              <p:cNvPr id="358" name="Google Shape;358;p29"/>
              <p:cNvSpPr/>
              <p:nvPr/>
            </p:nvSpPr>
            <p:spPr>
              <a:xfrm>
                <a:off x="3" y="2"/>
                <a:ext cx="1934314" cy="479489"/>
              </a:xfrm>
              <a:custGeom>
                <a:rect b="b" l="l" r="r" t="t"/>
                <a:pathLst>
                  <a:path extrusionOk="0" h="637195" w="1934314">
                    <a:moveTo>
                      <a:pt x="10541" y="0"/>
                    </a:moveTo>
                    <a:lnTo>
                      <a:pt x="1923772" y="0"/>
                    </a:lnTo>
                    <a:cubicBezTo>
                      <a:pt x="1926568" y="0"/>
                      <a:pt x="1929249" y="1111"/>
                      <a:pt x="1931226" y="3087"/>
                    </a:cubicBezTo>
                    <a:cubicBezTo>
                      <a:pt x="1933203" y="5064"/>
                      <a:pt x="1934314" y="7746"/>
                      <a:pt x="1934314" y="10541"/>
                    </a:cubicBezTo>
                    <a:lnTo>
                      <a:pt x="1934314" y="626654"/>
                    </a:lnTo>
                    <a:cubicBezTo>
                      <a:pt x="1934314" y="629449"/>
                      <a:pt x="1933203" y="632131"/>
                      <a:pt x="1931226" y="634108"/>
                    </a:cubicBezTo>
                    <a:cubicBezTo>
                      <a:pt x="1929249" y="636084"/>
                      <a:pt x="1926568" y="637195"/>
                      <a:pt x="1923772" y="637195"/>
                    </a:cubicBezTo>
                    <a:lnTo>
                      <a:pt x="10541" y="637195"/>
                    </a:lnTo>
                    <a:cubicBezTo>
                      <a:pt x="7746" y="637195"/>
                      <a:pt x="5064" y="636084"/>
                      <a:pt x="3087" y="634108"/>
                    </a:cubicBezTo>
                    <a:cubicBezTo>
                      <a:pt x="1111" y="632131"/>
                      <a:pt x="0" y="629449"/>
                      <a:pt x="0" y="626654"/>
                    </a:cubicBezTo>
                    <a:lnTo>
                      <a:pt x="0" y="10541"/>
                    </a:lnTo>
                    <a:cubicBezTo>
                      <a:pt x="0" y="7746"/>
                      <a:pt x="1111" y="5064"/>
                      <a:pt x="3087" y="3087"/>
                    </a:cubicBezTo>
                    <a:cubicBezTo>
                      <a:pt x="5064" y="1111"/>
                      <a:pt x="7746" y="0"/>
                      <a:pt x="10541" y="0"/>
                    </a:cubicBezTo>
                    <a:close/>
                  </a:path>
                </a:pathLst>
              </a:custGeom>
              <a:solidFill>
                <a:srgbClr val="FFFFFF">
                  <a:alpha val="29800"/>
                </a:srgbClr>
              </a:solidFill>
              <a:ln cap="sq" cmpd="sng" w="5000">
                <a:solidFill>
                  <a:srgbClr val="9EB49F">
                    <a:alpha val="29800"/>
                  </a:srgbClr>
                </a:solidFill>
                <a:prstDash val="solid"/>
                <a:miter lim="8000"/>
                <a:headEnd len="sm" w="sm" type="none"/>
                <a:tailEnd len="sm" w="sm" type="none"/>
              </a:ln>
            </p:spPr>
            <p:txBody>
              <a:bodyPr anchorCtr="0" anchor="ctr" bIns="47950" lIns="47950" spcFirstLastPara="1" rIns="47950" wrap="square" tIns="47950">
                <a:noAutofit/>
              </a:bodyPr>
              <a:lstStyle/>
              <a:p>
                <a:pPr indent="0" lvl="0" marL="0" rtl="0" algn="l">
                  <a:spcBef>
                    <a:spcPts val="0"/>
                  </a:spcBef>
                  <a:spcAft>
                    <a:spcPts val="0"/>
                  </a:spcAft>
                  <a:buNone/>
                </a:pPr>
                <a:r>
                  <a:t/>
                </a:r>
                <a:endParaRPr sz="735"/>
              </a:p>
            </p:txBody>
          </p:sp>
          <p:sp>
            <p:nvSpPr>
              <p:cNvPr id="359" name="Google Shape;359;p29"/>
              <p:cNvSpPr txBox="1"/>
              <p:nvPr/>
            </p:nvSpPr>
            <p:spPr>
              <a:xfrm>
                <a:off x="3" y="-76198"/>
                <a:ext cx="1934400" cy="479400"/>
              </a:xfrm>
              <a:prstGeom prst="rect">
                <a:avLst/>
              </a:prstGeom>
              <a:noFill/>
              <a:ln>
                <a:noFill/>
              </a:ln>
            </p:spPr>
            <p:txBody>
              <a:bodyPr anchorCtr="0" anchor="ctr" bIns="26675" lIns="26675" spcFirstLastPara="1" rIns="26675" wrap="square" tIns="26675">
                <a:noAutofit/>
              </a:bodyPr>
              <a:lstStyle/>
              <a:p>
                <a:pPr indent="0" lvl="0" marL="0" marR="0" rtl="0" algn="ctr">
                  <a:lnSpc>
                    <a:spcPct val="248833"/>
                  </a:lnSpc>
                  <a:spcBef>
                    <a:spcPts val="0"/>
                  </a:spcBef>
                  <a:spcAft>
                    <a:spcPts val="0"/>
                  </a:spcAft>
                  <a:buNone/>
                </a:pPr>
                <a:r>
                  <a:t/>
                </a:r>
                <a:endParaRPr b="0" i="0" sz="945" u="none" cap="none" strike="noStrike">
                  <a:solidFill>
                    <a:schemeClr val="dk1"/>
                  </a:solidFill>
                  <a:latin typeface="Calibri"/>
                  <a:ea typeface="Calibri"/>
                  <a:cs typeface="Calibri"/>
                  <a:sym typeface="Calibri"/>
                </a:endParaRPr>
              </a:p>
            </p:txBody>
          </p:sp>
        </p:grpSp>
        <p:grpSp>
          <p:nvGrpSpPr>
            <p:cNvPr id="360" name="Google Shape;360;p29"/>
            <p:cNvGrpSpPr/>
            <p:nvPr/>
          </p:nvGrpSpPr>
          <p:grpSpPr>
            <a:xfrm>
              <a:off x="9846841" y="3934710"/>
              <a:ext cx="6362346" cy="981415"/>
              <a:chOff x="-28" y="-238745"/>
              <a:chExt cx="8483128" cy="1308553"/>
            </a:xfrm>
          </p:grpSpPr>
          <p:sp>
            <p:nvSpPr>
              <p:cNvPr id="361" name="Google Shape;361;p29"/>
              <p:cNvSpPr txBox="1"/>
              <p:nvPr/>
            </p:nvSpPr>
            <p:spPr>
              <a:xfrm>
                <a:off x="-28" y="-238745"/>
                <a:ext cx="8483100" cy="1021200"/>
              </a:xfrm>
              <a:prstGeom prst="rect">
                <a:avLst/>
              </a:prstGeom>
              <a:noFill/>
              <a:ln>
                <a:noFill/>
              </a:ln>
            </p:spPr>
            <p:txBody>
              <a:bodyPr anchorCtr="0" anchor="t" bIns="0" lIns="0" spcFirstLastPara="1" rIns="0" wrap="square" tIns="0">
                <a:noAutofit/>
              </a:bodyPr>
              <a:lstStyle/>
              <a:p>
                <a:pPr indent="0" lvl="0" marL="0" marR="0" rtl="0" algn="ctr">
                  <a:lnSpc>
                    <a:spcPct val="140012"/>
                  </a:lnSpc>
                  <a:spcBef>
                    <a:spcPts val="0"/>
                  </a:spcBef>
                  <a:spcAft>
                    <a:spcPts val="0"/>
                  </a:spcAft>
                  <a:buNone/>
                </a:pPr>
                <a:r>
                  <a:rPr b="1" lang="en-US" sz="2679">
                    <a:solidFill>
                      <a:srgbClr val="FFFFFF"/>
                    </a:solidFill>
                    <a:latin typeface="Work Sans"/>
                    <a:ea typeface="Work Sans"/>
                    <a:cs typeface="Work Sans"/>
                    <a:sym typeface="Work Sans"/>
                  </a:rPr>
                  <a:t>Conclusion</a:t>
                </a:r>
                <a:endParaRPr sz="1735"/>
              </a:p>
            </p:txBody>
          </p:sp>
          <p:sp>
            <p:nvSpPr>
              <p:cNvPr id="362" name="Google Shape;362;p29"/>
              <p:cNvSpPr txBox="1"/>
              <p:nvPr/>
            </p:nvSpPr>
            <p:spPr>
              <a:xfrm>
                <a:off x="0" y="782408"/>
                <a:ext cx="8483100" cy="287400"/>
              </a:xfrm>
              <a:prstGeom prst="rect">
                <a:avLst/>
              </a:prstGeom>
              <a:noFill/>
              <a:ln>
                <a:noFill/>
              </a:ln>
            </p:spPr>
            <p:txBody>
              <a:bodyPr anchorCtr="0" anchor="t" bIns="0" lIns="0" spcFirstLastPara="1" rIns="0" wrap="square" tIns="0">
                <a:noAutofit/>
              </a:bodyPr>
              <a:lstStyle/>
              <a:p>
                <a:pPr indent="0" lvl="0" marL="0" marR="0" rtl="0" algn="ctr">
                  <a:lnSpc>
                    <a:spcPct val="139958"/>
                  </a:lnSpc>
                  <a:spcBef>
                    <a:spcPts val="0"/>
                  </a:spcBef>
                  <a:spcAft>
                    <a:spcPts val="0"/>
                  </a:spcAft>
                  <a:buNone/>
                </a:pPr>
                <a:r>
                  <a:t/>
                </a:r>
                <a:endParaRPr sz="735"/>
              </a:p>
            </p:txBody>
          </p:sp>
        </p:grpSp>
      </p:grpSp>
      <p:sp>
        <p:nvSpPr>
          <p:cNvPr id="363" name="Google Shape;363;p29"/>
          <p:cNvSpPr txBox="1"/>
          <p:nvPr/>
        </p:nvSpPr>
        <p:spPr>
          <a:xfrm>
            <a:off x="835275" y="6970350"/>
            <a:ext cx="8035200" cy="11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lt1"/>
                </a:solidFill>
                <a:latin typeface="Calibri"/>
                <a:ea typeface="Calibri"/>
                <a:cs typeface="Calibri"/>
                <a:sym typeface="Calibri"/>
              </a:rPr>
              <a:t>Brian Mellinger</a:t>
            </a:r>
            <a:endParaRPr b="1" sz="3200">
              <a:solidFill>
                <a:schemeClr val="lt1"/>
              </a:solidFill>
              <a:latin typeface="Calibri"/>
              <a:ea typeface="Calibri"/>
              <a:cs typeface="Calibri"/>
              <a:sym typeface="Calibri"/>
            </a:endParaRPr>
          </a:p>
          <a:p>
            <a:pPr indent="0" lvl="0" marL="0" rtl="0" algn="l">
              <a:spcBef>
                <a:spcPts val="0"/>
              </a:spcBef>
              <a:spcAft>
                <a:spcPts val="0"/>
              </a:spcAft>
              <a:buNone/>
            </a:pPr>
            <a:r>
              <a:rPr b="1" lang="en-US" sz="3200">
                <a:solidFill>
                  <a:schemeClr val="lt1"/>
                </a:solidFill>
                <a:latin typeface="Calibri"/>
                <a:ea typeface="Calibri"/>
                <a:cs typeface="Calibri"/>
                <a:sym typeface="Calibri"/>
              </a:rPr>
              <a:t>bmelling@charlotte.edu</a:t>
            </a:r>
            <a:endParaRPr b="1" sz="3200">
              <a:solidFill>
                <a:schemeClr val="lt1"/>
              </a:solidFill>
              <a:latin typeface="Calibri"/>
              <a:ea typeface="Calibri"/>
              <a:cs typeface="Calibri"/>
              <a:sym typeface="Calibri"/>
            </a:endParaRPr>
          </a:p>
        </p:txBody>
      </p:sp>
      <p:pic>
        <p:nvPicPr>
          <p:cNvPr id="364" name="Google Shape;364;p29" title="SPEX logo_tall.jpg"/>
          <p:cNvPicPr preferRelativeResize="0"/>
          <p:nvPr/>
        </p:nvPicPr>
        <p:blipFill>
          <a:blip r:embed="rId3">
            <a:alphaModFix/>
          </a:blip>
          <a:stretch>
            <a:fillRect/>
          </a:stretch>
        </p:blipFill>
        <p:spPr>
          <a:xfrm>
            <a:off x="10715938" y="5848213"/>
            <a:ext cx="6641225" cy="3735686"/>
          </a:xfrm>
          <a:prstGeom prst="rect">
            <a:avLst/>
          </a:prstGeom>
          <a:noFill/>
          <a:ln>
            <a:noFill/>
          </a:ln>
        </p:spPr>
      </p:pic>
      <p:pic>
        <p:nvPicPr>
          <p:cNvPr id="365" name="Google Shape;365;p29" title="CCI-logo.jpg"/>
          <p:cNvPicPr preferRelativeResize="0"/>
          <p:nvPr/>
        </p:nvPicPr>
        <p:blipFill>
          <a:blip r:embed="rId4">
            <a:alphaModFix/>
          </a:blip>
          <a:stretch>
            <a:fillRect/>
          </a:stretch>
        </p:blipFill>
        <p:spPr>
          <a:xfrm>
            <a:off x="835275" y="563466"/>
            <a:ext cx="1619250" cy="1619250"/>
          </a:xfrm>
          <a:prstGeom prst="rect">
            <a:avLst/>
          </a:prstGeom>
          <a:noFill/>
          <a:ln>
            <a:noFill/>
          </a:ln>
        </p:spPr>
      </p:pic>
      <p:sp>
        <p:nvSpPr>
          <p:cNvPr id="366" name="Google Shape;366;p29"/>
          <p:cNvSpPr txBox="1"/>
          <p:nvPr>
            <p:ph idx="12" type="sldNum"/>
          </p:nvPr>
        </p:nvSpPr>
        <p:spPr>
          <a:xfrm>
            <a:off x="15853000" y="95839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sz="2000">
                <a:solidFill>
                  <a:schemeClr val="lt1"/>
                </a:solidFill>
              </a:rPr>
              <a:t>‹#›</a:t>
            </a:fld>
            <a:endParaRPr b="1" sz="2000">
              <a:solidFill>
                <a:schemeClr val="lt1"/>
              </a:solidFill>
            </a:endParaRPr>
          </a:p>
        </p:txBody>
      </p:sp>
      <p:sp>
        <p:nvSpPr>
          <p:cNvPr id="367" name="Google Shape;367;p29"/>
          <p:cNvSpPr txBox="1"/>
          <p:nvPr/>
        </p:nvSpPr>
        <p:spPr>
          <a:xfrm>
            <a:off x="3071550" y="2795775"/>
            <a:ext cx="12144900" cy="3490800"/>
          </a:xfrm>
          <a:prstGeom prst="rect">
            <a:avLst/>
          </a:prstGeom>
          <a:noFill/>
          <a:ln>
            <a:noFill/>
          </a:ln>
        </p:spPr>
        <p:txBody>
          <a:bodyPr anchorCtr="0" anchor="t" bIns="91425" lIns="91425" spcFirstLastPara="1" rIns="91425" wrap="square" tIns="91425">
            <a:noAutofit/>
          </a:bodyPr>
          <a:lstStyle/>
          <a:p>
            <a:pPr indent="-463550" lvl="0" marL="457200" rtl="0" algn="l">
              <a:lnSpc>
                <a:spcPct val="200000"/>
              </a:lnSpc>
              <a:spcBef>
                <a:spcPts val="0"/>
              </a:spcBef>
              <a:spcAft>
                <a:spcPts val="0"/>
              </a:spcAft>
              <a:buClr>
                <a:schemeClr val="lt1"/>
              </a:buClr>
              <a:buSzPts val="3700"/>
              <a:buFont typeface="Calibri"/>
              <a:buChar char="●"/>
            </a:pPr>
            <a:r>
              <a:rPr lang="en-US" sz="3700">
                <a:solidFill>
                  <a:schemeClr val="lt1"/>
                </a:solidFill>
                <a:latin typeface="Calibri"/>
                <a:ea typeface="Calibri"/>
                <a:cs typeface="Calibri"/>
                <a:sym typeface="Calibri"/>
              </a:rPr>
              <a:t>Smishing is a $470 million dollar issue</a:t>
            </a:r>
            <a:endParaRPr sz="3700">
              <a:solidFill>
                <a:schemeClr val="lt1"/>
              </a:solidFill>
              <a:latin typeface="Calibri"/>
              <a:ea typeface="Calibri"/>
              <a:cs typeface="Calibri"/>
              <a:sym typeface="Calibri"/>
            </a:endParaRPr>
          </a:p>
          <a:p>
            <a:pPr indent="-463550" lvl="0" marL="457200" rtl="0" algn="l">
              <a:lnSpc>
                <a:spcPct val="200000"/>
              </a:lnSpc>
              <a:spcBef>
                <a:spcPts val="0"/>
              </a:spcBef>
              <a:spcAft>
                <a:spcPts val="0"/>
              </a:spcAft>
              <a:buClr>
                <a:schemeClr val="lt1"/>
              </a:buClr>
              <a:buSzPts val="3700"/>
              <a:buFont typeface="Calibri"/>
              <a:buChar char="●"/>
            </a:pPr>
            <a:r>
              <a:rPr lang="en-US" sz="3700">
                <a:solidFill>
                  <a:schemeClr val="lt1"/>
                </a:solidFill>
                <a:latin typeface="Calibri"/>
                <a:ea typeface="Calibri"/>
                <a:cs typeface="Calibri"/>
                <a:sym typeface="Calibri"/>
              </a:rPr>
              <a:t>Smishing is a professional business</a:t>
            </a:r>
            <a:endParaRPr sz="3700">
              <a:solidFill>
                <a:schemeClr val="lt1"/>
              </a:solidFill>
              <a:latin typeface="Calibri"/>
              <a:ea typeface="Calibri"/>
              <a:cs typeface="Calibri"/>
              <a:sym typeface="Calibri"/>
            </a:endParaRPr>
          </a:p>
          <a:p>
            <a:pPr indent="-463550" lvl="0" marL="457200" rtl="0" algn="l">
              <a:lnSpc>
                <a:spcPct val="200000"/>
              </a:lnSpc>
              <a:spcBef>
                <a:spcPts val="0"/>
              </a:spcBef>
              <a:spcAft>
                <a:spcPts val="0"/>
              </a:spcAft>
              <a:buClr>
                <a:schemeClr val="lt1"/>
              </a:buClr>
              <a:buSzPts val="3700"/>
              <a:buFont typeface="Calibri"/>
              <a:buChar char="●"/>
            </a:pPr>
            <a:r>
              <a:rPr lang="en-US" sz="3700">
                <a:solidFill>
                  <a:schemeClr val="lt1"/>
                </a:solidFill>
                <a:latin typeface="Calibri"/>
                <a:ea typeface="Calibri"/>
                <a:cs typeface="Calibri"/>
                <a:sym typeface="Calibri"/>
              </a:rPr>
              <a:t>Smishing cannot be solved with stand-alone research</a:t>
            </a:r>
            <a:endParaRPr sz="3700">
              <a:solidFill>
                <a:schemeClr val="lt1"/>
              </a:solidFill>
              <a:latin typeface="Calibri"/>
              <a:ea typeface="Calibri"/>
              <a:cs typeface="Calibri"/>
              <a:sym typeface="Calibri"/>
            </a:endParaRPr>
          </a:p>
        </p:txBody>
      </p:sp>
      <p:pic>
        <p:nvPicPr>
          <p:cNvPr id="368" name="Google Shape;368;p29" title="Image-1.png"/>
          <p:cNvPicPr preferRelativeResize="0"/>
          <p:nvPr/>
        </p:nvPicPr>
        <p:blipFill>
          <a:blip r:embed="rId5">
            <a:alphaModFix/>
          </a:blip>
          <a:stretch>
            <a:fillRect/>
          </a:stretch>
        </p:blipFill>
        <p:spPr>
          <a:xfrm>
            <a:off x="6419075" y="6286575"/>
            <a:ext cx="3216000" cy="3216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